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34b57431a64e26" /><Relationship Type="http://schemas.openxmlformats.org/officeDocument/2006/relationships/extended-properties" Target="/docProps/app.xml" Id="R6beab37f4cd147de" /><Relationship Type="http://schemas.openxmlformats.org/officeDocument/2006/relationships/officeDocument" Target="/ppt/presentation.xml" Id="R4875825dac3f4989" /></Relationships>
</file>

<file path=ppt/presentation.xml><?xml version="1.0" encoding="utf-8"?>
<p:presentation xmlns:p="http://schemas.openxmlformats.org/presentationml/2006/main">
  <p:sldMasterIdLst>
    <p:sldMasterId xmlns:r="http://schemas.openxmlformats.org/officeDocument/2006/relationships" id="2147483648" r:id="R2a55df36daf24502"/>
  </p:sldMasterIdLst>
  <p:notesMasterIdLst>
    <p:notesMasterId xmlns:r="http://schemas.openxmlformats.org/officeDocument/2006/relationships" r:id="R2783f88b5dd14e32"/>
  </p:notesMasterIdLst>
  <p:sldIdLst>
    <p:sldId xmlns:r="http://schemas.openxmlformats.org/officeDocument/2006/relationships" id="256" r:id="R0ffbb4edd1594eab"/>
    <p:sldId xmlns:r="http://schemas.openxmlformats.org/officeDocument/2006/relationships" id="257" r:id="R367381e03d234f82"/>
    <p:sldId xmlns:r="http://schemas.openxmlformats.org/officeDocument/2006/relationships" id="258" r:id="Rab7e2fb9d8d0486f"/>
    <p:sldId xmlns:r="http://schemas.openxmlformats.org/officeDocument/2006/relationships" id="259" r:id="Rb2e981f25dfe4abe"/>
    <p:sldId xmlns:r="http://schemas.openxmlformats.org/officeDocument/2006/relationships" id="260" r:id="R46c341e511ee4320"/>
    <p:sldId xmlns:r="http://schemas.openxmlformats.org/officeDocument/2006/relationships" id="261" r:id="R9bac344a4f314120"/>
    <p:sldId xmlns:r="http://schemas.openxmlformats.org/officeDocument/2006/relationships" id="262" r:id="Rb2f342ae52c148e2"/>
    <p:sldId xmlns:r="http://schemas.openxmlformats.org/officeDocument/2006/relationships" id="263" r:id="R781058340f9c4a06"/>
    <p:sldId xmlns:r="http://schemas.openxmlformats.org/officeDocument/2006/relationships" id="264" r:id="R5eb0815b1c814b9b"/>
    <p:sldId xmlns:r="http://schemas.openxmlformats.org/officeDocument/2006/relationships" id="265" r:id="R419fd80d19774341"/>
    <p:sldId xmlns:r="http://schemas.openxmlformats.org/officeDocument/2006/relationships" id="266" r:id="R57375f017be64e78"/>
    <p:sldId xmlns:r="http://schemas.openxmlformats.org/officeDocument/2006/relationships" id="267" r:id="R72d771f2af7240b6"/>
    <p:sldId xmlns:r="http://schemas.openxmlformats.org/officeDocument/2006/relationships" id="268" r:id="Ra2fa43fdb1dc41ab"/>
    <p:sldId xmlns:r="http://schemas.openxmlformats.org/officeDocument/2006/relationships" id="269" r:id="R5e3b5e85fcd048c1"/>
    <p:sldId xmlns:r="http://schemas.openxmlformats.org/officeDocument/2006/relationships" id="270" r:id="R3756cb22bac44430"/>
    <p:sldId xmlns:r="http://schemas.openxmlformats.org/officeDocument/2006/relationships" id="271" r:id="R9e1b4f66f9fe4f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f30dc7e4b8462d" /><Relationship Type="http://schemas.openxmlformats.org/officeDocument/2006/relationships/slideMaster" Target="/ppt/slideMasters/slideMaster1.xml" Id="R2a55df36daf24502" /><Relationship Type="http://schemas.openxmlformats.org/officeDocument/2006/relationships/notesMaster" Target="/ppt/notesMasters/notesMaster1.xml" Id="R2783f88b5dd14e32" /><Relationship Type="http://schemas.openxmlformats.org/officeDocument/2006/relationships/presProps" Target="/ppt/presProps.xml" Id="Rd66a6af01e48475d" /><Relationship Type="http://schemas.openxmlformats.org/officeDocument/2006/relationships/tableStyles" Target="/ppt/tableStyles.xml" Id="Ra75f2c1d37204227" /><Relationship Type="http://schemas.openxmlformats.org/officeDocument/2006/relationships/slide" Target="/ppt/slides/slide1.xml" Id="R0ffbb4edd1594eab" /><Relationship Type="http://schemas.openxmlformats.org/officeDocument/2006/relationships/slide" Target="/ppt/slides/slide2.xml" Id="R367381e03d234f82" /><Relationship Type="http://schemas.openxmlformats.org/officeDocument/2006/relationships/slide" Target="/ppt/slides/slide3.xml" Id="Rab7e2fb9d8d0486f" /><Relationship Type="http://schemas.openxmlformats.org/officeDocument/2006/relationships/slide" Target="/ppt/slides/slide4.xml" Id="Rb2e981f25dfe4abe" /><Relationship Type="http://schemas.openxmlformats.org/officeDocument/2006/relationships/slide" Target="/ppt/slides/slide5.xml" Id="R46c341e511ee4320" /><Relationship Type="http://schemas.openxmlformats.org/officeDocument/2006/relationships/slide" Target="/ppt/slides/slide6.xml" Id="R9bac344a4f314120" /><Relationship Type="http://schemas.openxmlformats.org/officeDocument/2006/relationships/slide" Target="/ppt/slides/slide7.xml" Id="Rb2f342ae52c148e2" /><Relationship Type="http://schemas.openxmlformats.org/officeDocument/2006/relationships/slide" Target="/ppt/slides/slide8.xml" Id="R781058340f9c4a06" /><Relationship Type="http://schemas.openxmlformats.org/officeDocument/2006/relationships/slide" Target="/ppt/slides/slide9.xml" Id="R5eb0815b1c814b9b" /><Relationship Type="http://schemas.openxmlformats.org/officeDocument/2006/relationships/slide" Target="/ppt/slides/slide10.xml" Id="R419fd80d19774341" /><Relationship Type="http://schemas.openxmlformats.org/officeDocument/2006/relationships/slide" Target="/ppt/slides/slide11.xml" Id="R57375f017be64e78" /><Relationship Type="http://schemas.openxmlformats.org/officeDocument/2006/relationships/slide" Target="/ppt/slides/slide12.xml" Id="R72d771f2af7240b6" /><Relationship Type="http://schemas.openxmlformats.org/officeDocument/2006/relationships/slide" Target="/ppt/slides/slide13.xml" Id="Ra2fa43fdb1dc41ab" /><Relationship Type="http://schemas.openxmlformats.org/officeDocument/2006/relationships/slide" Target="/ppt/slides/slide14.xml" Id="R5e3b5e85fcd048c1" /><Relationship Type="http://schemas.openxmlformats.org/officeDocument/2006/relationships/slide" Target="/ppt/slides/slide15.xml" Id="R3756cb22bac44430" /><Relationship Type="http://schemas.openxmlformats.org/officeDocument/2006/relationships/slide" Target="/ppt/slides/slide16.xml" Id="R9e1b4f66f9fe4f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9719c5d6ec43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365bbc0204491f" /><Relationship Type="http://schemas.openxmlformats.org/officeDocument/2006/relationships/notesMaster" Target="/ppt/notesMasters/notesMaster1.xml" Id="Rdc4f3b8b5f4f4e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9fd74e5be14346" /><Relationship Type="http://schemas.openxmlformats.org/officeDocument/2006/relationships/notesMaster" Target="/ppt/notesMasters/notesMaster1.xml" Id="Re38834321a7949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747860e8f344e3" /><Relationship Type="http://schemas.openxmlformats.org/officeDocument/2006/relationships/notesMaster" Target="/ppt/notesMasters/notesMaster1.xml" Id="R804784229c8d4a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6c1a7590a94d39" /><Relationship Type="http://schemas.openxmlformats.org/officeDocument/2006/relationships/notesMaster" Target="/ppt/notesMasters/notesMaster1.xml" Id="Rb45b2ebc776645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0b8b900cec4b77" /><Relationship Type="http://schemas.openxmlformats.org/officeDocument/2006/relationships/notesMaster" Target="/ppt/notesMasters/notesMaster1.xml" Id="Rf1a987f7b44d44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f71f88bbcb463a" /><Relationship Type="http://schemas.openxmlformats.org/officeDocument/2006/relationships/notesMaster" Target="/ppt/notesMasters/notesMaster1.xml" Id="Re1919898599f47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3f271363634843" /><Relationship Type="http://schemas.openxmlformats.org/officeDocument/2006/relationships/notesMaster" Target="/ppt/notesMasters/notesMaster1.xml" Id="R9870a51255b241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d319e2031f4959" /><Relationship Type="http://schemas.openxmlformats.org/officeDocument/2006/relationships/notesMaster" Target="/ppt/notesMasters/notesMaster1.xml" Id="R16ae452d733d47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c323a61f32f471d" /><Relationship Type="http://schemas.openxmlformats.org/officeDocument/2006/relationships/notesMaster" Target="/ppt/notesMasters/notesMaster1.xml" Id="Rf5b42eda160544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9058c14d9949c4" /><Relationship Type="http://schemas.openxmlformats.org/officeDocument/2006/relationships/notesMaster" Target="/ppt/notesMasters/notesMaster1.xml" Id="R418a0164f26649b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802fa8c03f4e1e" /><Relationship Type="http://schemas.openxmlformats.org/officeDocument/2006/relationships/notesMaster" Target="/ppt/notesMasters/notesMaster1.xml" Id="R1d73ca0dbd20493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daf0f8c1b9147ce" /><Relationship Type="http://schemas.openxmlformats.org/officeDocument/2006/relationships/notesMaster" Target="/ppt/notesMasters/notesMaster1.xml" Id="R641dbcc7c32d46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1b9d579f69c4db1" /><Relationship Type="http://schemas.openxmlformats.org/officeDocument/2006/relationships/notesMaster" Target="/ppt/notesMasters/notesMaster1.xml" Id="R7136d1b894c44fe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0803f7133964768" /><Relationship Type="http://schemas.openxmlformats.org/officeDocument/2006/relationships/notesMaster" Target="/ppt/notesMasters/notesMaster1.xml" Id="R75536cb76cb447e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4aa712ac1d24664" /><Relationship Type="http://schemas.openxmlformats.org/officeDocument/2006/relationships/notesMaster" Target="/ppt/notesMasters/notesMaster1.xml" Id="R0234e3584d584d5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66ab97a1c1941d0" /><Relationship Type="http://schemas.openxmlformats.org/officeDocument/2006/relationships/notesMaster" Target="/ppt/notesMasters/notesMaster1.xml" Id="Rd006816c568e49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Presentamos el Avance 2 de ORVIX. La captura nativa y el puente ya funcionan. La exposición diferencia esa base del diseño de la nueva interfaz y de la telemetría persistente. Tiempo orientativo: 40 segundos. Ilustración conceptual de portada.</a:t>
            </a:r>
          </a:p>
          <a:p xmlns:a="http://schemas.openxmlformats.org/drawingml/2006/main">
            <a:r>
              <a:t/>
            </a:r>
          </a:p>
          <a:p xmlns:a="http://schemas.openxmlformats.org/drawingml/2006/main">
            <a:r>
              <a:t>Fuentes</a:t>
            </a:r>
          </a:p>
          <a:p xmlns:a="http://schemas.openxmlformats.org/drawingml/2006/main">
            <a:r>
              <a:t>https://github.com/Jeamlake/orvix/blob/ecd60a1937b8a3719ba4a13fb8e2a9bf9a9eaddc/README.es.md</a:t>
            </a:r>
          </a:p>
          <a:p xmlns:a="http://schemas.openxmlformats.org/drawingml/2006/main">
            <a:r>
              <a:t>Presentación del primer avance incluida en avance 1.zip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problema es de control y diagnóstico. Una biblioteca de alto nivel resulta útil, pero puede ocultar decisiones de formato y lectura que queremos estudiar en el curso. No afirmamos mayor velocidad que otras soluciones porque todavía faltan benchmarks comparables. Tiempo: 50 segundos.</a:t>
            </a:r>
          </a:p>
          <a:p xmlns:a="http://schemas.openxmlformats.org/drawingml/2006/main">
            <a:r>
              <a:t/>
            </a:r>
          </a:p>
          <a:p xmlns:a="http://schemas.openxmlformats.org/drawingml/2006/main">
            <a:r>
              <a:t>Fuentes</a:t>
            </a:r>
          </a:p>
          <a:p xmlns:a="http://schemas.openxmlformats.org/drawingml/2006/main">
            <a:r>
              <a:t>https://github.com/Jeamlake/orvix/blob/ecd60a1937b8a3719ba4a13fb8e2a9bf9a9eaddc/README.es.md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operador elige fuente y modo y consulta resultados. El equipo mantiene el producto y las pruebas. El docente evalúa la relación entre requisitos, evidencia y demostración. La webcam y el sistema operativo son participantes técnicos. No hay cuentas de usuario ni servicio en la nube. Tiempo: 50 segundos.</a:t>
            </a:r>
          </a:p>
          <a:p xmlns:a="http://schemas.openxmlformats.org/drawingml/2006/main">
            <a:r>
              <a:t/>
            </a:r>
          </a:p>
          <a:p xmlns:a="http://schemas.openxmlformats.org/drawingml/2006/main">
            <a:r>
              <a:t>Fuentes</a:t>
            </a:r>
          </a:p>
          <a:p xmlns:a="http://schemas.openxmlformats.org/drawingml/2006/main">
            <a:r>
              <a:t>https://github.com/Jeamlake/orvix/blob/ecd60a1937b8a3719ba4a13fb8e2a9bf9a9eaddc/docs/es/requirements/software-requirements.md</a:t>
            </a:r>
          </a:p>
          <a:p xmlns:a="http://schemas.openxmlformats.org/drawingml/2006/main">
            <a:r>
              <a:t>Documento académico complementario, sección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Entrega 2 técnica no equivale a ORVIX 1.0. RAW y el puente están presentes en el commit revisado. Los mockups y el modelo de datos definen el producto futuro y se exponen como diseño. Tiempo: 45 segundos.</a:t>
            </a:r>
          </a:p>
          <a:p xmlns:a="http://schemas.openxmlformats.org/drawingml/2006/main">
            <a:r>
              <a:t/>
            </a:r>
          </a:p>
          <a:p xmlns:a="http://schemas.openxmlformats.org/drawingml/2006/main">
            <a:r>
              <a:t>Fuentes</a:t>
            </a:r>
          </a:p>
          <a:p xmlns:a="http://schemas.openxmlformats.org/drawingml/2006/main">
            <a:r>
              <a:t>https://github.com/Jeamlake/orvix/blob/ecd60a1937b8a3719ba4a13fb8e2a9bf9a9eaddc/README.es.md</a:t>
            </a:r>
          </a:p>
          <a:p xmlns:a="http://schemas.openxmlformats.org/drawingml/2006/main">
            <a:r>
              <a:t>https://github.com/Jeamlake/orvix/blob/ecd60a1937b8a3719ba4a13fb8e2a9bf9a9eaddc/docs/es/evidence/delivery-02/README.md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Word desarrolla los 27 RF con estado y criterio de aceptación. Hay 18 funcionalidades base y nueve planificadas según la especificación vigente. Esta clasificación no es un porcentaje de avance del producto. La matriz original necesita las filas RF-011, 012, 014, 016, 018 y 022. Tiempo: 55 segundos.</a:t>
            </a:r>
          </a:p>
          <a:p xmlns:a="http://schemas.openxmlformats.org/drawingml/2006/main">
            <a:r>
              <a:t/>
            </a:r>
          </a:p>
          <a:p xmlns:a="http://schemas.openxmlformats.org/drawingml/2006/main">
            <a:r>
              <a:t>Fuentes</a:t>
            </a:r>
          </a:p>
          <a:p xmlns:a="http://schemas.openxmlformats.org/drawingml/2006/main">
            <a:r>
              <a:t>https://github.com/Jeamlake/orvix/blob/ecd60a1937b8a3719ba4a13fb8e2a9bf9a9eaddc/docs/es/requirements/software-requirements.md</a:t>
            </a:r>
          </a:p>
          <a:p xmlns:a="http://schemas.openxmlformats.org/drawingml/2006/main">
            <a:r>
              <a:t>https://github.com/Jeamlake/orvix/blob/ecd60a1937b8a3719ba4a13fb8e2a9bf9a9eaddc/docs/es/requirements/traceability.md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Distinguimos objetivo nominal de rendimiento físico. La latencia y la respuesta de interfaz tienen que medirse cuando exista la nueva aplicación. La ruta heredada de Windows 7 no se transfiere automáticamente a Qt 6. Tiempo: 50 segundos.</a:t>
            </a:r>
          </a:p>
          <a:p xmlns:a="http://schemas.openxmlformats.org/drawingml/2006/main">
            <a:r>
              <a:t/>
            </a:r>
          </a:p>
          <a:p xmlns:a="http://schemas.openxmlformats.org/drawingml/2006/main">
            <a:r>
              <a:t>Fuentes</a:t>
            </a:r>
          </a:p>
          <a:p xmlns:a="http://schemas.openxmlformats.org/drawingml/2006/main">
            <a:r>
              <a:t>https://github.com/Jeamlake/orvix/blob/ecd60a1937b8a3719ba4a13fb8e2a9bf9a9eaddc/docs/es/requirements/software-requirements.md</a:t>
            </a:r>
          </a:p>
          <a:p xmlns:a="http://schemas.openxmlformats.org/drawingml/2006/main">
            <a:r>
              <a:t>https://doc.qt.io/qt-6.8/supported-platforms.html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ruta superior representa el flujo base: seleccionar, validar, publicar, leer y mostrar RAW. La ruta inferior añade una recuperación propuesta ante muerte del productor o ausencia de nuevos frames. Debemos supervisar procesos propios sin bloquear la interfaz. Tiempo: 55 segundos.</a:t>
            </a:r>
          </a:p>
          <a:p xmlns:a="http://schemas.openxmlformats.org/drawingml/2006/main">
            <a:r>
              <a:t/>
            </a:r>
          </a:p>
          <a:p xmlns:a="http://schemas.openxmlformats.org/drawingml/2006/main">
            <a:r>
              <a:t>Fuentes</a:t>
            </a:r>
          </a:p>
          <a:p xmlns:a="http://schemas.openxmlformats.org/drawingml/2006/main">
            <a:r>
              <a:t>https://github.com/Jeamlake/orvix/blob/ecd60a1937b8a3719ba4a13fb8e2a9bf9a9eaddc/python/src/orvix/ui/viewer.py</a:t>
            </a:r>
          </a:p>
          <a:p xmlns:a="http://schemas.openxmlformats.org/drawingml/2006/main">
            <a:r>
              <a:t>Diagrama de flujo del primer avance y sección 4 del documento actual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video conserva el espacio principal. Los controles y métricas quedan fuera de la imagen. Los guiones son estados sin datos, no resultados medidos. RAW estará disponible primero y los filtros solo se habilitarán después de implementar sus requisitos. Este mockup no es una captura de la aplicación existente. Tiempo: 50 segundos.</a:t>
            </a:r>
          </a:p>
          <a:p xmlns:a="http://schemas.openxmlformats.org/drawingml/2006/main">
            <a:r>
              <a:t/>
            </a:r>
          </a:p>
          <a:p xmlns:a="http://schemas.openxmlformats.org/drawingml/2006/main">
            <a:r>
              <a:t>Fuentes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historial tendrá una fila por sesión y acceso a muestras y diagnósticos. Una sesión vacía debe explicarse, sin inventar registros. Exportar CSV es una propuesta de la interfaz. No guardaremos imágenes automáticamente. Tiempo: 45 segundos.</a:t>
            </a:r>
          </a:p>
          <a:p xmlns:a="http://schemas.openxmlformats.org/drawingml/2006/main">
            <a:r>
              <a:t/>
            </a:r>
          </a:p>
          <a:p xmlns:a="http://schemas.openxmlformats.org/drawingml/2006/main">
            <a:r>
              <a:t>Fuentes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Capture tiene una API común con backends específicos. Bridge publica el protocolo ORVX v1. Vision presenta RAW y posteriormente aplicará filtros. Insight reúne métricas existentes y propone persistencia SQLite. La línea discontinua distingue extensión planificada. Python no controla la webcam directamente. Tiempo: 60 segundos.</a:t>
            </a:r>
          </a:p>
          <a:p xmlns:a="http://schemas.openxmlformats.org/drawingml/2006/main">
            <a:r>
              <a:t/>
            </a:r>
          </a:p>
          <a:p xmlns:a="http://schemas.openxmlformats.org/drawingml/2006/main">
            <a:r>
              <a:t>Fuentes</a:t>
            </a:r>
          </a:p>
          <a:p xmlns:a="http://schemas.openxmlformats.org/drawingml/2006/main">
            <a:r>
              <a:t>https://github.com/Jeamlake/orvix/blob/ecd60a1937b8a3719ba4a13fb8e2a9bf9a9eaddc/docs/es/architecture/overview.md</a:t>
            </a:r>
          </a:p>
          <a:p xmlns:a="http://schemas.openxmlformats.org/drawingml/2006/main">
            <a:r>
              <a:t>https://github.com/Jeamlake/orvix/blob/ecd60a1937b8a3719ba4a13fb8e2a9bf9a9eaddc/docs/es/adr/0007-sqlite-telemetry.md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anillo contiene tres slots por defecto. El productor publica sin esperar al lector. Python copia el frame más reciente y comprueba la generación antes y después de copiar. Por ello no afirmamos que toda la ruta tenga cero copias. El header global ocupa 128 bytes y cada header de slot 64 bytes. Tiempo: 55 segundos.</a:t>
            </a:r>
          </a:p>
          <a:p xmlns:a="http://schemas.openxmlformats.org/drawingml/2006/main">
            <a:r>
              <a:t/>
            </a:r>
          </a:p>
          <a:p xmlns:a="http://schemas.openxmlformats.org/drawingml/2006/main">
            <a:r>
              <a:t>Fuentes</a:t>
            </a:r>
          </a:p>
          <a:p xmlns:a="http://schemas.openxmlformats.org/drawingml/2006/main">
            <a:r>
              <a:t>https://github.com/Jeamlake/orvix/blob/ecd60a1937b8a3719ba4a13fb8e2a9bf9a9eaddc/docs/es/protocol/ipc-v1.md</a:t>
            </a:r>
          </a:p>
          <a:p xmlns:a="http://schemas.openxmlformats.org/drawingml/2006/main">
            <a:r>
              <a:t>https://github.com/Jeamlake/orvix/blob/ecd60a1937b8a3719ba4a13fb8e2a9bf9a9eaddc/python/src/orvix/ipc/protocol.py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fuente puede producir cero o muchas sesiones. Cada sesión puede contener cero o muchas muestras y diagnósticos. source_id y session_id son las claves de relación. Cada conexión SQLite debe habilitar foreign_keys. Conservaremos fechas UTC y tiempo relativo para las muestras. El modelo no está integrado al código actual. Tiempo: 60 segundos.</a:t>
            </a:r>
          </a:p>
          <a:p xmlns:a="http://schemas.openxmlformats.org/drawingml/2006/main">
            <a:r>
              <a:t/>
            </a:r>
          </a:p>
          <a:p xmlns:a="http://schemas.openxmlformats.org/drawingml/2006/main">
            <a:r>
              <a:t>Fuentes</a:t>
            </a:r>
          </a:p>
          <a:p xmlns:a="http://schemas.openxmlformats.org/drawingml/2006/main">
            <a:r>
              <a:t>Documento académico, sección 6</a:t>
            </a:r>
          </a:p>
          <a:p xmlns:a="http://schemas.openxmlformats.org/drawingml/2006/main">
            <a:r>
              <a:t>https://www.sqlite.org/foreignkeys.html</a:t>
            </a:r>
          </a:p>
          <a:p xmlns:a="http://schemas.openxmlformats.org/drawingml/2006/main">
            <a:r>
              <a:t>https://github.com/Jeamlake/orvix/blob/ecd60a1937b8a3719ba4a13fb8e2a9bf9a9eaddc/docs/es/adr/0007-sqlite-telemetry.md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plan no atribuye sprints históricos ni responsabilidades individuales no confirmadas. El tablero tendrá Pendiente, En curso, En revisión y Hecho. La disponibilidad del equipo determina duración y responsables. La interfaz necesita primero el coordinador de sesión, y el historial depende del repositorio SQLite. Tiempo: 55 segundos.</a:t>
            </a:r>
          </a:p>
          <a:p xmlns:a="http://schemas.openxmlformats.org/drawingml/2006/main">
            <a:r>
              <a:t/>
            </a:r>
          </a:p>
          <a:p xmlns:a="http://schemas.openxmlformats.org/drawingml/2006/main">
            <a:r>
              <a:t>Fuentes</a:t>
            </a:r>
          </a:p>
          <a:p xmlns:a="http://schemas.openxmlformats.org/drawingml/2006/main">
            <a:r>
              <a:t>Documento académico, sección 7</a:t>
            </a:r>
          </a:p>
          <a:p xmlns:a="http://schemas.openxmlformats.org/drawingml/2006/main">
            <a:r>
              <a:t>https://github.com/Jeamlake/orvix/blob/ecd60a1937b8a3719ba4a13fb8e2a9bf9a9eaddc/README.es.md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suites actuales pasan con los ejecutables disponibles. No repetimos hoy la prueba de webcam ni una compilación limpia multiplataforma. Los 19.46 FPS provienen de la prueba física del 8 de septiembre. Aprobar pruebas existentes no implica satisfacer todo el producto. Tiempo: 50 segundos.</a:t>
            </a:r>
          </a:p>
          <a:p xmlns:a="http://schemas.openxmlformats.org/drawingml/2006/main">
            <a:r>
              <a:t/>
            </a:r>
          </a:p>
          <a:p xmlns:a="http://schemas.openxmlformats.org/drawingml/2006/main">
            <a:r>
              <a:t>Fuentes</a:t>
            </a:r>
          </a:p>
          <a:p xmlns:a="http://schemas.openxmlformats.org/drawingml/2006/main">
            <a:r>
              <a:t>https://github.com/Jeamlake/orvix/blob/ecd60a1937b8a3719ba4a13fb8e2a9bf9a9eaddc/docs/es/evidence/delivery-02/README.md</a:t>
            </a:r>
          </a:p>
          <a:p xmlns:a="http://schemas.openxmlformats.org/drawingml/2006/main">
            <a:r>
              <a:t>Resultados locales CTest, pytest e integración del 11 de octubre de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prueba de interrupción mantuvo el visor esperando porque el estado compartido quedó en RUNNING. waitKey solo se atiende con un nuevo frame. El script PowerShell puede ocultar un fallo nativo si pytest termina bien. Los documentos describen esos pendientes, no los declaran resueltos. Tiempo: 55 segundos.</a:t>
            </a:r>
          </a:p>
          <a:p xmlns:a="http://schemas.openxmlformats.org/drawingml/2006/main">
            <a:r>
              <a:t/>
            </a:r>
          </a:p>
          <a:p xmlns:a="http://schemas.openxmlformats.org/drawingml/2006/main">
            <a:r>
              <a:t>Fuentes</a:t>
            </a:r>
          </a:p>
          <a:p xmlns:a="http://schemas.openxmlformats.org/drawingml/2006/main">
            <a:r>
              <a:t>https://github.com/Jeamlake/orvix/blob/ecd60a1937b8a3719ba4a13fb8e2a9bf9a9eaddc/python/src/orvix/ui/viewer.py</a:t>
            </a:r>
          </a:p>
          <a:p xmlns:a="http://schemas.openxmlformats.org/drawingml/2006/main">
            <a:r>
              <a:t>https://github.com/Jeamlake/orvix/blob/ecd60a1937b8a3719ba4a13fb8e2a9bf9a9eaddc/scripts/test.ps1</a:t>
            </a:r>
          </a:p>
          <a:p xmlns:a="http://schemas.openxmlformats.org/drawingml/2006/main">
            <a:r>
              <a:t>Documento académico, sección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Cerramos con una base funcional y un diseño de producto que distingue qué existe y qué falta. El siguiente hito es coordinar la sesión desde una interfaz y después integrar visión y persistencia. Tiempo: 30 segundos. La duración total orientativa es de 13 a 15 minutos.</a:t>
            </a:r>
          </a:p>
          <a:p xmlns:a="http://schemas.openxmlformats.org/drawingml/2006/main">
            <a:r>
              <a:t/>
            </a:r>
          </a:p>
          <a:p xmlns:a="http://schemas.openxmlformats.org/drawingml/2006/main">
            <a:r>
              <a:t>Fuentes</a:t>
            </a:r>
          </a:p>
          <a:p xmlns:a="http://schemas.openxmlformats.org/drawingml/2006/main">
            <a:r>
              <a:t>https://github.com/Jeamlake/orvix/blob/ecd60a1937b8a3719ba4a13fb8e2a9bf9a9eaddc/README.es.md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bda78c9c7e4ea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caaed32e0c4d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a33908f831d4c8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17b4c68b3494d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c436c4fad3445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36398a616524e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069706-744C-4354-B554-B728FDF5C26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35586A1-0914-44FF-BBC2-9A13EBD3BDF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F07186-A7E9-4542-91E1-8FC18A00CB8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8DABA3-E036-4591-A590-1D931EB2CF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199AE52-FB2E-489F-BB08-F483E08D131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9FCF1DC-E851-4452-BD1C-83D47CF5CB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61FE0E-E275-4643-9151-0453B30C98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59F1C69-612F-4141-847D-BADE4087CFB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CED373-2D10-4BD3-A02F-249736525B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815897-15C4-4860-9263-E83A32424D9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a32dc889f04753" /><Relationship Type="http://schemas.openxmlformats.org/officeDocument/2006/relationships/slideLayout" Target="/ppt/slideLayouts/slideLayout1.xml" Id="R7235984650194a5d" /><Relationship Type="http://schemas.openxmlformats.org/officeDocument/2006/relationships/slideLayout" Target="/ppt/slideLayouts/slideLayout2.xml" Id="R649b47c8573a4c09" /><Relationship Type="http://schemas.openxmlformats.org/officeDocument/2006/relationships/slideLayout" Target="/ppt/slideLayouts/slideLayout3.xml" Id="Rf61fdced68294f3a" /><Relationship Type="http://schemas.openxmlformats.org/officeDocument/2006/relationships/slideLayout" Target="/ppt/slideLayouts/slideLayout4.xml" Id="R4da40aac853e4113" /><Relationship Type="http://schemas.openxmlformats.org/officeDocument/2006/relationships/slideLayout" Target="/ppt/slideLayouts/slideLayout5.xml" Id="R8eb3b64251954ff5" /><Relationship Type="http://schemas.openxmlformats.org/officeDocument/2006/relationships/slideLayout" Target="/ppt/slideLayouts/slideLayout6.xml" Id="Rdc6f5b9139474a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35984650194a5d"/>
    <p:sldLayoutId xmlns:r="http://schemas.openxmlformats.org/officeDocument/2006/relationships" id="2147483650" r:id="R649b47c8573a4c09"/>
    <p:sldLayoutId xmlns:r="http://schemas.openxmlformats.org/officeDocument/2006/relationships" id="2147483651" r:id="Rf61fdced68294f3a"/>
    <p:sldLayoutId xmlns:r="http://schemas.openxmlformats.org/officeDocument/2006/relationships" id="2147483652" r:id="R4da40aac853e4113"/>
    <p:sldLayoutId xmlns:r="http://schemas.openxmlformats.org/officeDocument/2006/relationships" id="2147483653" r:id="R8eb3b64251954ff5"/>
    <p:sldLayoutId xmlns:r="http://schemas.openxmlformats.org/officeDocument/2006/relationships" id="2147483654" r:id="Rdc6f5b9139474a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0c061c844014c70" /><Relationship Type="http://schemas.openxmlformats.org/officeDocument/2006/relationships/image" Target="/ppt/media/image.png" Id="R7f2b8b2fcf4b440f" /><Relationship Type="http://schemas.openxmlformats.org/officeDocument/2006/relationships/notesSlide" Target="/ppt/notesSlides/notesSlide1.xml" Id="R7b66bfd013724f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67f4412dbc24210" /><Relationship Type="http://schemas.openxmlformats.org/officeDocument/2006/relationships/notesSlide" Target="/ppt/notesSlides/notesSlide2.xml" Id="Raf3cd76bd90843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3fda3cdb77f4db4" /><Relationship Type="http://schemas.openxmlformats.org/officeDocument/2006/relationships/notesSlide" Target="/ppt/notesSlides/notesSlide3.xml" Id="Ra23b106d3b4847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e5c24119aba4339" /><Relationship Type="http://schemas.openxmlformats.org/officeDocument/2006/relationships/notesSlide" Target="/ppt/notesSlides/notesSlide4.xml" Id="R68606ccd1b5449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1a1aeca344a46f3" /><Relationship Type="http://schemas.openxmlformats.org/officeDocument/2006/relationships/notesSlide" Target="/ppt/notesSlides/notesSlide5.xml" Id="Rf2bff32ff6564f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dfbab767f3c43e5" /><Relationship Type="http://schemas.openxmlformats.org/officeDocument/2006/relationships/notesSlide" Target="/ppt/notesSlides/notesSlide6.xml" Id="R4f3b2b1ba81a41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cbc6745636d4d7f" /><Relationship Type="http://schemas.openxmlformats.org/officeDocument/2006/relationships/notesSlide" Target="/ppt/notesSlides/notesSlide7.xml" Id="R9c64b70d715b40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4e70ee1dcb34e6e" /><Relationship Type="http://schemas.openxmlformats.org/officeDocument/2006/relationships/image" Target="/ppt/media/image2.png" Id="Rc19be53e5afb4bcc" /><Relationship Type="http://schemas.openxmlformats.org/officeDocument/2006/relationships/notesSlide" Target="/ppt/notesSlides/notesSlide8.xml" Id="Rb0c8e252d75245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46eeb17cc9b4538" /><Relationship Type="http://schemas.openxmlformats.org/officeDocument/2006/relationships/image" Target="/ppt/media/image3.png" Id="R76890b314d414a91" /><Relationship Type="http://schemas.openxmlformats.org/officeDocument/2006/relationships/notesSlide" Target="/ppt/notesSlides/notesSlide9.xml" Id="R1cd0f6dc7bdf40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8cb90a897054764" /><Relationship Type="http://schemas.openxmlformats.org/officeDocument/2006/relationships/notesSlide" Target="/ppt/notesSlides/notesSlide10.xml" Id="R79592929a6a849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320dd35a1fe46a3" /><Relationship Type="http://schemas.openxmlformats.org/officeDocument/2006/relationships/notesSlide" Target="/ppt/notesSlides/notesSlide11.xml" Id="Ref2330e054ef480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be31c0a08c74e79" /><Relationship Type="http://schemas.openxmlformats.org/officeDocument/2006/relationships/notesSlide" Target="/ppt/notesSlides/notesSlide12.xml" Id="R45f09cc90ad448a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c9e02cd40ab44d4" /><Relationship Type="http://schemas.openxmlformats.org/officeDocument/2006/relationships/notesSlide" Target="/ppt/notesSlides/notesSlide13.xml" Id="R46e493a1eceb4fc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2e90a3566944385" /><Relationship Type="http://schemas.openxmlformats.org/officeDocument/2006/relationships/notesSlide" Target="/ppt/notesSlides/notesSlide14.xml" Id="R65f3eba4e49a418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48704eedb2c453a" /><Relationship Type="http://schemas.openxmlformats.org/officeDocument/2006/relationships/notesSlide" Target="/ppt/notesSlides/notesSlide15.xml" Id="Rbf437ccf7c7b42a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46e2eecd85d4f3a" /><Relationship Type="http://schemas.openxmlformats.org/officeDocument/2006/relationships/image" Target="/ppt/media/image4.png" Id="R686cd0d4d3ac4d22" /><Relationship Type="http://schemas.openxmlformats.org/officeDocument/2006/relationships/notesSlide" Target="/ppt/notesSlides/notesSlide16.xml" Id="R1f68388af2df4cbc" /></Relationships>
</file>

<file path=ppt/slides/slide1.xml><?xml version="1.0" encoding="utf-8"?>
<p:sld xmlns:p="http://schemas.openxmlformats.org/presentationml/2006/main">
  <p:cSld>
    <p:bg>
      <p:bgPr>
        <a:solidFill xmlns:a="http://schemas.openxmlformats.org/drawingml/2006/main">
          <a:srgbClr val="0D1118"/>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A34F81D-A98C-4282-AB13-51D253851284}"/>
              </a:ext>
            </a:extLst>
          </p:cNvPr>
          <p:cNvPicPr>
            <a:picLocks xmlns:a="http://schemas.openxmlformats.org/drawingml/2006/main" noChangeAspect="1"/>
          </p:cNvPicPr>
          <p:nvPr/>
        </p:nvPicPr>
        <p:blipFill>
          <a:blip xmlns:r="http://schemas.openxmlformats.org/officeDocument/2006/relationships" xmlns:a="http://schemas.openxmlformats.org/drawingml/2006/main" r:embed="R7f2b8b2fcf4b440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ORVIX">
            <a:extLst xmlns:a="http://schemas.openxmlformats.org/drawingml/2006/main">
              <a:ext uri="{FF2B5EF4-FFF2-40B4-BE49-F238E27FC236}">
                <a16:creationId xmlns:a16="http://schemas.microsoft.com/office/drawing/2014/main" id="{9C58B729-D631-4E14-AFE4-6A5C2BC6F798}"/>
              </a:ext>
            </a:extLst>
          </p:cNvPr>
          <p:cNvSpPr>
            <a:spLocks xmlns:a="http://schemas.openxmlformats.org/drawingml/2006/main" noGrp="1"/>
          </p:cNvSpPr>
          <p:nvPr/>
        </p:nvSpPr>
        <p:spPr>
          <a:xfrm xmlns:a="http://schemas.openxmlformats.org/drawingml/2006/main">
            <a:off x="609600" y="1200150"/>
            <a:ext cx="6381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1">
                <a:solidFill>
                  <a:srgbClr val="F5F7FB"/>
                </a:solidFill>
                <a:latin typeface="Calibri"/>
                <a:ea typeface="Calibri"/>
                <a:cs typeface="Calibri"/>
              </a:defRPr>
            </a:defPPr>
          </a:lstStyle>
          <a:p xmlns:a="http://schemas.openxmlformats.org/drawingml/2006/main">
            <a:pPr algn="l">
              <a:defRPr sz="7050" b="1">
                <a:solidFill>
                  <a:srgbClr val="F5F7FB"/>
                </a:solidFill>
                <a:latin typeface="Calibri"/>
                <a:ea typeface="Calibri"/>
                <a:cs typeface="Calibri"/>
              </a:defRPr>
            </a:pPr>
            <a:r>
              <a:rPr sz="7050" b="1">
                <a:solidFill>
                  <a:srgbClr val="F5F7FB"/>
                </a:solidFill>
                <a:latin typeface="Calibri"/>
                <a:ea typeface="Calibri"/>
                <a:cs typeface="Calibri"/>
              </a:rPr>
              <a:t>ORVIX</a:t>
            </a:r>
          </a:p>
        </p:txBody>
      </p:sp>
      <p:sp>
        <p:nvSpPr>
          <p:cNvPr id="3" name="Avance 2">
            <a:extLst xmlns:a="http://schemas.openxmlformats.org/drawingml/2006/main">
              <a:ext uri="{FF2B5EF4-FFF2-40B4-BE49-F238E27FC236}">
                <a16:creationId xmlns:a16="http://schemas.microsoft.com/office/drawing/2014/main" id="{140A89A4-5463-4B93-BE29-694B929F3752}"/>
              </a:ext>
            </a:extLst>
          </p:cNvPr>
          <p:cNvSpPr>
            <a:spLocks xmlns:a="http://schemas.openxmlformats.org/drawingml/2006/main" noGrp="1"/>
          </p:cNvSpPr>
          <p:nvPr/>
        </p:nvSpPr>
        <p:spPr>
          <a:xfrm xmlns:a="http://schemas.openxmlformats.org/drawingml/2006/main">
            <a:off x="657225" y="2400300"/>
            <a:ext cx="4857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69E5BA"/>
                </a:solidFill>
                <a:latin typeface="Calibri"/>
                <a:ea typeface="Calibri"/>
                <a:cs typeface="Calibri"/>
              </a:defRPr>
            </a:defPPr>
          </a:lstStyle>
          <a:p xmlns:a="http://schemas.openxmlformats.org/drawingml/2006/main">
            <a:pPr algn="l">
              <a:defRPr sz="3450" b="1">
                <a:solidFill>
                  <a:srgbClr val="69E5BA"/>
                </a:solidFill>
                <a:latin typeface="Calibri"/>
                <a:ea typeface="Calibri"/>
                <a:cs typeface="Calibri"/>
              </a:defRPr>
            </a:pPr>
            <a:r>
              <a:rPr sz="3450" b="1">
                <a:solidFill>
                  <a:srgbClr val="69E5BA"/>
                </a:solidFill>
                <a:latin typeface="Calibri"/>
                <a:ea typeface="Calibri"/>
                <a:cs typeface="Calibri"/>
              </a:rPr>
              <a:t>Avance 2</a:t>
            </a:r>
          </a:p>
        </p:txBody>
      </p:sp>
      <p:sp>
        <p:nvSpPr>
          <p:cNvPr id="4" name="Captura nativa y diseño&#10;de una aplicación de visión">
            <a:extLst xmlns:a="http://schemas.openxmlformats.org/drawingml/2006/main">
              <a:ext uri="{FF2B5EF4-FFF2-40B4-BE49-F238E27FC236}">
                <a16:creationId xmlns:a16="http://schemas.microsoft.com/office/drawing/2014/main" id="{D56ED395-F81A-4544-9388-836EC74BF765}"/>
              </a:ext>
            </a:extLst>
          </p:cNvPr>
          <p:cNvSpPr>
            <a:spLocks xmlns:a="http://schemas.openxmlformats.org/drawingml/2006/main" noGrp="1"/>
          </p:cNvSpPr>
          <p:nvPr/>
        </p:nvSpPr>
        <p:spPr>
          <a:xfrm xmlns:a="http://schemas.openxmlformats.org/drawingml/2006/main">
            <a:off x="657225" y="3143250"/>
            <a:ext cx="5429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F5F7FB"/>
                </a:solidFill>
                <a:latin typeface="Calibri"/>
                <a:ea typeface="Calibri"/>
                <a:cs typeface="Calibri"/>
              </a:defRPr>
            </a:defPPr>
          </a:lstStyle>
          <a:p xmlns:a="http://schemas.openxmlformats.org/drawingml/2006/main">
            <a:pPr algn="l">
              <a:defRPr sz="2475" b="0">
                <a:solidFill>
                  <a:srgbClr val="F5F7FB"/>
                </a:solidFill>
                <a:latin typeface="Calibri"/>
                <a:ea typeface="Calibri"/>
                <a:cs typeface="Calibri"/>
              </a:defRPr>
            </a:pPr>
            <a:r>
              <a:rPr sz="2475" b="0">
                <a:solidFill>
                  <a:srgbClr val="F5F7FB"/>
                </a:solidFill>
                <a:latin typeface="Calibri"/>
                <a:ea typeface="Calibri"/>
                <a:cs typeface="Calibri"/>
              </a:rPr>
              <a:t>Captura nativa y diseño</a:t>
            </a:r>
          </a:p>
          <a:p xmlns:a="http://schemas.openxmlformats.org/drawingml/2006/main">
            <a:pPr algn="l">
              <a:defRPr sz="2475" b="0">
                <a:solidFill>
                  <a:srgbClr val="F5F7FB"/>
                </a:solidFill>
                <a:latin typeface="Calibri"/>
                <a:ea typeface="Calibri"/>
                <a:cs typeface="Calibri"/>
              </a:defRPr>
            </a:pPr>
            <a:r>
              <a:rPr sz="2475" b="0">
                <a:solidFill>
                  <a:srgbClr val="F5F7FB"/>
                </a:solidFill>
                <a:latin typeface="Calibri"/>
                <a:ea typeface="Calibri"/>
                <a:cs typeface="Calibri"/>
              </a:rPr>
              <a:t>de una aplicación de visión</a:t>
            </a:r>
          </a:p>
        </p:txBody>
      </p:sp>
      <p:sp>
        <p:nvSpPr>
          <p:cNvPr id="5" name="Programación de Interfaces y Dispositivos Periféricos">
            <a:extLst xmlns:a="http://schemas.openxmlformats.org/drawingml/2006/main">
              <a:ext uri="{FF2B5EF4-FFF2-40B4-BE49-F238E27FC236}">
                <a16:creationId xmlns:a16="http://schemas.microsoft.com/office/drawing/2014/main" id="{75F4B924-B737-4AE1-9C5C-006FF3BA74E9}"/>
              </a:ext>
            </a:extLst>
          </p:cNvPr>
          <p:cNvSpPr>
            <a:spLocks xmlns:a="http://schemas.openxmlformats.org/drawingml/2006/main" noGrp="1"/>
          </p:cNvSpPr>
          <p:nvPr/>
        </p:nvSpPr>
        <p:spPr>
          <a:xfrm xmlns:a="http://schemas.openxmlformats.org/drawingml/2006/main">
            <a:off x="657225" y="5095875"/>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6C0D0"/>
                </a:solidFill>
                <a:latin typeface="Calibri"/>
                <a:ea typeface="Calibri"/>
                <a:cs typeface="Calibri"/>
              </a:defRPr>
            </a:defPPr>
          </a:lstStyle>
          <a:p xmlns:a="http://schemas.openxmlformats.org/drawingml/2006/main">
            <a:pPr algn="l">
              <a:defRPr sz="1800" b="0">
                <a:solidFill>
                  <a:srgbClr val="B6C0D0"/>
                </a:solidFill>
                <a:latin typeface="Calibri"/>
                <a:ea typeface="Calibri"/>
                <a:cs typeface="Calibri"/>
              </a:defRPr>
            </a:pPr>
            <a:r>
              <a:rPr sz="1800" b="0">
                <a:solidFill>
                  <a:srgbClr val="B6C0D0"/>
                </a:solidFill>
                <a:latin typeface="Calibri"/>
                <a:ea typeface="Calibri"/>
                <a:cs typeface="Calibri"/>
              </a:rPr>
              <a:t>Programación de Interfaces y Dispositivos Periféricos</a:t>
            </a:r>
          </a:p>
        </p:txBody>
      </p:sp>
      <p:sp>
        <p:nvSpPr>
          <p:cNvPr id="6" name="Andre Alexander Alvarado Lira&#10;Jose Eduardo Alvarado Mej">
            <a:extLst xmlns:a="http://schemas.openxmlformats.org/drawingml/2006/main">
              <a:ext uri="{FF2B5EF4-FFF2-40B4-BE49-F238E27FC236}">
                <a16:creationId xmlns:a16="http://schemas.microsoft.com/office/drawing/2014/main" id="{A2F22D06-2D4A-439B-BC79-6F84EE88BAC1}"/>
              </a:ext>
            </a:extLst>
          </p:cNvPr>
          <p:cNvSpPr>
            <a:spLocks xmlns:a="http://schemas.openxmlformats.org/drawingml/2006/main" noGrp="1"/>
          </p:cNvSpPr>
          <p:nvPr/>
        </p:nvSpPr>
        <p:spPr>
          <a:xfrm xmlns:a="http://schemas.openxmlformats.org/drawingml/2006/main">
            <a:off x="657225" y="5572125"/>
            <a:ext cx="10001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7FB"/>
                </a:solidFill>
                <a:latin typeface="Calibri"/>
                <a:ea typeface="Calibri"/>
                <a:cs typeface="Calibri"/>
              </a:defRPr>
            </a:defPPr>
          </a:lstStyle>
          <a:p xmlns:a="http://schemas.openxmlformats.org/drawingml/2006/main">
            <a:pPr algn="l">
              <a:defRPr sz="1725" b="0">
                <a:solidFill>
                  <a:srgbClr val="F5F7FB"/>
                </a:solidFill>
                <a:latin typeface="Calibri"/>
                <a:ea typeface="Calibri"/>
                <a:cs typeface="Calibri"/>
              </a:defRPr>
            </a:pPr>
            <a:r>
              <a:rPr sz="1725" b="0">
                <a:solidFill>
                  <a:srgbClr val="F5F7FB"/>
                </a:solidFill>
                <a:latin typeface="Calibri"/>
                <a:ea typeface="Calibri"/>
                <a:cs typeface="Calibri"/>
              </a:rPr>
              <a:t>Andre Alexander Alvarado Lira</a:t>
            </a:r>
          </a:p>
          <a:p xmlns:a="http://schemas.openxmlformats.org/drawingml/2006/main">
            <a:pPr algn="l">
              <a:defRPr sz="1725" b="0">
                <a:solidFill>
                  <a:srgbClr val="F5F7FB"/>
                </a:solidFill>
                <a:latin typeface="Calibri"/>
                <a:ea typeface="Calibri"/>
                <a:cs typeface="Calibri"/>
              </a:defRPr>
            </a:pPr>
            <a:r>
              <a:rPr sz="1725" b="0">
                <a:solidFill>
                  <a:srgbClr val="F5F7FB"/>
                </a:solidFill>
                <a:latin typeface="Calibri"/>
                <a:ea typeface="Calibri"/>
                <a:cs typeface="Calibri"/>
              </a:rPr>
              <a:t>Jose Eduardo Alvarado Mejia</a:t>
            </a:r>
          </a:p>
          <a:p xmlns:a="http://schemas.openxmlformats.org/drawingml/2006/main">
            <a:pPr algn="l">
              <a:defRPr sz="1725" b="0">
                <a:solidFill>
                  <a:srgbClr val="F5F7FB"/>
                </a:solidFill>
                <a:latin typeface="Calibri"/>
                <a:ea typeface="Calibri"/>
                <a:cs typeface="Calibri"/>
              </a:defRPr>
            </a:pPr>
            <a:r>
              <a:rPr sz="1725" b="0">
                <a:solidFill>
                  <a:srgbClr val="F5F7FB"/>
                </a:solidFill>
                <a:latin typeface="Calibri"/>
                <a:ea typeface="Calibri"/>
                <a:cs typeface="Calibri"/>
              </a:rPr>
              <a:t>Javier Gomez Correa</a:t>
            </a:r>
          </a:p>
        </p:txBody>
      </p:sp>
    </p:spTree>
    <p:extLst>
      <p:ext uri="{BB962C8B-B14F-4D97-AF65-F5344CB8AC3E}">
        <p14:creationId xmlns:p14="http://schemas.microsoft.com/office/powerpoint/2010/main" val="614410159"/>
      </p:ext>
    </p:extLst>
  </p:cSld>
</p:sld>
</file>

<file path=ppt/slides/slide2.xml><?xml version="1.0" encoding="utf-8"?>
<p:sld xmlns:p="http://schemas.openxmlformats.org/presentationml/2006/main">
  <p:cSld>
    <p:bg>
      <p:bgPr>
        <a:solidFill xmlns:a="http://schemas.openxmlformats.org/drawingml/2006/main">
          <a:srgbClr val="0D1118"/>
        </a:solidFill>
      </p:bgPr>
    </p:bg>
    <p:spTree>
      <p:nvGrpSpPr>
        <p:cNvPr id="1" name=""/>
        <p:cNvGrpSpPr/>
        <p:nvPr/>
      </p:nvGrpSpPr>
      <p:grpSpPr>
        <a:xfrm xmlns:a="http://schemas.openxmlformats.org/drawingml/2006/main"/>
      </p:grpSpPr>
      <p:cxnSp>
        <p:nvCxnSpPr>
          <p:cNvPr id="6" name="">
            <a:extLst xmlns:a="http://schemas.openxmlformats.org/drawingml/2006/main">
              <a:ext uri="{FF2B5EF4-FFF2-40B4-BE49-F238E27FC236}">
                <a16:creationId xmlns:a16="http://schemas.microsoft.com/office/drawing/2014/main" id="{0ADA65BD-BB03-4195-A106-62B898D5C719}"/>
              </a:ext>
            </a:extLst>
          </p:cNvPr>
          <p:cNvCxnSpPr>
            <a:stCxn xmlns:a="http://schemas.openxmlformats.org/drawingml/2006/main" id="4" idx="3"/>
            <a:endCxn xmlns:a="http://schemas.openxmlformats.org/drawingml/2006/main" id="5" idx="1"/>
          </p:cNvCxnSpPr>
          <p:nvPr/>
        </p:nvCxnSpPr>
        <p:spPr>
          <a:xfrm xmlns:a="http://schemas.openxmlformats.org/drawingml/2006/main">
            <a:off x="5191125" y="3248025"/>
            <a:ext cx="1781175" cy="0"/>
          </a:xfrm>
          <a:prstGeom xmlns:a="http://schemas.openxmlformats.org/drawingml/2006/main" prst="straightConnector1">
            <a:avLst/>
          </a:prstGeom>
          <a:ln xmlns:a="http://schemas.openxmlformats.org/drawingml/2006/main" w="19050">
            <a:solidFill>
              <a:srgbClr val="B6C0D0"/>
            </a:solidFill>
            <a:prstDash val="solid"/>
            <a:tailEnd type="triangle" w="sm" len="sm"/>
          </a:ln>
        </p:spPr>
      </p:cxnSp>
      <p:sp>
        <p:nvSpPr>
          <p:cNvPr id="9" name="Caso propuesto y problemática">
            <a:extLst xmlns:a="http://schemas.openxmlformats.org/drawingml/2006/main">
              <a:ext uri="{FF2B5EF4-FFF2-40B4-BE49-F238E27FC236}">
                <a16:creationId xmlns:a16="http://schemas.microsoft.com/office/drawing/2014/main" id="{EBFEEB90-341D-4A7C-BD7A-9B648362365E}"/>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5F7FB"/>
                </a:solidFill>
                <a:latin typeface="Calibri"/>
                <a:ea typeface="Calibri"/>
                <a:cs typeface="Calibri"/>
              </a:defRPr>
            </a:defPPr>
          </a:lstStyle>
          <a:p xmlns:a="http://schemas.openxmlformats.org/drawingml/2006/main">
            <a:pPr algn="l">
              <a:defRPr sz="3300" b="1">
                <a:solidFill>
                  <a:srgbClr val="F5F7FB"/>
                </a:solidFill>
                <a:latin typeface="Calibri"/>
                <a:ea typeface="Calibri"/>
                <a:cs typeface="Calibri"/>
              </a:defRPr>
            </a:pPr>
            <a:r>
              <a:rPr sz="3300" b="1">
                <a:solidFill>
                  <a:srgbClr val="F5F7FB"/>
                </a:solidFill>
                <a:latin typeface="Calibri"/>
                <a:ea typeface="Calibri"/>
                <a:cs typeface="Calibri"/>
              </a:rPr>
              <a:t>Caso propuesto y problemática</a:t>
            </a:r>
          </a:p>
        </p:txBody>
      </p:sp>
      <p:sp>
        <p:nvSpPr>
          <p:cNvPr id="2" name="02">
            <a:extLst xmlns:a="http://schemas.openxmlformats.org/drawingml/2006/main">
              <a:ext uri="{FF2B5EF4-FFF2-40B4-BE49-F238E27FC236}">
                <a16:creationId xmlns:a16="http://schemas.microsoft.com/office/drawing/2014/main" id="{8D8AF6FE-D16B-41B5-88BC-D46F46ACB36F}"/>
              </a:ext>
            </a:extLst>
          </p:cNvPr>
          <p:cNvSpPr>
            <a:spLocks xmlns:a="http://schemas.openxmlformats.org/drawingml/2006/main" noGrp="1"/>
          </p:cNvSpPr>
          <p:nvPr/>
        </p:nvSpPr>
        <p:spPr>
          <a:xfrm xmlns:a="http://schemas.openxmlformats.org/drawingml/2006/main">
            <a:off x="11125200" y="62293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6C0D0"/>
                </a:solidFill>
                <a:latin typeface="Calibri"/>
                <a:ea typeface="Calibri"/>
                <a:cs typeface="Calibri"/>
              </a:defRPr>
            </a:defPPr>
          </a:lstStyle>
          <a:p xmlns:a="http://schemas.openxmlformats.org/drawingml/2006/main">
            <a:pPr algn="r">
              <a:defRPr sz="1500" b="0">
                <a:solidFill>
                  <a:srgbClr val="B6C0D0"/>
                </a:solidFill>
                <a:latin typeface="Calibri"/>
                <a:ea typeface="Calibri"/>
                <a:cs typeface="Calibri"/>
              </a:defRPr>
            </a:pPr>
            <a:r>
              <a:rPr sz="1500" b="0">
                <a:solidFill>
                  <a:srgbClr val="B6C0D0"/>
                </a:solidFill>
                <a:latin typeface="Calibri"/>
                <a:ea typeface="Calibri"/>
                <a:cs typeface="Calibri"/>
              </a:rPr>
              <a:t>02</a:t>
            </a:r>
          </a:p>
        </p:txBody>
      </p:sp>
      <p:sp>
        <p:nvSpPr>
          <p:cNvPr id="3" name="Una práctica necesita explicar el recorrido de la webca">
            <a:extLst xmlns:a="http://schemas.openxmlformats.org/drawingml/2006/main">
              <a:ext uri="{FF2B5EF4-FFF2-40B4-BE49-F238E27FC236}">
                <a16:creationId xmlns:a16="http://schemas.microsoft.com/office/drawing/2014/main" id="{C89CE520-DF05-4614-A33C-41AB3670F5B5}"/>
              </a:ext>
            </a:extLst>
          </p:cNvPr>
          <p:cNvSpPr>
            <a:spLocks xmlns:a="http://schemas.openxmlformats.org/drawingml/2006/main" noGrp="1"/>
          </p:cNvSpPr>
          <p:nvPr/>
        </p:nvSpPr>
        <p:spPr>
          <a:xfrm xmlns:a="http://schemas.openxmlformats.org/drawingml/2006/main">
            <a:off x="609600" y="144780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B6C0D0"/>
                </a:solidFill>
                <a:latin typeface="Calibri"/>
                <a:ea typeface="Calibri"/>
                <a:cs typeface="Calibri"/>
              </a:defRPr>
            </a:defPPr>
          </a:lstStyle>
          <a:p xmlns:a="http://schemas.openxmlformats.org/drawingml/2006/main">
            <a:pPr algn="l">
              <a:defRPr sz="2250" b="0">
                <a:solidFill>
                  <a:srgbClr val="B6C0D0"/>
                </a:solidFill>
                <a:latin typeface="Calibri"/>
                <a:ea typeface="Calibri"/>
                <a:cs typeface="Calibri"/>
              </a:defRPr>
            </a:pPr>
            <a:r>
              <a:rPr sz="2250" b="0">
                <a:solidFill>
                  <a:srgbClr val="B6C0D0"/>
                </a:solidFill>
                <a:latin typeface="Calibri"/>
                <a:ea typeface="Calibri"/>
                <a:cs typeface="Calibri"/>
              </a:rPr>
              <a:t>Una práctica necesita explicar el recorrido de la webcam</a:t>
            </a:r>
          </a:p>
        </p:txBody>
      </p:sp>
      <p:sp>
        <p:nvSpPr>
          <p:cNvPr id="4" name="Cámara y procesamiento&#10;en un mismo prototipo">
            <a:extLst xmlns:a="http://schemas.openxmlformats.org/drawingml/2006/main">
              <a:ext uri="{FF2B5EF4-FFF2-40B4-BE49-F238E27FC236}">
                <a16:creationId xmlns:a16="http://schemas.microsoft.com/office/drawing/2014/main" id="{034D250A-3777-42A1-9E9F-A54E3EDB170D}"/>
              </a:ext>
            </a:extLst>
          </p:cNvPr>
          <p:cNvSpPr>
            <a:spLocks xmlns:a="http://schemas.openxmlformats.org/drawingml/2006/main" noGrp="1"/>
          </p:cNvSpPr>
          <p:nvPr/>
        </p:nvSpPr>
        <p:spPr>
          <a:xfrm xmlns:a="http://schemas.openxmlformats.org/drawingml/2006/main">
            <a:off x="762000" y="2524125"/>
            <a:ext cx="4429125" cy="1447800"/>
          </a:xfrm>
          <a:prstGeom xmlns:a="http://schemas.openxmlformats.org/drawingml/2006/main" prst="roundRect">
            <a:avLst>
              <a:gd name="adj" fmla="val 6579"/>
            </a:avLst>
          </a:prstGeom>
          <a:solidFill xmlns:a="http://schemas.openxmlformats.org/drawingml/2006/main">
            <a:srgbClr val="151E29"/>
          </a:solidFill>
          <a:ln xmlns:a="http://schemas.openxmlformats.org/drawingml/2006/main" w="19050">
            <a:solidFill>
              <a:srgbClr val="69E5BA"/>
            </a:solidFill>
            <a:prstDash val="solid"/>
          </a:ln>
        </p:spPr>
        <p:txBody>
          <a:bodyPr xmlns:a="http://schemas.openxmlformats.org/drawingml/2006/main" lIns="114300" tIns="114300" rIns="114300" bIns="114300" anchor="ctr">
            <a:noAutofit/>
          </a:bodyPr>
          <a:lstStyle xmlns:a="http://schemas.openxmlformats.org/drawingml/2006/main">
            <a:defPPr algn="ctr">
              <a:defRPr sz="2400" b="1">
                <a:solidFill>
                  <a:srgbClr val="F5F7FB"/>
                </a:solidFill>
                <a:latin typeface="Calibri"/>
                <a:ea typeface="Calibri"/>
                <a:cs typeface="Calibri"/>
              </a:defRPr>
            </a:defPPr>
          </a:lstStyle>
          <a:p xmlns:a="http://schemas.openxmlformats.org/drawingml/2006/main">
            <a:pPr algn="ctr">
              <a:defRPr sz="2400" b="1">
                <a:solidFill>
                  <a:srgbClr val="F5F7FB"/>
                </a:solidFill>
                <a:latin typeface="Calibri"/>
                <a:ea typeface="Calibri"/>
                <a:cs typeface="Calibri"/>
              </a:defRPr>
            </a:pPr>
            <a:r>
              <a:rPr sz="2400" b="1">
                <a:solidFill>
                  <a:srgbClr val="F5F7FB"/>
                </a:solidFill>
                <a:latin typeface="Calibri"/>
                <a:ea typeface="Calibri"/>
                <a:cs typeface="Calibri"/>
              </a:rPr>
              <a:t>Cámara y procesamiento</a:t>
            </a:r>
          </a:p>
          <a:p xmlns:a="http://schemas.openxmlformats.org/drawingml/2006/main">
            <a:pPr algn="ctr">
              <a:defRPr sz="2400" b="1">
                <a:solidFill>
                  <a:srgbClr val="F5F7FB"/>
                </a:solidFill>
                <a:latin typeface="Calibri"/>
                <a:ea typeface="Calibri"/>
                <a:cs typeface="Calibri"/>
              </a:defRPr>
            </a:pPr>
            <a:r>
              <a:rPr sz="2400" b="1">
                <a:solidFill>
                  <a:srgbClr val="F5F7FB"/>
                </a:solidFill>
                <a:latin typeface="Calibri"/>
                <a:ea typeface="Calibri"/>
                <a:cs typeface="Calibri"/>
              </a:rPr>
              <a:t>en un mismo prototipo</a:t>
            </a:r>
          </a:p>
        </p:txBody>
      </p:sp>
      <p:sp>
        <p:nvSpPr>
          <p:cNvPr id="5" name="Responsabilidades separadas&#10;y métricas identificables">
            <a:extLst xmlns:a="http://schemas.openxmlformats.org/drawingml/2006/main">
              <a:ext uri="{FF2B5EF4-FFF2-40B4-BE49-F238E27FC236}">
                <a16:creationId xmlns:a16="http://schemas.microsoft.com/office/drawing/2014/main" id="{E0811A65-32B1-4F06-BED0-58FDA877D96A}"/>
              </a:ext>
            </a:extLst>
          </p:cNvPr>
          <p:cNvSpPr>
            <a:spLocks xmlns:a="http://schemas.openxmlformats.org/drawingml/2006/main" noGrp="1"/>
          </p:cNvSpPr>
          <p:nvPr/>
        </p:nvSpPr>
        <p:spPr>
          <a:xfrm xmlns:a="http://schemas.openxmlformats.org/drawingml/2006/main">
            <a:off x="6972300" y="2524125"/>
            <a:ext cx="4429125" cy="1447800"/>
          </a:xfrm>
          <a:prstGeom xmlns:a="http://schemas.openxmlformats.org/drawingml/2006/main" prst="roundRect">
            <a:avLst>
              <a:gd name="adj" fmla="val 6579"/>
            </a:avLst>
          </a:prstGeom>
          <a:solidFill xmlns:a="http://schemas.openxmlformats.org/drawingml/2006/main">
            <a:srgbClr val="151E29"/>
          </a:solidFill>
          <a:ln xmlns:a="http://schemas.openxmlformats.org/drawingml/2006/main" w="19050">
            <a:solidFill>
              <a:srgbClr val="69E5BA"/>
            </a:solidFill>
            <a:prstDash val="solid"/>
          </a:ln>
        </p:spPr>
        <p:txBody>
          <a:bodyPr xmlns:a="http://schemas.openxmlformats.org/drawingml/2006/main" lIns="114300" tIns="114300" rIns="114300" bIns="114300" anchor="ctr">
            <a:noAutofit/>
          </a:bodyPr>
          <a:lstStyle xmlns:a="http://schemas.openxmlformats.org/drawingml/2006/main">
            <a:defPPr algn="ctr">
              <a:defRPr sz="2400" b="1">
                <a:solidFill>
                  <a:srgbClr val="F5F7FB"/>
                </a:solidFill>
                <a:latin typeface="Calibri"/>
                <a:ea typeface="Calibri"/>
                <a:cs typeface="Calibri"/>
              </a:defRPr>
            </a:defPPr>
          </a:lstStyle>
          <a:p xmlns:a="http://schemas.openxmlformats.org/drawingml/2006/main">
            <a:pPr algn="ctr">
              <a:defRPr sz="2400" b="1">
                <a:solidFill>
                  <a:srgbClr val="F5F7FB"/>
                </a:solidFill>
                <a:latin typeface="Calibri"/>
                <a:ea typeface="Calibri"/>
                <a:cs typeface="Calibri"/>
              </a:defRPr>
            </a:pPr>
            <a:r>
              <a:rPr sz="2400" b="1">
                <a:solidFill>
                  <a:srgbClr val="F5F7FB"/>
                </a:solidFill>
                <a:latin typeface="Calibri"/>
                <a:ea typeface="Calibri"/>
                <a:cs typeface="Calibri"/>
              </a:rPr>
              <a:t>Responsabilidades separadas</a:t>
            </a:r>
          </a:p>
          <a:p xmlns:a="http://schemas.openxmlformats.org/drawingml/2006/main">
            <a:pPr algn="ctr">
              <a:defRPr sz="2400" b="1">
                <a:solidFill>
                  <a:srgbClr val="F5F7FB"/>
                </a:solidFill>
                <a:latin typeface="Calibri"/>
                <a:ea typeface="Calibri"/>
                <a:cs typeface="Calibri"/>
              </a:defRPr>
            </a:pPr>
            <a:r>
              <a:rPr sz="2400" b="1">
                <a:solidFill>
                  <a:srgbClr val="F5F7FB"/>
                </a:solidFill>
                <a:latin typeface="Calibri"/>
                <a:ea typeface="Calibri"/>
                <a:cs typeface="Calibri"/>
              </a:rPr>
              <a:t>y métricas identificables</a:t>
            </a:r>
          </a:p>
        </p:txBody>
      </p:sp>
      <p:sp>
        <p:nvSpPr>
          <p:cNvPr id="7" name="Formato y lectura quedan&#10;menos visibles en la aplicació">
            <a:extLst xmlns:a="http://schemas.openxmlformats.org/drawingml/2006/main">
              <a:ext uri="{FF2B5EF4-FFF2-40B4-BE49-F238E27FC236}">
                <a16:creationId xmlns:a16="http://schemas.microsoft.com/office/drawing/2014/main" id="{010E5EBD-52B8-4A97-BAFA-57DBDA890F95}"/>
              </a:ext>
            </a:extLst>
          </p:cNvPr>
          <p:cNvSpPr>
            <a:spLocks xmlns:a="http://schemas.openxmlformats.org/drawingml/2006/main" noGrp="1"/>
          </p:cNvSpPr>
          <p:nvPr/>
        </p:nvSpPr>
        <p:spPr>
          <a:xfrm xmlns:a="http://schemas.openxmlformats.org/drawingml/2006/main">
            <a:off x="762000" y="4333875"/>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B6C0D0"/>
                </a:solidFill>
                <a:latin typeface="Calibri"/>
                <a:ea typeface="Calibri"/>
                <a:cs typeface="Calibri"/>
              </a:defRPr>
            </a:defPPr>
          </a:lstStyle>
          <a:p xmlns:a="http://schemas.openxmlformats.org/drawingml/2006/main">
            <a:pPr algn="l">
              <a:defRPr sz="2100" b="0">
                <a:solidFill>
                  <a:srgbClr val="B6C0D0"/>
                </a:solidFill>
                <a:latin typeface="Calibri"/>
                <a:ea typeface="Calibri"/>
                <a:cs typeface="Calibri"/>
              </a:defRPr>
            </a:pPr>
            <a:r>
              <a:rPr sz="2100" b="0">
                <a:solidFill>
                  <a:srgbClr val="B6C0D0"/>
                </a:solidFill>
                <a:latin typeface="Calibri"/>
                <a:ea typeface="Calibri"/>
                <a:cs typeface="Calibri"/>
              </a:rPr>
              <a:t>Formato y lectura quedan</a:t>
            </a:r>
          </a:p>
          <a:p xmlns:a="http://schemas.openxmlformats.org/drawingml/2006/main">
            <a:pPr algn="l">
              <a:defRPr sz="2100" b="0">
                <a:solidFill>
                  <a:srgbClr val="B6C0D0"/>
                </a:solidFill>
                <a:latin typeface="Calibri"/>
                <a:ea typeface="Calibri"/>
                <a:cs typeface="Calibri"/>
              </a:defRPr>
            </a:pPr>
            <a:r>
              <a:rPr sz="2100" b="0">
                <a:solidFill>
                  <a:srgbClr val="B6C0D0"/>
                </a:solidFill>
                <a:latin typeface="Calibri"/>
                <a:ea typeface="Calibri"/>
                <a:cs typeface="Calibri"/>
              </a:rPr>
              <a:t>menos visibles en la aplicación</a:t>
            </a:r>
          </a:p>
        </p:txBody>
      </p:sp>
      <p:sp>
        <p:nvSpPr>
          <p:cNvPr id="8" name="ORVIX expone captura,&#10;transporte y consumo">
            <a:extLst xmlns:a="http://schemas.openxmlformats.org/drawingml/2006/main">
              <a:ext uri="{FF2B5EF4-FFF2-40B4-BE49-F238E27FC236}">
                <a16:creationId xmlns:a16="http://schemas.microsoft.com/office/drawing/2014/main" id="{140ED4FC-3687-409D-9DE6-11C053CA29CB}"/>
              </a:ext>
            </a:extLst>
          </p:cNvPr>
          <p:cNvSpPr>
            <a:spLocks xmlns:a="http://schemas.openxmlformats.org/drawingml/2006/main" noGrp="1"/>
          </p:cNvSpPr>
          <p:nvPr/>
        </p:nvSpPr>
        <p:spPr>
          <a:xfrm xmlns:a="http://schemas.openxmlformats.org/drawingml/2006/main">
            <a:off x="6972300" y="4333875"/>
            <a:ext cx="4514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9E5BA"/>
                </a:solidFill>
                <a:latin typeface="Calibri"/>
                <a:ea typeface="Calibri"/>
                <a:cs typeface="Calibri"/>
              </a:defRPr>
            </a:defPPr>
          </a:lstStyle>
          <a:p xmlns:a="http://schemas.openxmlformats.org/drawingml/2006/main">
            <a:pPr algn="l">
              <a:defRPr sz="2100" b="0">
                <a:solidFill>
                  <a:srgbClr val="69E5BA"/>
                </a:solidFill>
                <a:latin typeface="Calibri"/>
                <a:ea typeface="Calibri"/>
                <a:cs typeface="Calibri"/>
              </a:defRPr>
            </a:pPr>
            <a:r>
              <a:rPr sz="2100" b="0">
                <a:solidFill>
                  <a:srgbClr val="69E5BA"/>
                </a:solidFill>
                <a:latin typeface="Calibri"/>
                <a:ea typeface="Calibri"/>
                <a:cs typeface="Calibri"/>
              </a:rPr>
              <a:t>ORVIX expone captura,</a:t>
            </a:r>
          </a:p>
          <a:p xmlns:a="http://schemas.openxmlformats.org/drawingml/2006/main">
            <a:pPr algn="l">
              <a:defRPr sz="2100" b="0">
                <a:solidFill>
                  <a:srgbClr val="69E5BA"/>
                </a:solidFill>
                <a:latin typeface="Calibri"/>
                <a:ea typeface="Calibri"/>
                <a:cs typeface="Calibri"/>
              </a:defRPr>
            </a:pPr>
            <a:r>
              <a:rPr sz="2100" b="0">
                <a:solidFill>
                  <a:srgbClr val="69E5BA"/>
                </a:solidFill>
                <a:latin typeface="Calibri"/>
                <a:ea typeface="Calibri"/>
                <a:cs typeface="Calibri"/>
              </a:rPr>
              <a:t>transporte y consumo</a:t>
            </a:r>
          </a:p>
        </p:txBody>
      </p:sp>
    </p:spTree>
    <p:extLst>
      <p:ext uri="{BB962C8B-B14F-4D97-AF65-F5344CB8AC3E}">
        <p14:creationId xmlns:p14="http://schemas.microsoft.com/office/powerpoint/2010/main" val="2018079322"/>
      </p:ext>
    </p:extLst>
  </p:cSld>
</p:sld>
</file>

<file path=ppt/slides/slide3.xml><?xml version="1.0" encoding="utf-8"?>
<p:sld xmlns:p="http://schemas.openxmlformats.org/presentationml/2006/main">
  <p:cSld>
    <p:bg>
      <p:bgPr>
        <a:solidFill xmlns:a="http://schemas.openxmlformats.org/drawingml/2006/main">
          <a:srgbClr val="0D1118"/>
        </a:solidFill>
      </p:bgPr>
    </p:bg>
    <p:spTree>
      <p:nvGrpSpPr>
        <p:cNvPr id="1" name=""/>
        <p:cNvGrpSpPr/>
        <p:nvPr/>
      </p:nvGrpSpPr>
      <p:grpSpPr>
        <a:xfrm xmlns:a="http://schemas.openxmlformats.org/drawingml/2006/main"/>
      </p:grpSpPr>
      <p:sp>
        <p:nvSpPr>
          <p:cNvPr id="13" name="Objetivos y actores">
            <a:extLst xmlns:a="http://schemas.openxmlformats.org/drawingml/2006/main">
              <a:ext uri="{FF2B5EF4-FFF2-40B4-BE49-F238E27FC236}">
                <a16:creationId xmlns:a16="http://schemas.microsoft.com/office/drawing/2014/main" id="{4F1F907E-6A05-4D2A-A7F1-E3BB47D0D0E6}"/>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5F7FB"/>
                </a:solidFill>
                <a:latin typeface="Calibri"/>
                <a:ea typeface="Calibri"/>
                <a:cs typeface="Calibri"/>
              </a:defRPr>
            </a:defPPr>
          </a:lstStyle>
          <a:p xmlns:a="http://schemas.openxmlformats.org/drawingml/2006/main">
            <a:pPr algn="l">
              <a:defRPr sz="3300" b="1">
                <a:solidFill>
                  <a:srgbClr val="F5F7FB"/>
                </a:solidFill>
                <a:latin typeface="Calibri"/>
                <a:ea typeface="Calibri"/>
                <a:cs typeface="Calibri"/>
              </a:defRPr>
            </a:pPr>
            <a:r>
              <a:rPr sz="3300" b="1">
                <a:solidFill>
                  <a:srgbClr val="F5F7FB"/>
                </a:solidFill>
                <a:latin typeface="Calibri"/>
                <a:ea typeface="Calibri"/>
                <a:cs typeface="Calibri"/>
              </a:rPr>
              <a:t>Objetivos y actores</a:t>
            </a:r>
          </a:p>
        </p:txBody>
      </p:sp>
      <p:sp>
        <p:nvSpPr>
          <p:cNvPr id="2" name="03">
            <a:extLst xmlns:a="http://schemas.openxmlformats.org/drawingml/2006/main">
              <a:ext uri="{FF2B5EF4-FFF2-40B4-BE49-F238E27FC236}">
                <a16:creationId xmlns:a16="http://schemas.microsoft.com/office/drawing/2014/main" id="{C6A5A4AE-D7B4-4FCB-BEE3-BB2EEA136874}"/>
              </a:ext>
            </a:extLst>
          </p:cNvPr>
          <p:cNvSpPr>
            <a:spLocks xmlns:a="http://schemas.openxmlformats.org/drawingml/2006/main" noGrp="1"/>
          </p:cNvSpPr>
          <p:nvPr/>
        </p:nvSpPr>
        <p:spPr>
          <a:xfrm xmlns:a="http://schemas.openxmlformats.org/drawingml/2006/main">
            <a:off x="11125200" y="62293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6C0D0"/>
                </a:solidFill>
                <a:latin typeface="Calibri"/>
                <a:ea typeface="Calibri"/>
                <a:cs typeface="Calibri"/>
              </a:defRPr>
            </a:defPPr>
          </a:lstStyle>
          <a:p xmlns:a="http://schemas.openxmlformats.org/drawingml/2006/main">
            <a:pPr algn="r">
              <a:defRPr sz="1500" b="0">
                <a:solidFill>
                  <a:srgbClr val="B6C0D0"/>
                </a:solidFill>
                <a:latin typeface="Calibri"/>
                <a:ea typeface="Calibri"/>
                <a:cs typeface="Calibri"/>
              </a:defRPr>
            </a:pPr>
            <a:r>
              <a:rPr sz="1500" b="0">
                <a:solidFill>
                  <a:srgbClr val="B6C0D0"/>
                </a:solidFill>
                <a:latin typeface="Calibri"/>
                <a:ea typeface="Calibri"/>
                <a:cs typeface="Calibri"/>
              </a:rPr>
              <a:t>03</a:t>
            </a:r>
          </a:p>
        </p:txBody>
      </p:sp>
      <p:sp>
        <p:nvSpPr>
          <p:cNvPr id="3" name="Aplicación local para capturar, visualizar y analizar v">
            <a:extLst xmlns:a="http://schemas.openxmlformats.org/drawingml/2006/main">
              <a:ext uri="{FF2B5EF4-FFF2-40B4-BE49-F238E27FC236}">
                <a16:creationId xmlns:a16="http://schemas.microsoft.com/office/drawing/2014/main" id="{8F3CF647-C4A8-4B77-8603-A8367E7F1EBA}"/>
              </a:ext>
            </a:extLst>
          </p:cNvPr>
          <p:cNvSpPr>
            <a:spLocks xmlns:a="http://schemas.openxmlformats.org/drawingml/2006/main" noGrp="1"/>
          </p:cNvSpPr>
          <p:nvPr/>
        </p:nvSpPr>
        <p:spPr>
          <a:xfrm xmlns:a="http://schemas.openxmlformats.org/drawingml/2006/main">
            <a:off x="609600" y="1438275"/>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69E5BA"/>
                </a:solidFill>
                <a:latin typeface="Calibri"/>
                <a:ea typeface="Calibri"/>
                <a:cs typeface="Calibri"/>
              </a:defRPr>
            </a:defPPr>
          </a:lstStyle>
          <a:p xmlns:a="http://schemas.openxmlformats.org/drawingml/2006/main">
            <a:pPr algn="l">
              <a:defRPr sz="2550" b="1">
                <a:solidFill>
                  <a:srgbClr val="69E5BA"/>
                </a:solidFill>
                <a:latin typeface="Calibri"/>
                <a:ea typeface="Calibri"/>
                <a:cs typeface="Calibri"/>
              </a:defRPr>
            </a:pPr>
            <a:r>
              <a:rPr sz="2550" b="1">
                <a:solidFill>
                  <a:srgbClr val="69E5BA"/>
                </a:solidFill>
                <a:latin typeface="Calibri"/>
                <a:ea typeface="Calibri"/>
                <a:cs typeface="Calibri"/>
              </a:rPr>
              <a:t>Aplicación local para capturar, visualizar y analizar video</a:t>
            </a:r>
          </a:p>
        </p:txBody>
      </p:sp>
      <p:sp>
        <p:nvSpPr>
          <p:cNvPr id="4" name="01">
            <a:extLst xmlns:a="http://schemas.openxmlformats.org/drawingml/2006/main">
              <a:ext uri="{FF2B5EF4-FFF2-40B4-BE49-F238E27FC236}">
                <a16:creationId xmlns:a16="http://schemas.microsoft.com/office/drawing/2014/main" id="{F2D5025F-A5B5-463A-8D77-58CC30D7D4EB}"/>
              </a:ext>
            </a:extLst>
          </p:cNvPr>
          <p:cNvSpPr>
            <a:spLocks xmlns:a="http://schemas.openxmlformats.org/drawingml/2006/main" noGrp="1"/>
          </p:cNvSpPr>
          <p:nvPr/>
        </p:nvSpPr>
        <p:spPr>
          <a:xfrm xmlns:a="http://schemas.openxmlformats.org/drawingml/2006/main">
            <a:off x="704850" y="257175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B397F6"/>
                </a:solidFill>
                <a:latin typeface="Calibri"/>
                <a:ea typeface="Calibri"/>
                <a:cs typeface="Calibri"/>
              </a:defRPr>
            </a:defPPr>
          </a:lstStyle>
          <a:p xmlns:a="http://schemas.openxmlformats.org/drawingml/2006/main">
            <a:pPr algn="l">
              <a:defRPr sz="3600" b="1">
                <a:solidFill>
                  <a:srgbClr val="B397F6"/>
                </a:solidFill>
                <a:latin typeface="Calibri"/>
                <a:ea typeface="Calibri"/>
                <a:cs typeface="Calibri"/>
              </a:defRPr>
            </a:pPr>
            <a:r>
              <a:rPr sz="3600" b="1">
                <a:solidFill>
                  <a:srgbClr val="B397F6"/>
                </a:solidFill>
                <a:latin typeface="Calibri"/>
                <a:ea typeface="Calibri"/>
                <a:cs typeface="Calibri"/>
              </a:rPr>
              <a:t>01</a:t>
            </a:r>
          </a:p>
        </p:txBody>
      </p:sp>
      <p:sp>
        <p:nvSpPr>
          <p:cNvPr id="5" name="C++ conserva la cámara">
            <a:extLst xmlns:a="http://schemas.openxmlformats.org/drawingml/2006/main">
              <a:ext uri="{FF2B5EF4-FFF2-40B4-BE49-F238E27FC236}">
                <a16:creationId xmlns:a16="http://schemas.microsoft.com/office/drawing/2014/main" id="{66CA5D78-F932-4609-93F4-390B95949DD9}"/>
              </a:ext>
            </a:extLst>
          </p:cNvPr>
          <p:cNvSpPr>
            <a:spLocks xmlns:a="http://schemas.openxmlformats.org/drawingml/2006/main" noGrp="1"/>
          </p:cNvSpPr>
          <p:nvPr/>
        </p:nvSpPr>
        <p:spPr>
          <a:xfrm xmlns:a="http://schemas.openxmlformats.org/drawingml/2006/main">
            <a:off x="1885950" y="2619375"/>
            <a:ext cx="9334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5F7FB"/>
                </a:solidFill>
                <a:latin typeface="Calibri"/>
                <a:ea typeface="Calibri"/>
                <a:cs typeface="Calibri"/>
              </a:defRPr>
            </a:defPPr>
          </a:lstStyle>
          <a:p xmlns:a="http://schemas.openxmlformats.org/drawingml/2006/main">
            <a:pPr algn="l">
              <a:defRPr sz="2400" b="0">
                <a:solidFill>
                  <a:srgbClr val="F5F7FB"/>
                </a:solidFill>
                <a:latin typeface="Calibri"/>
                <a:ea typeface="Calibri"/>
                <a:cs typeface="Calibri"/>
              </a:defRPr>
            </a:pPr>
            <a:r>
              <a:rPr sz="2400" b="0">
                <a:solidFill>
                  <a:srgbClr val="F5F7FB"/>
                </a:solidFill>
                <a:latin typeface="Calibri"/>
                <a:ea typeface="Calibri"/>
                <a:cs typeface="Calibri"/>
              </a:rPr>
              <a:t>C++ conserva la cámara</a:t>
            </a:r>
          </a:p>
        </p:txBody>
      </p:sp>
      <p:sp>
        <p:nvSpPr>
          <p:cNvPr id="6" name="02">
            <a:extLst xmlns:a="http://schemas.openxmlformats.org/drawingml/2006/main">
              <a:ext uri="{FF2B5EF4-FFF2-40B4-BE49-F238E27FC236}">
                <a16:creationId xmlns:a16="http://schemas.microsoft.com/office/drawing/2014/main" id="{9DB65A23-3C44-4BD7-907B-2EBB1C08251D}"/>
              </a:ext>
            </a:extLst>
          </p:cNvPr>
          <p:cNvSpPr>
            <a:spLocks xmlns:a="http://schemas.openxmlformats.org/drawingml/2006/main" noGrp="1"/>
          </p:cNvSpPr>
          <p:nvPr/>
        </p:nvSpPr>
        <p:spPr>
          <a:xfrm xmlns:a="http://schemas.openxmlformats.org/drawingml/2006/main">
            <a:off x="704850" y="35528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B397F6"/>
                </a:solidFill>
                <a:latin typeface="Calibri"/>
                <a:ea typeface="Calibri"/>
                <a:cs typeface="Calibri"/>
              </a:defRPr>
            </a:defPPr>
          </a:lstStyle>
          <a:p xmlns:a="http://schemas.openxmlformats.org/drawingml/2006/main">
            <a:pPr algn="l">
              <a:defRPr sz="3600" b="1">
                <a:solidFill>
                  <a:srgbClr val="B397F6"/>
                </a:solidFill>
                <a:latin typeface="Calibri"/>
                <a:ea typeface="Calibri"/>
                <a:cs typeface="Calibri"/>
              </a:defRPr>
            </a:pPr>
            <a:r>
              <a:rPr sz="3600" b="1">
                <a:solidFill>
                  <a:srgbClr val="B397F6"/>
                </a:solidFill>
                <a:latin typeface="Calibri"/>
                <a:ea typeface="Calibri"/>
                <a:cs typeface="Calibri"/>
              </a:rPr>
              <a:t>02</a:t>
            </a:r>
          </a:p>
        </p:txBody>
      </p:sp>
      <p:sp>
        <p:nvSpPr>
          <p:cNvPr id="7" name="Python consume el contrato IPC">
            <a:extLst xmlns:a="http://schemas.openxmlformats.org/drawingml/2006/main">
              <a:ext uri="{FF2B5EF4-FFF2-40B4-BE49-F238E27FC236}">
                <a16:creationId xmlns:a16="http://schemas.microsoft.com/office/drawing/2014/main" id="{966160BF-E808-42B2-B4FB-FC72AD135EDA}"/>
              </a:ext>
            </a:extLst>
          </p:cNvPr>
          <p:cNvSpPr>
            <a:spLocks xmlns:a="http://schemas.openxmlformats.org/drawingml/2006/main" noGrp="1"/>
          </p:cNvSpPr>
          <p:nvPr/>
        </p:nvSpPr>
        <p:spPr>
          <a:xfrm xmlns:a="http://schemas.openxmlformats.org/drawingml/2006/main">
            <a:off x="1885950" y="3600450"/>
            <a:ext cx="9334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5F7FB"/>
                </a:solidFill>
                <a:latin typeface="Calibri"/>
                <a:ea typeface="Calibri"/>
                <a:cs typeface="Calibri"/>
              </a:defRPr>
            </a:defPPr>
          </a:lstStyle>
          <a:p xmlns:a="http://schemas.openxmlformats.org/drawingml/2006/main">
            <a:pPr algn="l">
              <a:defRPr sz="2400" b="0">
                <a:solidFill>
                  <a:srgbClr val="F5F7FB"/>
                </a:solidFill>
                <a:latin typeface="Calibri"/>
                <a:ea typeface="Calibri"/>
                <a:cs typeface="Calibri"/>
              </a:defRPr>
            </a:pPr>
            <a:r>
              <a:rPr sz="2400" b="0">
                <a:solidFill>
                  <a:srgbClr val="F5F7FB"/>
                </a:solidFill>
                <a:latin typeface="Calibri"/>
                <a:ea typeface="Calibri"/>
                <a:cs typeface="Calibri"/>
              </a:rPr>
              <a:t>Python consume el contrato IPC</a:t>
            </a:r>
          </a:p>
        </p:txBody>
      </p:sp>
      <p:sp>
        <p:nvSpPr>
          <p:cNvPr id="8" name="03">
            <a:extLst xmlns:a="http://schemas.openxmlformats.org/drawingml/2006/main">
              <a:ext uri="{FF2B5EF4-FFF2-40B4-BE49-F238E27FC236}">
                <a16:creationId xmlns:a16="http://schemas.microsoft.com/office/drawing/2014/main" id="{FFE38B14-8468-4BFE-AFF4-D0781AF55B87}"/>
              </a:ext>
            </a:extLst>
          </p:cNvPr>
          <p:cNvSpPr>
            <a:spLocks xmlns:a="http://schemas.openxmlformats.org/drawingml/2006/main" noGrp="1"/>
          </p:cNvSpPr>
          <p:nvPr/>
        </p:nvSpPr>
        <p:spPr>
          <a:xfrm xmlns:a="http://schemas.openxmlformats.org/drawingml/2006/main">
            <a:off x="704850" y="453390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B397F6"/>
                </a:solidFill>
                <a:latin typeface="Calibri"/>
                <a:ea typeface="Calibri"/>
                <a:cs typeface="Calibri"/>
              </a:defRPr>
            </a:defPPr>
          </a:lstStyle>
          <a:p xmlns:a="http://schemas.openxmlformats.org/drawingml/2006/main">
            <a:pPr algn="l">
              <a:defRPr sz="3600" b="1">
                <a:solidFill>
                  <a:srgbClr val="B397F6"/>
                </a:solidFill>
                <a:latin typeface="Calibri"/>
                <a:ea typeface="Calibri"/>
                <a:cs typeface="Calibri"/>
              </a:defRPr>
            </a:pPr>
            <a:r>
              <a:rPr sz="3600" b="1">
                <a:solidFill>
                  <a:srgbClr val="B397F6"/>
                </a:solidFill>
                <a:latin typeface="Calibri"/>
                <a:ea typeface="Calibri"/>
                <a:cs typeface="Calibri"/>
              </a:rPr>
              <a:t>03</a:t>
            </a:r>
          </a:p>
        </p:txBody>
      </p:sp>
      <p:sp>
        <p:nvSpPr>
          <p:cNvPr id="9" name="El usuario entiende estado y rendimiento">
            <a:extLst xmlns:a="http://schemas.openxmlformats.org/drawingml/2006/main">
              <a:ext uri="{FF2B5EF4-FFF2-40B4-BE49-F238E27FC236}">
                <a16:creationId xmlns:a16="http://schemas.microsoft.com/office/drawing/2014/main" id="{CC763FC6-6C83-4EA3-99D9-3D0C449B6B16}"/>
              </a:ext>
            </a:extLst>
          </p:cNvPr>
          <p:cNvSpPr>
            <a:spLocks xmlns:a="http://schemas.openxmlformats.org/drawingml/2006/main" noGrp="1"/>
          </p:cNvSpPr>
          <p:nvPr/>
        </p:nvSpPr>
        <p:spPr>
          <a:xfrm xmlns:a="http://schemas.openxmlformats.org/drawingml/2006/main">
            <a:off x="1885950" y="4581525"/>
            <a:ext cx="9334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5F7FB"/>
                </a:solidFill>
                <a:latin typeface="Calibri"/>
                <a:ea typeface="Calibri"/>
                <a:cs typeface="Calibri"/>
              </a:defRPr>
            </a:defPPr>
          </a:lstStyle>
          <a:p xmlns:a="http://schemas.openxmlformats.org/drawingml/2006/main">
            <a:pPr algn="l">
              <a:defRPr sz="2400" b="0">
                <a:solidFill>
                  <a:srgbClr val="F5F7FB"/>
                </a:solidFill>
                <a:latin typeface="Calibri"/>
                <a:ea typeface="Calibri"/>
                <a:cs typeface="Calibri"/>
              </a:defRPr>
            </a:pPr>
            <a:r>
              <a:rPr sz="2400" b="0">
                <a:solidFill>
                  <a:srgbClr val="F5F7FB"/>
                </a:solidFill>
                <a:latin typeface="Calibri"/>
                <a:ea typeface="Calibri"/>
                <a:cs typeface="Calibri"/>
              </a:rPr>
              <a:t>El usuario entiende estado y rendimiento</a:t>
            </a:r>
          </a:p>
        </p:txBody>
      </p:sp>
      <p:sp>
        <p:nvSpPr>
          <p:cNvPr id="10" name="Operador">
            <a:extLst xmlns:a="http://schemas.openxmlformats.org/drawingml/2006/main">
              <a:ext uri="{FF2B5EF4-FFF2-40B4-BE49-F238E27FC236}">
                <a16:creationId xmlns:a16="http://schemas.microsoft.com/office/drawing/2014/main" id="{E6BA0E38-82A1-4184-90C6-3DD9E6A6B391}"/>
              </a:ext>
            </a:extLst>
          </p:cNvPr>
          <p:cNvSpPr>
            <a:spLocks xmlns:a="http://schemas.openxmlformats.org/drawingml/2006/main" noGrp="1"/>
          </p:cNvSpPr>
          <p:nvPr/>
        </p:nvSpPr>
        <p:spPr>
          <a:xfrm xmlns:a="http://schemas.openxmlformats.org/drawingml/2006/main">
            <a:off x="704850" y="56864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69E5BA"/>
                </a:solidFill>
                <a:latin typeface="Calibri"/>
                <a:ea typeface="Calibri"/>
                <a:cs typeface="Calibri"/>
              </a:defRPr>
            </a:defPPr>
          </a:lstStyle>
          <a:p xmlns:a="http://schemas.openxmlformats.org/drawingml/2006/main">
            <a:pPr algn="l">
              <a:defRPr sz="2025" b="1">
                <a:solidFill>
                  <a:srgbClr val="69E5BA"/>
                </a:solidFill>
                <a:latin typeface="Calibri"/>
                <a:ea typeface="Calibri"/>
                <a:cs typeface="Calibri"/>
              </a:defRPr>
            </a:pPr>
            <a:r>
              <a:rPr sz="2025" b="1">
                <a:solidFill>
                  <a:srgbClr val="69E5BA"/>
                </a:solidFill>
                <a:latin typeface="Calibri"/>
                <a:ea typeface="Calibri"/>
                <a:cs typeface="Calibri"/>
              </a:rPr>
              <a:t>Operador</a:t>
            </a:r>
          </a:p>
        </p:txBody>
      </p:sp>
      <p:sp>
        <p:nvSpPr>
          <p:cNvPr id="11" name="Equipo de desarrollo">
            <a:extLst xmlns:a="http://schemas.openxmlformats.org/drawingml/2006/main">
              <a:ext uri="{FF2B5EF4-FFF2-40B4-BE49-F238E27FC236}">
                <a16:creationId xmlns:a16="http://schemas.microsoft.com/office/drawing/2014/main" id="{CC1AA6E1-26CC-418D-8FB9-590C9C2A5EAF}"/>
              </a:ext>
            </a:extLst>
          </p:cNvPr>
          <p:cNvSpPr>
            <a:spLocks xmlns:a="http://schemas.openxmlformats.org/drawingml/2006/main" noGrp="1"/>
          </p:cNvSpPr>
          <p:nvPr/>
        </p:nvSpPr>
        <p:spPr>
          <a:xfrm xmlns:a="http://schemas.openxmlformats.org/drawingml/2006/main">
            <a:off x="4000500" y="56864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69E5BA"/>
                </a:solidFill>
                <a:latin typeface="Calibri"/>
                <a:ea typeface="Calibri"/>
                <a:cs typeface="Calibri"/>
              </a:defRPr>
            </a:defPPr>
          </a:lstStyle>
          <a:p xmlns:a="http://schemas.openxmlformats.org/drawingml/2006/main">
            <a:pPr algn="l">
              <a:defRPr sz="2025" b="1">
                <a:solidFill>
                  <a:srgbClr val="69E5BA"/>
                </a:solidFill>
                <a:latin typeface="Calibri"/>
                <a:ea typeface="Calibri"/>
                <a:cs typeface="Calibri"/>
              </a:defRPr>
            </a:pPr>
            <a:r>
              <a:rPr sz="2025" b="1">
                <a:solidFill>
                  <a:srgbClr val="69E5BA"/>
                </a:solidFill>
                <a:latin typeface="Calibri"/>
                <a:ea typeface="Calibri"/>
                <a:cs typeface="Calibri"/>
              </a:rPr>
              <a:t>Equipo de desarrollo</a:t>
            </a:r>
          </a:p>
        </p:txBody>
      </p:sp>
      <p:sp>
        <p:nvSpPr>
          <p:cNvPr id="12" name="Evaluador docente">
            <a:extLst xmlns:a="http://schemas.openxmlformats.org/drawingml/2006/main">
              <a:ext uri="{FF2B5EF4-FFF2-40B4-BE49-F238E27FC236}">
                <a16:creationId xmlns:a16="http://schemas.microsoft.com/office/drawing/2014/main" id="{D509EB70-8F57-4A2F-B3F5-6D53A98B3150}"/>
              </a:ext>
            </a:extLst>
          </p:cNvPr>
          <p:cNvSpPr>
            <a:spLocks xmlns:a="http://schemas.openxmlformats.org/drawingml/2006/main" noGrp="1"/>
          </p:cNvSpPr>
          <p:nvPr/>
        </p:nvSpPr>
        <p:spPr>
          <a:xfrm xmlns:a="http://schemas.openxmlformats.org/drawingml/2006/main">
            <a:off x="8505825" y="5686425"/>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69E5BA"/>
                </a:solidFill>
                <a:latin typeface="Calibri"/>
                <a:ea typeface="Calibri"/>
                <a:cs typeface="Calibri"/>
              </a:defRPr>
            </a:defPPr>
          </a:lstStyle>
          <a:p xmlns:a="http://schemas.openxmlformats.org/drawingml/2006/main">
            <a:pPr algn="l">
              <a:defRPr sz="2025" b="1">
                <a:solidFill>
                  <a:srgbClr val="69E5BA"/>
                </a:solidFill>
                <a:latin typeface="Calibri"/>
                <a:ea typeface="Calibri"/>
                <a:cs typeface="Calibri"/>
              </a:defRPr>
            </a:pPr>
            <a:r>
              <a:rPr sz="2025" b="1">
                <a:solidFill>
                  <a:srgbClr val="69E5BA"/>
                </a:solidFill>
                <a:latin typeface="Calibri"/>
                <a:ea typeface="Calibri"/>
                <a:cs typeface="Calibri"/>
              </a:rPr>
              <a:t>Evaluador docente</a:t>
            </a:r>
          </a:p>
        </p:txBody>
      </p:sp>
    </p:spTree>
    <p:extLst>
      <p:ext uri="{BB962C8B-B14F-4D97-AF65-F5344CB8AC3E}">
        <p14:creationId xmlns:p14="http://schemas.microsoft.com/office/powerpoint/2010/main" val="128820918"/>
      </p:ext>
    </p:extLst>
  </p:cSld>
</p:sld>
</file>

<file path=ppt/slides/slide4.xml><?xml version="1.0" encoding="utf-8"?>
<p:sld xmlns:p="http://schemas.openxmlformats.org/presentationml/2006/main">
  <p:cSld>
    <p:bg>
      <p:bgPr>
        <a:solidFill xmlns:a="http://schemas.openxmlformats.org/drawingml/2006/main">
          <a:srgbClr val="0D1118"/>
        </a:solidFill>
      </p:bgPr>
    </p:bg>
    <p:spTree>
      <p:nvGrpSpPr>
        <p:cNvPr id="1" name=""/>
        <p:cNvGrpSpPr/>
        <p:nvPr/>
      </p:nvGrpSpPr>
      <p:grpSpPr>
        <a:xfrm xmlns:a="http://schemas.openxmlformats.org/drawingml/2006/main"/>
      </p:grpSpPr>
      <p:sp>
        <p:nvSpPr>
          <p:cNvPr id="8" name="Alcance del avance">
            <a:extLst xmlns:a="http://schemas.openxmlformats.org/drawingml/2006/main">
              <a:ext uri="{FF2B5EF4-FFF2-40B4-BE49-F238E27FC236}">
                <a16:creationId xmlns:a16="http://schemas.microsoft.com/office/drawing/2014/main" id="{AE8501DB-4276-42F1-8762-5F8860251FB3}"/>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5F7FB"/>
                </a:solidFill>
                <a:latin typeface="Calibri"/>
                <a:ea typeface="Calibri"/>
                <a:cs typeface="Calibri"/>
              </a:defRPr>
            </a:defPPr>
          </a:lstStyle>
          <a:p xmlns:a="http://schemas.openxmlformats.org/drawingml/2006/main">
            <a:pPr algn="l">
              <a:defRPr sz="3300" b="1">
                <a:solidFill>
                  <a:srgbClr val="F5F7FB"/>
                </a:solidFill>
                <a:latin typeface="Calibri"/>
                <a:ea typeface="Calibri"/>
                <a:cs typeface="Calibri"/>
              </a:defRPr>
            </a:pPr>
            <a:r>
              <a:rPr sz="3300" b="1">
                <a:solidFill>
                  <a:srgbClr val="F5F7FB"/>
                </a:solidFill>
                <a:latin typeface="Calibri"/>
                <a:ea typeface="Calibri"/>
                <a:cs typeface="Calibri"/>
              </a:rPr>
              <a:t>Alcance del avance</a:t>
            </a:r>
          </a:p>
        </p:txBody>
      </p:sp>
      <p:sp>
        <p:nvSpPr>
          <p:cNvPr id="2" name="Base implementada y diseño pendiente tienen evidencias ">
            <a:extLst xmlns:a="http://schemas.openxmlformats.org/drawingml/2006/main">
              <a:ext uri="{FF2B5EF4-FFF2-40B4-BE49-F238E27FC236}">
                <a16:creationId xmlns:a16="http://schemas.microsoft.com/office/drawing/2014/main" id="{D223A0D2-B285-4CBD-8032-960A18EC02B9}"/>
              </a:ext>
            </a:extLst>
          </p:cNvPr>
          <p:cNvSpPr>
            <a:spLocks xmlns:a="http://schemas.openxmlformats.org/drawingml/2006/main" noGrp="1"/>
          </p:cNvSpPr>
          <p:nvPr/>
        </p:nvSpPr>
        <p:spPr>
          <a:xfrm xmlns:a="http://schemas.openxmlformats.org/drawingml/2006/main">
            <a:off x="609600" y="6229350"/>
            <a:ext cx="1019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6C0D0"/>
                </a:solidFill>
                <a:latin typeface="Calibri"/>
                <a:ea typeface="Calibri"/>
                <a:cs typeface="Calibri"/>
              </a:defRPr>
            </a:defPPr>
          </a:lstStyle>
          <a:p xmlns:a="http://schemas.openxmlformats.org/drawingml/2006/main">
            <a:pPr algn="l">
              <a:defRPr sz="1500" b="0">
                <a:solidFill>
                  <a:srgbClr val="B6C0D0"/>
                </a:solidFill>
                <a:latin typeface="Calibri"/>
                <a:ea typeface="Calibri"/>
                <a:cs typeface="Calibri"/>
              </a:defRPr>
            </a:pPr>
            <a:r>
              <a:rPr sz="1500" b="0">
                <a:solidFill>
                  <a:srgbClr val="B6C0D0"/>
                </a:solidFill>
                <a:latin typeface="Calibri"/>
                <a:ea typeface="Calibri"/>
                <a:cs typeface="Calibri"/>
              </a:rPr>
              <a:t>Base implementada y diseño pendiente tienen evidencias distintas</a:t>
            </a:r>
          </a:p>
        </p:txBody>
      </p:sp>
      <p:sp>
        <p:nvSpPr>
          <p:cNvPr id="3" name="04">
            <a:extLst xmlns:a="http://schemas.openxmlformats.org/drawingml/2006/main">
              <a:ext uri="{FF2B5EF4-FFF2-40B4-BE49-F238E27FC236}">
                <a16:creationId xmlns:a16="http://schemas.microsoft.com/office/drawing/2014/main" id="{9CD231D8-4640-4ACF-80CB-65C659071585}"/>
              </a:ext>
            </a:extLst>
          </p:cNvPr>
          <p:cNvSpPr>
            <a:spLocks xmlns:a="http://schemas.openxmlformats.org/drawingml/2006/main" noGrp="1"/>
          </p:cNvSpPr>
          <p:nvPr/>
        </p:nvSpPr>
        <p:spPr>
          <a:xfrm xmlns:a="http://schemas.openxmlformats.org/drawingml/2006/main">
            <a:off x="11125200" y="62293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6C0D0"/>
                </a:solidFill>
                <a:latin typeface="Calibri"/>
                <a:ea typeface="Calibri"/>
                <a:cs typeface="Calibri"/>
              </a:defRPr>
            </a:defPPr>
          </a:lstStyle>
          <a:p xmlns:a="http://schemas.openxmlformats.org/drawingml/2006/main">
            <a:pPr algn="r">
              <a:defRPr sz="1500" b="0">
                <a:solidFill>
                  <a:srgbClr val="B6C0D0"/>
                </a:solidFill>
                <a:latin typeface="Calibri"/>
                <a:ea typeface="Calibri"/>
                <a:cs typeface="Calibri"/>
              </a:defRPr>
            </a:pPr>
            <a:r>
              <a:rPr sz="1500" b="0">
                <a:solidFill>
                  <a:srgbClr val="B6C0D0"/>
                </a:solidFill>
                <a:latin typeface="Calibri"/>
                <a:ea typeface="Calibri"/>
                <a:cs typeface="Calibri"/>
              </a:rPr>
              <a:t>04</a:t>
            </a:r>
          </a:p>
        </p:txBody>
      </p:sp>
      <p:sp>
        <p:nvSpPr>
          <p:cNvPr id="4" name="Base funcional">
            <a:extLst xmlns:a="http://schemas.openxmlformats.org/drawingml/2006/main">
              <a:ext uri="{FF2B5EF4-FFF2-40B4-BE49-F238E27FC236}">
                <a16:creationId xmlns:a16="http://schemas.microsoft.com/office/drawing/2014/main" id="{9C71066B-04B3-4133-A295-40EBBC8E3606}"/>
              </a:ext>
            </a:extLst>
          </p:cNvPr>
          <p:cNvSpPr>
            <a:spLocks xmlns:a="http://schemas.openxmlformats.org/drawingml/2006/main" noGrp="1"/>
          </p:cNvSpPr>
          <p:nvPr/>
        </p:nvSpPr>
        <p:spPr>
          <a:xfrm xmlns:a="http://schemas.openxmlformats.org/drawingml/2006/main">
            <a:off x="704850" y="175260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69E5BA"/>
                </a:solidFill>
                <a:latin typeface="Calibri"/>
                <a:ea typeface="Calibri"/>
                <a:cs typeface="Calibri"/>
              </a:defRPr>
            </a:defPPr>
          </a:lstStyle>
          <a:p xmlns:a="http://schemas.openxmlformats.org/drawingml/2006/main">
            <a:pPr algn="l">
              <a:defRPr sz="2775" b="1">
                <a:solidFill>
                  <a:srgbClr val="69E5BA"/>
                </a:solidFill>
                <a:latin typeface="Calibri"/>
                <a:ea typeface="Calibri"/>
                <a:cs typeface="Calibri"/>
              </a:defRPr>
            </a:pPr>
            <a:r>
              <a:rPr sz="2775" b="1">
                <a:solidFill>
                  <a:srgbClr val="69E5BA"/>
                </a:solidFill>
                <a:latin typeface="Calibri"/>
                <a:ea typeface="Calibri"/>
                <a:cs typeface="Calibri"/>
              </a:rPr>
              <a:t>Base funcional</a:t>
            </a:r>
          </a:p>
        </p:txBody>
      </p:sp>
      <p:sp>
        <p:nvSpPr>
          <p:cNvPr id="5" name="Diseño propuesto">
            <a:extLst xmlns:a="http://schemas.openxmlformats.org/drawingml/2006/main">
              <a:ext uri="{FF2B5EF4-FFF2-40B4-BE49-F238E27FC236}">
                <a16:creationId xmlns:a16="http://schemas.microsoft.com/office/drawing/2014/main" id="{6B3BC559-C878-4BE5-91E6-FB3364A83F16}"/>
              </a:ext>
            </a:extLst>
          </p:cNvPr>
          <p:cNvSpPr>
            <a:spLocks xmlns:a="http://schemas.openxmlformats.org/drawingml/2006/main" noGrp="1"/>
          </p:cNvSpPr>
          <p:nvPr/>
        </p:nvSpPr>
        <p:spPr>
          <a:xfrm xmlns:a="http://schemas.openxmlformats.org/drawingml/2006/main">
            <a:off x="6629400" y="1752600"/>
            <a:ext cx="4895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B397F6"/>
                </a:solidFill>
                <a:latin typeface="Calibri"/>
                <a:ea typeface="Calibri"/>
                <a:cs typeface="Calibri"/>
              </a:defRPr>
            </a:defPPr>
          </a:lstStyle>
          <a:p xmlns:a="http://schemas.openxmlformats.org/drawingml/2006/main">
            <a:pPr algn="l">
              <a:defRPr sz="2775" b="1">
                <a:solidFill>
                  <a:srgbClr val="B397F6"/>
                </a:solidFill>
                <a:latin typeface="Calibri"/>
                <a:ea typeface="Calibri"/>
                <a:cs typeface="Calibri"/>
              </a:defRPr>
            </a:pPr>
            <a:r>
              <a:rPr sz="2775" b="1">
                <a:solidFill>
                  <a:srgbClr val="B397F6"/>
                </a:solidFill>
                <a:latin typeface="Calibri"/>
                <a:ea typeface="Calibri"/>
                <a:cs typeface="Calibri"/>
              </a:rPr>
              <a:t>Diseño propuesto</a:t>
            </a:r>
          </a:p>
        </p:txBody>
      </p:sp>
      <p:sp>
        <p:nvSpPr>
          <p:cNvPr id="6" name="Captura nativa&#10;Bridge compartido&#10;Visor RAW&#10;Métricas bás">
            <a:extLst xmlns:a="http://schemas.openxmlformats.org/drawingml/2006/main">
              <a:ext uri="{FF2B5EF4-FFF2-40B4-BE49-F238E27FC236}">
                <a16:creationId xmlns:a16="http://schemas.microsoft.com/office/drawing/2014/main" id="{2102BEC0-A1F5-40B7-8C4E-F141B597719C}"/>
              </a:ext>
            </a:extLst>
          </p:cNvPr>
          <p:cNvSpPr>
            <a:spLocks xmlns:a="http://schemas.openxmlformats.org/drawingml/2006/main" noGrp="1"/>
          </p:cNvSpPr>
          <p:nvPr/>
        </p:nvSpPr>
        <p:spPr>
          <a:xfrm xmlns:a="http://schemas.openxmlformats.org/drawingml/2006/main">
            <a:off x="704850" y="2552700"/>
            <a:ext cx="4762500" cy="2990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F5F7FB"/>
                </a:solidFill>
                <a:latin typeface="Calibri"/>
                <a:ea typeface="Calibri"/>
                <a:cs typeface="Calibri"/>
              </a:defRPr>
            </a:defPPr>
          </a:lstStyle>
          <a:p xmlns:a="http://schemas.openxmlformats.org/drawingml/2006/main">
            <a:pPr algn="l">
              <a:defRPr sz="2475" b="0">
                <a:solidFill>
                  <a:srgbClr val="F5F7FB"/>
                </a:solidFill>
                <a:latin typeface="Calibri"/>
                <a:ea typeface="Calibri"/>
                <a:cs typeface="Calibri"/>
              </a:defRPr>
            </a:pPr>
            <a:r>
              <a:rPr sz="2475" b="0">
                <a:solidFill>
                  <a:srgbClr val="F5F7FB"/>
                </a:solidFill>
                <a:latin typeface="Calibri"/>
                <a:ea typeface="Calibri"/>
                <a:cs typeface="Calibri"/>
              </a:rPr>
              <a:t>Captura nativa</a:t>
            </a:r>
          </a:p>
          <a:p xmlns:a="http://schemas.openxmlformats.org/drawingml/2006/main">
            <a:pPr algn="l">
              <a:defRPr sz="2475" b="0">
                <a:solidFill>
                  <a:srgbClr val="F5F7FB"/>
                </a:solidFill>
                <a:latin typeface="Calibri"/>
                <a:ea typeface="Calibri"/>
                <a:cs typeface="Calibri"/>
              </a:defRPr>
            </a:pPr>
            <a:r>
              <a:rPr sz="2475" b="0">
                <a:solidFill>
                  <a:srgbClr val="F5F7FB"/>
                </a:solidFill>
                <a:latin typeface="Calibri"/>
                <a:ea typeface="Calibri"/>
                <a:cs typeface="Calibri"/>
              </a:rPr>
              <a:t>Bridge compartido</a:t>
            </a:r>
          </a:p>
          <a:p xmlns:a="http://schemas.openxmlformats.org/drawingml/2006/main">
            <a:pPr algn="l">
              <a:defRPr sz="2475" b="0">
                <a:solidFill>
                  <a:srgbClr val="F5F7FB"/>
                </a:solidFill>
                <a:latin typeface="Calibri"/>
                <a:ea typeface="Calibri"/>
                <a:cs typeface="Calibri"/>
              </a:defRPr>
            </a:pPr>
            <a:r>
              <a:rPr sz="2475" b="0">
                <a:solidFill>
                  <a:srgbClr val="F5F7FB"/>
                </a:solidFill>
                <a:latin typeface="Calibri"/>
                <a:ea typeface="Calibri"/>
                <a:cs typeface="Calibri"/>
              </a:rPr>
              <a:t>Visor RAW</a:t>
            </a:r>
          </a:p>
          <a:p xmlns:a="http://schemas.openxmlformats.org/drawingml/2006/main">
            <a:pPr algn="l">
              <a:defRPr sz="2475" b="0">
                <a:solidFill>
                  <a:srgbClr val="F5F7FB"/>
                </a:solidFill>
                <a:latin typeface="Calibri"/>
                <a:ea typeface="Calibri"/>
                <a:cs typeface="Calibri"/>
              </a:defRPr>
            </a:pPr>
            <a:r>
              <a:rPr sz="2475" b="0">
                <a:solidFill>
                  <a:srgbClr val="F5F7FB"/>
                </a:solidFill>
                <a:latin typeface="Calibri"/>
                <a:ea typeface="Calibri"/>
                <a:cs typeface="Calibri"/>
              </a:rPr>
              <a:t>Métricas básicas</a:t>
            </a:r>
          </a:p>
          <a:p xmlns:a="http://schemas.openxmlformats.org/drawingml/2006/main">
            <a:pPr algn="l">
              <a:defRPr sz="2475" b="0">
                <a:solidFill>
                  <a:srgbClr val="F5F7FB"/>
                </a:solidFill>
                <a:latin typeface="Calibri"/>
                <a:ea typeface="Calibri"/>
                <a:cs typeface="Calibri"/>
              </a:defRPr>
            </a:pPr>
            <a:r>
              <a:rPr sz="2475" b="0">
                <a:solidFill>
                  <a:srgbClr val="F5F7FB"/>
                </a:solidFill>
                <a:latin typeface="Calibri"/>
                <a:ea typeface="Calibri"/>
                <a:cs typeface="Calibri"/>
              </a:rPr>
              <a:t>Fuente sintética</a:t>
            </a:r>
          </a:p>
        </p:txBody>
      </p:sp>
      <p:sp>
        <p:nvSpPr>
          <p:cNvPr id="7" name="Interfaz de escritorio&#10;Filtros y detección&#10;Historial SQ">
            <a:extLst xmlns:a="http://schemas.openxmlformats.org/drawingml/2006/main">
              <a:ext uri="{FF2B5EF4-FFF2-40B4-BE49-F238E27FC236}">
                <a16:creationId xmlns:a16="http://schemas.microsoft.com/office/drawing/2014/main" id="{84BA3CAA-0DFD-4BBE-B77C-76D05DAEC5C9}"/>
              </a:ext>
            </a:extLst>
          </p:cNvPr>
          <p:cNvSpPr>
            <a:spLocks xmlns:a="http://schemas.openxmlformats.org/drawingml/2006/main" noGrp="1"/>
          </p:cNvSpPr>
          <p:nvPr/>
        </p:nvSpPr>
        <p:spPr>
          <a:xfrm xmlns:a="http://schemas.openxmlformats.org/drawingml/2006/main">
            <a:off x="6629400" y="2552700"/>
            <a:ext cx="4895850" cy="2990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F5F7FB"/>
                </a:solidFill>
                <a:latin typeface="Calibri"/>
                <a:ea typeface="Calibri"/>
                <a:cs typeface="Calibri"/>
              </a:defRPr>
            </a:defPPr>
          </a:lstStyle>
          <a:p xmlns:a="http://schemas.openxmlformats.org/drawingml/2006/main">
            <a:pPr algn="l">
              <a:defRPr sz="2475" b="0">
                <a:solidFill>
                  <a:srgbClr val="F5F7FB"/>
                </a:solidFill>
                <a:latin typeface="Calibri"/>
                <a:ea typeface="Calibri"/>
                <a:cs typeface="Calibri"/>
              </a:defRPr>
            </a:pPr>
            <a:r>
              <a:rPr sz="2475" b="0">
                <a:solidFill>
                  <a:srgbClr val="F5F7FB"/>
                </a:solidFill>
                <a:latin typeface="Calibri"/>
                <a:ea typeface="Calibri"/>
                <a:cs typeface="Calibri"/>
              </a:rPr>
              <a:t>Interfaz de escritorio</a:t>
            </a:r>
          </a:p>
          <a:p xmlns:a="http://schemas.openxmlformats.org/drawingml/2006/main">
            <a:pPr algn="l">
              <a:defRPr sz="2475" b="0">
                <a:solidFill>
                  <a:srgbClr val="F5F7FB"/>
                </a:solidFill>
                <a:latin typeface="Calibri"/>
                <a:ea typeface="Calibri"/>
                <a:cs typeface="Calibri"/>
              </a:defRPr>
            </a:pPr>
            <a:r>
              <a:rPr sz="2475" b="0">
                <a:solidFill>
                  <a:srgbClr val="F5F7FB"/>
                </a:solidFill>
                <a:latin typeface="Calibri"/>
                <a:ea typeface="Calibri"/>
                <a:cs typeface="Calibri"/>
              </a:rPr>
              <a:t>Filtros y detección</a:t>
            </a:r>
          </a:p>
          <a:p xmlns:a="http://schemas.openxmlformats.org/drawingml/2006/main">
            <a:pPr algn="l">
              <a:defRPr sz="2475" b="0">
                <a:solidFill>
                  <a:srgbClr val="F5F7FB"/>
                </a:solidFill>
                <a:latin typeface="Calibri"/>
                <a:ea typeface="Calibri"/>
                <a:cs typeface="Calibri"/>
              </a:defRPr>
            </a:pPr>
            <a:r>
              <a:rPr sz="2475" b="0">
                <a:solidFill>
                  <a:srgbClr val="F5F7FB"/>
                </a:solidFill>
                <a:latin typeface="Calibri"/>
                <a:ea typeface="Calibri"/>
                <a:cs typeface="Calibri"/>
              </a:rPr>
              <a:t>Historial SQLite</a:t>
            </a:r>
          </a:p>
          <a:p xmlns:a="http://schemas.openxmlformats.org/drawingml/2006/main">
            <a:pPr algn="l">
              <a:defRPr sz="2475" b="0">
                <a:solidFill>
                  <a:srgbClr val="F5F7FB"/>
                </a:solidFill>
                <a:latin typeface="Calibri"/>
                <a:ea typeface="Calibri"/>
                <a:cs typeface="Calibri"/>
              </a:defRPr>
            </a:pPr>
            <a:r>
              <a:rPr sz="2475" b="0">
                <a:solidFill>
                  <a:srgbClr val="F5F7FB"/>
                </a:solidFill>
                <a:latin typeface="Calibri"/>
                <a:ea typeface="Calibri"/>
                <a:cs typeface="Calibri"/>
              </a:rPr>
              <a:t>Recuperación del consumidor</a:t>
            </a:r>
          </a:p>
          <a:p xmlns:a="http://schemas.openxmlformats.org/drawingml/2006/main">
            <a:pPr algn="l">
              <a:defRPr sz="2475" b="0">
                <a:solidFill>
                  <a:srgbClr val="F5F7FB"/>
                </a:solidFill>
                <a:latin typeface="Calibri"/>
                <a:ea typeface="Calibri"/>
                <a:cs typeface="Calibri"/>
              </a:defRPr>
            </a:pPr>
            <a:r>
              <a:rPr sz="2475" b="0">
                <a:solidFill>
                  <a:srgbClr val="F5F7FB"/>
                </a:solidFill>
                <a:latin typeface="Calibri"/>
                <a:ea typeface="Calibri"/>
                <a:cs typeface="Calibri"/>
              </a:rPr>
              <a:t>Exportación de métricas</a:t>
            </a:r>
          </a:p>
        </p:txBody>
      </p:sp>
    </p:spTree>
    <p:extLst>
      <p:ext uri="{BB962C8B-B14F-4D97-AF65-F5344CB8AC3E}">
        <p14:creationId xmlns:p14="http://schemas.microsoft.com/office/powerpoint/2010/main" val="56576761"/>
      </p:ext>
    </p:extLst>
  </p:cSld>
</p:sld>
</file>

<file path=ppt/slides/slide5.xml><?xml version="1.0" encoding="utf-8"?>
<p:sld xmlns:p="http://schemas.openxmlformats.org/presentationml/2006/main">
  <p:cSld>
    <p:bg>
      <p:bgPr>
        <a:solidFill xmlns:a="http://schemas.openxmlformats.org/drawingml/2006/main">
          <a:srgbClr val="0D1118"/>
        </a:solidFill>
      </p:bgPr>
    </p:bg>
    <p:spTree>
      <p:nvGrpSpPr>
        <p:cNvPr id="1" name=""/>
        <p:cNvGrpSpPr/>
        <p:nvPr/>
      </p:nvGrpSpPr>
      <p:grpSpPr>
        <a:xfrm xmlns:a="http://schemas.openxmlformats.org/drawingml/2006/main"/>
      </p:grpSpPr>
      <p:sp>
        <p:nvSpPr>
          <p:cNvPr id="5" name="Requerimientos funcionales">
            <a:extLst xmlns:a="http://schemas.openxmlformats.org/drawingml/2006/main">
              <a:ext uri="{FF2B5EF4-FFF2-40B4-BE49-F238E27FC236}">
                <a16:creationId xmlns:a16="http://schemas.microsoft.com/office/drawing/2014/main" id="{599F0E94-B060-4473-8717-EBBA7E89F7DF}"/>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5F7FB"/>
                </a:solidFill>
                <a:latin typeface="Calibri"/>
                <a:ea typeface="Calibri"/>
                <a:cs typeface="Calibri"/>
              </a:defRPr>
            </a:defPPr>
          </a:lstStyle>
          <a:p xmlns:a="http://schemas.openxmlformats.org/drawingml/2006/main">
            <a:pPr algn="l">
              <a:defRPr sz="3300" b="1">
                <a:solidFill>
                  <a:srgbClr val="F5F7FB"/>
                </a:solidFill>
                <a:latin typeface="Calibri"/>
                <a:ea typeface="Calibri"/>
                <a:cs typeface="Calibri"/>
              </a:defRPr>
            </a:pPr>
            <a:r>
              <a:rPr sz="3300" b="1">
                <a:solidFill>
                  <a:srgbClr val="F5F7FB"/>
                </a:solidFill>
                <a:latin typeface="Calibri"/>
                <a:ea typeface="Calibri"/>
                <a:cs typeface="Calibri"/>
              </a:rPr>
              <a:t>Requerimientos funcionales</a:t>
            </a:r>
          </a:p>
        </p:txBody>
      </p:sp>
      <p:sp>
        <p:nvSpPr>
          <p:cNvPr id="2" name="05">
            <a:extLst xmlns:a="http://schemas.openxmlformats.org/drawingml/2006/main">
              <a:ext uri="{FF2B5EF4-FFF2-40B4-BE49-F238E27FC236}">
                <a16:creationId xmlns:a16="http://schemas.microsoft.com/office/drawing/2014/main" id="{388BF30C-3088-4D7D-A369-2669E4FB348D}"/>
              </a:ext>
            </a:extLst>
          </p:cNvPr>
          <p:cNvSpPr>
            <a:spLocks xmlns:a="http://schemas.openxmlformats.org/drawingml/2006/main" noGrp="1"/>
          </p:cNvSpPr>
          <p:nvPr/>
        </p:nvSpPr>
        <p:spPr>
          <a:xfrm xmlns:a="http://schemas.openxmlformats.org/drawingml/2006/main">
            <a:off x="11125200" y="62293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6C0D0"/>
                </a:solidFill>
                <a:latin typeface="Calibri"/>
                <a:ea typeface="Calibri"/>
                <a:cs typeface="Calibri"/>
              </a:defRPr>
            </a:defPPr>
          </a:lstStyle>
          <a:p xmlns:a="http://schemas.openxmlformats.org/drawingml/2006/main">
            <a:pPr algn="r">
              <a:defRPr sz="1500" b="0">
                <a:solidFill>
                  <a:srgbClr val="B6C0D0"/>
                </a:solidFill>
                <a:latin typeface="Calibri"/>
                <a:ea typeface="Calibri"/>
                <a:cs typeface="Calibri"/>
              </a:defRPr>
            </a:pPr>
            <a:r>
              <a:rPr sz="1500" b="0">
                <a:solidFill>
                  <a:srgbClr val="B6C0D0"/>
                </a:solidFill>
                <a:latin typeface="Calibri"/>
                <a:ea typeface="Calibri"/>
                <a:cs typeface="Calibri"/>
              </a:rPr>
              <a:t>05</a:t>
            </a:r>
          </a:p>
        </p:txBody>
      </p:sp>
      <p:graphicFrame>
        <p:nvGraphicFramePr>
          <p:cNvPr id="3" name="">
            <a:extLst xmlns:a="http://schemas.openxmlformats.org/drawingml/2006/main">
              <a:ext uri="{FF2B5EF4-FFF2-40B4-BE49-F238E27FC236}">
                <a16:creationId xmlns:a16="http://schemas.microsoft.com/office/drawing/2014/main" id="{6A17C4C2-21F3-4977-9EB1-9DDBEBCE3660}"/>
              </a:ext>
            </a:extLst>
          </p:cNvPr>
          <p:cNvGraphicFramePr/>
          <p:nvPr/>
        </p:nvGraphicFramePr>
        <p:xfrm>
          <a:off xmlns:a="http://schemas.openxmlformats.org/drawingml/2006/main" x="609600" y="1733550"/>
          <a:ext xmlns:a="http://schemas.openxmlformats.org/drawingml/2006/main" cx="10972800" cy="3476625"/>
        </p:xfrm>
        <a:graphic xmlns:a="http://schemas.openxmlformats.org/drawingml/2006/main">
          <a:graphicData uri="http://schemas.openxmlformats.org/drawingml/2006/table">
            <a:tbl>
              <a:tblPr/>
              <a:tblGrid>
                <a:gridCol w="2476500"/>
                <a:gridCol w="6191250"/>
                <a:gridCol w="2305050"/>
              </a:tblGrid>
              <a:tr h="695325">
                <a:tc>
                  <a:txBody>
                    <a:bodyPr lIns="114300" tIns="114300" rIns="114300" bIns="114300">
                      <a:noAutofit/>
                    </a:bodyPr>
                    <a:lstStyle/>
                    <a:p>
                      <a:r>
                        <a:rPr sz="1800" b="1">
                          <a:solidFill>
                            <a:srgbClr val="69E5BA"/>
                          </a:solidFill>
                          <a:latin typeface="Calibri"/>
                          <a:ea typeface="Calibri"/>
                          <a:cs typeface="Calibri"/>
                        </a:rPr>
                        <a:t>Componente</a:t>
                      </a:r>
                    </a:p>
                  </a:txBody>
                  <a:tcPr marL="91440" marR="91440" marT="45720" marB="45720" anchor="ctr">
                    <a:solidFill>
                      <a:srgbClr val="28364A"/>
                    </a:solidFill>
                  </a:tcPr>
                </a:tc>
                <a:tc>
                  <a:txBody>
                    <a:bodyPr lIns="114300" tIns="114300" rIns="114300" bIns="114300">
                      <a:noAutofit/>
                    </a:bodyPr>
                    <a:lstStyle/>
                    <a:p>
                      <a:r>
                        <a:rPr sz="1800" b="1">
                          <a:solidFill>
                            <a:srgbClr val="69E5BA"/>
                          </a:solidFill>
                          <a:latin typeface="Calibri"/>
                          <a:ea typeface="Calibri"/>
                          <a:cs typeface="Calibri"/>
                        </a:rPr>
                        <a:t>Responsabilidad</a:t>
                      </a:r>
                    </a:p>
                  </a:txBody>
                  <a:tcPr marL="91440" marR="91440" marT="45720" marB="45720" anchor="ctr">
                    <a:solidFill>
                      <a:srgbClr val="28364A"/>
                    </a:solidFill>
                  </a:tcPr>
                </a:tc>
                <a:tc>
                  <a:txBody>
                    <a:bodyPr lIns="114300" tIns="114300" rIns="114300" bIns="114300">
                      <a:noAutofit/>
                    </a:bodyPr>
                    <a:lstStyle/>
                    <a:p>
                      <a:r>
                        <a:rPr sz="1800" b="1">
                          <a:solidFill>
                            <a:srgbClr val="69E5BA"/>
                          </a:solidFill>
                          <a:latin typeface="Calibri"/>
                          <a:ea typeface="Calibri"/>
                          <a:cs typeface="Calibri"/>
                        </a:rPr>
                        <a:t>Estado</a:t>
                      </a:r>
                    </a:p>
                  </a:txBody>
                  <a:tcPr marL="91440" marR="91440" marT="45720" marB="45720" anchor="ctr">
                    <a:solidFill>
                      <a:srgbClr val="28364A"/>
                    </a:solidFill>
                  </a:tcPr>
                </a:tc>
              </a:tr>
              <a:tr h="695325">
                <a:tc>
                  <a:txBody>
                    <a:bodyPr lIns="114300" tIns="114300" rIns="114300" bIns="114300">
                      <a:noAutofit/>
                    </a:bodyPr>
                    <a:lstStyle/>
                    <a:p>
                      <a:r>
                        <a:rPr sz="1800" b="0">
                          <a:solidFill>
                            <a:srgbClr val="F5F7FB"/>
                          </a:solidFill>
                          <a:latin typeface="Calibri"/>
                          <a:ea typeface="Calibri"/>
                          <a:cs typeface="Calibri"/>
                        </a:rPr>
                        <a:t>Capture</a:t>
                      </a:r>
                    </a:p>
                  </a:txBody>
                  <a:tcPr marL="91440" marR="91440" marT="45720" marB="45720" anchor="ctr">
                    <a:solidFill>
                      <a:srgbClr val="151D28"/>
                    </a:solidFill>
                  </a:tcPr>
                </a:tc>
                <a:tc>
                  <a:txBody>
                    <a:bodyPr lIns="114300" tIns="114300" rIns="114300" bIns="114300">
                      <a:noAutofit/>
                    </a:bodyPr>
                    <a:lstStyle/>
                    <a:p>
                      <a:r>
                        <a:rPr sz="1800" b="0">
                          <a:solidFill>
                            <a:srgbClr val="F5F7FB"/>
                          </a:solidFill>
                          <a:latin typeface="Calibri"/>
                          <a:ea typeface="Calibri"/>
                          <a:cs typeface="Calibri"/>
                        </a:rPr>
                        <a:t>Fuente, formato y muestras</a:t>
                      </a:r>
                    </a:p>
                  </a:txBody>
                  <a:tcPr marL="91440" marR="91440" marT="45720" marB="45720" anchor="ctr">
                    <a:solidFill>
                      <a:srgbClr val="151D28"/>
                    </a:solidFill>
                  </a:tcPr>
                </a:tc>
                <a:tc>
                  <a:txBody>
                    <a:bodyPr lIns="114300" tIns="114300" rIns="114300" bIns="114300">
                      <a:noAutofit/>
                    </a:bodyPr>
                    <a:lstStyle/>
                    <a:p>
                      <a:r>
                        <a:rPr sz="1800" b="0">
                          <a:solidFill>
                            <a:srgbClr val="F5F7FB"/>
                          </a:solidFill>
                          <a:latin typeface="Calibri"/>
                          <a:ea typeface="Calibri"/>
                          <a:cs typeface="Calibri"/>
                        </a:rPr>
                        <a:t>Base</a:t>
                      </a:r>
                    </a:p>
                  </a:txBody>
                  <a:tcPr marL="91440" marR="91440" marT="45720" marB="45720" anchor="ctr">
                    <a:solidFill>
                      <a:srgbClr val="151D28"/>
                    </a:solidFill>
                  </a:tcPr>
                </a:tc>
              </a:tr>
              <a:tr h="695325">
                <a:tc>
                  <a:txBody>
                    <a:bodyPr lIns="114300" tIns="114300" rIns="114300" bIns="114300">
                      <a:noAutofit/>
                    </a:bodyPr>
                    <a:lstStyle/>
                    <a:p>
                      <a:r>
                        <a:rPr sz="1800" b="0">
                          <a:solidFill>
                            <a:srgbClr val="F5F7FB"/>
                          </a:solidFill>
                          <a:latin typeface="Calibri"/>
                          <a:ea typeface="Calibri"/>
                          <a:cs typeface="Calibri"/>
                        </a:rPr>
                        <a:t>Bridge</a:t>
                      </a:r>
                    </a:p>
                  </a:txBody>
                  <a:tcPr marL="91440" marR="91440" marT="45720" marB="45720" anchor="ctr">
                    <a:solidFill>
                      <a:srgbClr val="1A2532"/>
                    </a:solidFill>
                  </a:tcPr>
                </a:tc>
                <a:tc>
                  <a:txBody>
                    <a:bodyPr lIns="114300" tIns="114300" rIns="114300" bIns="114300">
                      <a:noAutofit/>
                    </a:bodyPr>
                    <a:lstStyle/>
                    <a:p>
                      <a:r>
                        <a:rPr sz="1800" b="0">
                          <a:solidFill>
                            <a:srgbClr val="F5F7FB"/>
                          </a:solidFill>
                          <a:latin typeface="Calibri"/>
                          <a:ea typeface="Calibri"/>
                          <a:cs typeface="Calibri"/>
                        </a:rPr>
                        <a:t>Contrato IPC y secuencias</a:t>
                      </a:r>
                    </a:p>
                  </a:txBody>
                  <a:tcPr marL="91440" marR="91440" marT="45720" marB="45720" anchor="ctr">
                    <a:solidFill>
                      <a:srgbClr val="1A2532"/>
                    </a:solidFill>
                  </a:tcPr>
                </a:tc>
                <a:tc>
                  <a:txBody>
                    <a:bodyPr lIns="114300" tIns="114300" rIns="114300" bIns="114300">
                      <a:noAutofit/>
                    </a:bodyPr>
                    <a:lstStyle/>
                    <a:p>
                      <a:r>
                        <a:rPr sz="1800" b="0">
                          <a:solidFill>
                            <a:srgbClr val="F5F7FB"/>
                          </a:solidFill>
                          <a:latin typeface="Calibri"/>
                          <a:ea typeface="Calibri"/>
                          <a:cs typeface="Calibri"/>
                        </a:rPr>
                        <a:t>Base</a:t>
                      </a:r>
                    </a:p>
                  </a:txBody>
                  <a:tcPr marL="91440" marR="91440" marT="45720" marB="45720" anchor="ctr">
                    <a:solidFill>
                      <a:srgbClr val="1A2532"/>
                    </a:solidFill>
                  </a:tcPr>
                </a:tc>
              </a:tr>
              <a:tr h="695325">
                <a:tc>
                  <a:txBody>
                    <a:bodyPr lIns="114300" tIns="114300" rIns="114300" bIns="114300">
                      <a:noAutofit/>
                    </a:bodyPr>
                    <a:lstStyle/>
                    <a:p>
                      <a:r>
                        <a:rPr sz="1800" b="0">
                          <a:solidFill>
                            <a:srgbClr val="F5F7FB"/>
                          </a:solidFill>
                          <a:latin typeface="Calibri"/>
                          <a:ea typeface="Calibri"/>
                          <a:cs typeface="Calibri"/>
                        </a:rPr>
                        <a:t>Vision</a:t>
                      </a:r>
                    </a:p>
                  </a:txBody>
                  <a:tcPr marL="91440" marR="91440" marT="45720" marB="45720" anchor="ctr">
                    <a:solidFill>
                      <a:srgbClr val="151D28"/>
                    </a:solidFill>
                  </a:tcPr>
                </a:tc>
                <a:tc>
                  <a:txBody>
                    <a:bodyPr lIns="114300" tIns="114300" rIns="114300" bIns="114300">
                      <a:noAutofit/>
                    </a:bodyPr>
                    <a:lstStyle/>
                    <a:p>
                      <a:r>
                        <a:rPr sz="1800" b="0">
                          <a:solidFill>
                            <a:srgbClr val="F5F7FB"/>
                          </a:solidFill>
                          <a:latin typeface="Calibri"/>
                          <a:ea typeface="Calibri"/>
                          <a:cs typeface="Calibri"/>
                        </a:rPr>
                        <a:t>RAW y futuros filtros</a:t>
                      </a:r>
                    </a:p>
                  </a:txBody>
                  <a:tcPr marL="91440" marR="91440" marT="45720" marB="45720" anchor="ctr">
                    <a:solidFill>
                      <a:srgbClr val="151D28"/>
                    </a:solidFill>
                  </a:tcPr>
                </a:tc>
                <a:tc>
                  <a:txBody>
                    <a:bodyPr lIns="114300" tIns="114300" rIns="114300" bIns="114300">
                      <a:noAutofit/>
                    </a:bodyPr>
                    <a:lstStyle/>
                    <a:p>
                      <a:r>
                        <a:rPr sz="1800" b="0">
                          <a:solidFill>
                            <a:srgbClr val="F5F7FB"/>
                          </a:solidFill>
                          <a:latin typeface="Calibri"/>
                          <a:ea typeface="Calibri"/>
                          <a:cs typeface="Calibri"/>
                        </a:rPr>
                        <a:t>Base y plan</a:t>
                      </a:r>
                    </a:p>
                  </a:txBody>
                  <a:tcPr marL="91440" marR="91440" marT="45720" marB="45720" anchor="ctr">
                    <a:solidFill>
                      <a:srgbClr val="151D28"/>
                    </a:solidFill>
                  </a:tcPr>
                </a:tc>
              </a:tr>
              <a:tr h="695325">
                <a:tc>
                  <a:txBody>
                    <a:bodyPr lIns="114300" tIns="114300" rIns="114300" bIns="114300">
                      <a:noAutofit/>
                    </a:bodyPr>
                    <a:lstStyle/>
                    <a:p>
                      <a:r>
                        <a:rPr sz="1800" b="0">
                          <a:solidFill>
                            <a:srgbClr val="F5F7FB"/>
                          </a:solidFill>
                          <a:latin typeface="Calibri"/>
                          <a:ea typeface="Calibri"/>
                          <a:cs typeface="Calibri"/>
                        </a:rPr>
                        <a:t>Insight</a:t>
                      </a:r>
                    </a:p>
                  </a:txBody>
                  <a:tcPr marL="91440" marR="91440" marT="45720" marB="45720" anchor="ctr">
                    <a:solidFill>
                      <a:srgbClr val="1A2532"/>
                    </a:solidFill>
                  </a:tcPr>
                </a:tc>
                <a:tc>
                  <a:txBody>
                    <a:bodyPr lIns="114300" tIns="114300" rIns="114300" bIns="114300">
                      <a:noAutofit/>
                    </a:bodyPr>
                    <a:lstStyle/>
                    <a:p>
                      <a:r>
                        <a:rPr sz="1800" b="0">
                          <a:solidFill>
                            <a:srgbClr val="F5F7FB"/>
                          </a:solidFill>
                          <a:latin typeface="Calibri"/>
                          <a:ea typeface="Calibri"/>
                          <a:cs typeface="Calibri"/>
                        </a:rPr>
                        <a:t>Métricas e historial</a:t>
                      </a:r>
                    </a:p>
                  </a:txBody>
                  <a:tcPr marL="91440" marR="91440" marT="45720" marB="45720" anchor="ctr">
                    <a:solidFill>
                      <a:srgbClr val="1A2532"/>
                    </a:solidFill>
                  </a:tcPr>
                </a:tc>
                <a:tc>
                  <a:txBody>
                    <a:bodyPr lIns="114300" tIns="114300" rIns="114300" bIns="114300">
                      <a:noAutofit/>
                    </a:bodyPr>
                    <a:lstStyle/>
                    <a:p>
                      <a:r>
                        <a:rPr sz="1800" b="0">
                          <a:solidFill>
                            <a:srgbClr val="F5F7FB"/>
                          </a:solidFill>
                          <a:latin typeface="Calibri"/>
                          <a:ea typeface="Calibri"/>
                          <a:cs typeface="Calibri"/>
                        </a:rPr>
                        <a:t>Base y plan</a:t>
                      </a:r>
                    </a:p>
                  </a:txBody>
                  <a:tcPr marL="91440" marR="91440" marT="45720" marB="45720" anchor="ctr">
                    <a:solidFill>
                      <a:srgbClr val="1A2532"/>
                    </a:solidFill>
                  </a:tcPr>
                </a:tc>
              </a:tr>
            </a:tbl>
          </a:graphicData>
        </a:graphic>
      </p:graphicFrame>
      <p:sp>
        <p:nvSpPr>
          <p:cNvPr id="4" name="27 requisitos conservan sus identificadores">
            <a:extLst xmlns:a="http://schemas.openxmlformats.org/drawingml/2006/main">
              <a:ext uri="{FF2B5EF4-FFF2-40B4-BE49-F238E27FC236}">
                <a16:creationId xmlns:a16="http://schemas.microsoft.com/office/drawing/2014/main" id="{8885F37A-601A-4118-A6F3-41596CB8AD99}"/>
              </a:ext>
            </a:extLst>
          </p:cNvPr>
          <p:cNvSpPr>
            <a:spLocks xmlns:a="http://schemas.openxmlformats.org/drawingml/2006/main" noGrp="1"/>
          </p:cNvSpPr>
          <p:nvPr/>
        </p:nvSpPr>
        <p:spPr>
          <a:xfrm xmlns:a="http://schemas.openxmlformats.org/drawingml/2006/main">
            <a:off x="609600" y="55149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69E5BA"/>
                </a:solidFill>
                <a:latin typeface="Calibri"/>
                <a:ea typeface="Calibri"/>
                <a:cs typeface="Calibri"/>
              </a:defRPr>
            </a:defPPr>
          </a:lstStyle>
          <a:p xmlns:a="http://schemas.openxmlformats.org/drawingml/2006/main">
            <a:pPr algn="l">
              <a:defRPr sz="2400" b="1">
                <a:solidFill>
                  <a:srgbClr val="69E5BA"/>
                </a:solidFill>
                <a:latin typeface="Calibri"/>
                <a:ea typeface="Calibri"/>
                <a:cs typeface="Calibri"/>
              </a:defRPr>
            </a:pPr>
            <a:r>
              <a:rPr sz="2400" b="1">
                <a:solidFill>
                  <a:srgbClr val="69E5BA"/>
                </a:solidFill>
                <a:latin typeface="Calibri"/>
                <a:ea typeface="Calibri"/>
                <a:cs typeface="Calibri"/>
              </a:rPr>
              <a:t>27 requisitos conservan sus identificadores</a:t>
            </a:r>
          </a:p>
        </p:txBody>
      </p:sp>
    </p:spTree>
    <p:extLst>
      <p:ext uri="{BB962C8B-B14F-4D97-AF65-F5344CB8AC3E}">
        <p14:creationId xmlns:p14="http://schemas.microsoft.com/office/powerpoint/2010/main" val="475051569"/>
      </p:ext>
    </p:extLst>
  </p:cSld>
</p:sld>
</file>

<file path=ppt/slides/slide6.xml><?xml version="1.0" encoding="utf-8"?>
<p:sld xmlns:p="http://schemas.openxmlformats.org/presentationml/2006/main">
  <p:cSld>
    <p:bg>
      <p:bgPr>
        <a:solidFill xmlns:a="http://schemas.openxmlformats.org/drawingml/2006/main">
          <a:srgbClr val="0D1118"/>
        </a:solidFill>
      </p:bgPr>
    </p:bg>
    <p:spTree>
      <p:nvGrpSpPr>
        <p:cNvPr id="1" name=""/>
        <p:cNvGrpSpPr/>
        <p:nvPr/>
      </p:nvGrpSpPr>
      <p:grpSpPr>
        <a:xfrm xmlns:a="http://schemas.openxmlformats.org/drawingml/2006/main"/>
      </p:grpSpPr>
      <p:sp>
        <p:nvSpPr>
          <p:cNvPr id="4" name="Requerimientos no funcionales">
            <a:extLst xmlns:a="http://schemas.openxmlformats.org/drawingml/2006/main">
              <a:ext uri="{FF2B5EF4-FFF2-40B4-BE49-F238E27FC236}">
                <a16:creationId xmlns:a16="http://schemas.microsoft.com/office/drawing/2014/main" id="{F8E125E9-E579-4EEA-9F65-A2E015BDBCCB}"/>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5F7FB"/>
                </a:solidFill>
                <a:latin typeface="Calibri"/>
                <a:ea typeface="Calibri"/>
                <a:cs typeface="Calibri"/>
              </a:defRPr>
            </a:defPPr>
          </a:lstStyle>
          <a:p xmlns:a="http://schemas.openxmlformats.org/drawingml/2006/main">
            <a:pPr algn="l">
              <a:defRPr sz="3300" b="1">
                <a:solidFill>
                  <a:srgbClr val="F5F7FB"/>
                </a:solidFill>
                <a:latin typeface="Calibri"/>
                <a:ea typeface="Calibri"/>
                <a:cs typeface="Calibri"/>
              </a:defRPr>
            </a:pPr>
            <a:r>
              <a:rPr sz="3300" b="1">
                <a:solidFill>
                  <a:srgbClr val="F5F7FB"/>
                </a:solidFill>
                <a:latin typeface="Calibri"/>
                <a:ea typeface="Calibri"/>
                <a:cs typeface="Calibri"/>
              </a:rPr>
              <a:t>Requerimientos no funcionales</a:t>
            </a:r>
          </a:p>
        </p:txBody>
      </p:sp>
      <p:sp>
        <p:nvSpPr>
          <p:cNvPr id="2" name="06">
            <a:extLst xmlns:a="http://schemas.openxmlformats.org/drawingml/2006/main">
              <a:ext uri="{FF2B5EF4-FFF2-40B4-BE49-F238E27FC236}">
                <a16:creationId xmlns:a16="http://schemas.microsoft.com/office/drawing/2014/main" id="{B4891961-40B7-4115-A0DF-60DD26634E96}"/>
              </a:ext>
            </a:extLst>
          </p:cNvPr>
          <p:cNvSpPr>
            <a:spLocks xmlns:a="http://schemas.openxmlformats.org/drawingml/2006/main" noGrp="1"/>
          </p:cNvSpPr>
          <p:nvPr/>
        </p:nvSpPr>
        <p:spPr>
          <a:xfrm xmlns:a="http://schemas.openxmlformats.org/drawingml/2006/main">
            <a:off x="11125200" y="62293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6C0D0"/>
                </a:solidFill>
                <a:latin typeface="Calibri"/>
                <a:ea typeface="Calibri"/>
                <a:cs typeface="Calibri"/>
              </a:defRPr>
            </a:defPPr>
          </a:lstStyle>
          <a:p xmlns:a="http://schemas.openxmlformats.org/drawingml/2006/main">
            <a:pPr algn="r">
              <a:defRPr sz="1500" b="0">
                <a:solidFill>
                  <a:srgbClr val="B6C0D0"/>
                </a:solidFill>
                <a:latin typeface="Calibri"/>
                <a:ea typeface="Calibri"/>
                <a:cs typeface="Calibri"/>
              </a:defRPr>
            </a:pPr>
            <a:r>
              <a:rPr sz="1500" b="0">
                <a:solidFill>
                  <a:srgbClr val="B6C0D0"/>
                </a:solidFill>
                <a:latin typeface="Calibri"/>
                <a:ea typeface="Calibri"/>
                <a:cs typeface="Calibri"/>
              </a:rPr>
              <a:t>06</a:t>
            </a:r>
          </a:p>
        </p:txBody>
      </p:sp>
      <p:graphicFrame>
        <p:nvGraphicFramePr>
          <p:cNvPr id="3" name="">
            <a:extLst xmlns:a="http://schemas.openxmlformats.org/drawingml/2006/main">
              <a:ext uri="{FF2B5EF4-FFF2-40B4-BE49-F238E27FC236}">
                <a16:creationId xmlns:a16="http://schemas.microsoft.com/office/drawing/2014/main" id="{3CEC722D-94C3-4342-83D3-960871FD0CD2}"/>
              </a:ext>
            </a:extLst>
          </p:cNvPr>
          <p:cNvGraphicFramePr/>
          <p:nvPr/>
        </p:nvGraphicFramePr>
        <p:xfrm>
          <a:off xmlns:a="http://schemas.openxmlformats.org/drawingml/2006/main" x="609600" y="1695450"/>
          <a:ext xmlns:a="http://schemas.openxmlformats.org/drawingml/2006/main" cx="10972800" cy="4019550"/>
        </p:xfrm>
        <a:graphic xmlns:a="http://schemas.openxmlformats.org/drawingml/2006/main">
          <a:graphicData uri="http://schemas.openxmlformats.org/drawingml/2006/table">
            <a:tbl>
              <a:tblPr/>
              <a:tblGrid>
                <a:gridCol w="2952750"/>
                <a:gridCol w="8020050"/>
              </a:tblGrid>
              <a:tr h="669925">
                <a:tc>
                  <a:txBody>
                    <a:bodyPr lIns="114300" tIns="114300" rIns="114300" bIns="114300">
                      <a:noAutofit/>
                    </a:bodyPr>
                    <a:lstStyle/>
                    <a:p>
                      <a:r>
                        <a:rPr sz="1800" b="1">
                          <a:solidFill>
                            <a:srgbClr val="69E5BA"/>
                          </a:solidFill>
                          <a:latin typeface="Calibri"/>
                          <a:ea typeface="Calibri"/>
                          <a:cs typeface="Calibri"/>
                        </a:rPr>
                        <a:t>Condición</a:t>
                      </a:r>
                    </a:p>
                  </a:txBody>
                  <a:tcPr marL="91440" marR="91440" marT="45720" marB="45720" anchor="ctr">
                    <a:solidFill>
                      <a:srgbClr val="28364A"/>
                    </a:solidFill>
                  </a:tcPr>
                </a:tc>
                <a:tc>
                  <a:txBody>
                    <a:bodyPr lIns="114300" tIns="114300" rIns="114300" bIns="114300">
                      <a:noAutofit/>
                    </a:bodyPr>
                    <a:lstStyle/>
                    <a:p>
                      <a:r>
                        <a:rPr sz="1800" b="1">
                          <a:solidFill>
                            <a:srgbClr val="69E5BA"/>
                          </a:solidFill>
                          <a:latin typeface="Calibri"/>
                          <a:ea typeface="Calibri"/>
                          <a:cs typeface="Calibri"/>
                        </a:rPr>
                        <a:t>Regla de diseño</a:t>
                      </a:r>
                    </a:p>
                  </a:txBody>
                  <a:tcPr marL="91440" marR="91440" marT="45720" marB="45720" anchor="ctr">
                    <a:solidFill>
                      <a:srgbClr val="28364A"/>
                    </a:solidFill>
                  </a:tcPr>
                </a:tc>
              </a:tr>
              <a:tr h="669925">
                <a:tc>
                  <a:txBody>
                    <a:bodyPr lIns="114300" tIns="114300" rIns="114300" bIns="114300">
                      <a:noAutofit/>
                    </a:bodyPr>
                    <a:lstStyle/>
                    <a:p>
                      <a:r>
                        <a:rPr sz="1800" b="0">
                          <a:solidFill>
                            <a:srgbClr val="F5F7FB"/>
                          </a:solidFill>
                          <a:latin typeface="Calibri"/>
                          <a:ea typeface="Calibri"/>
                          <a:cs typeface="Calibri"/>
                        </a:rPr>
                        <a:t>Rendimiento</a:t>
                      </a:r>
                    </a:p>
                  </a:txBody>
                  <a:tcPr marL="91440" marR="91440" marT="45720" marB="45720" anchor="ctr">
                    <a:solidFill>
                      <a:srgbClr val="151D28"/>
                    </a:solidFill>
                  </a:tcPr>
                </a:tc>
                <a:tc>
                  <a:txBody>
                    <a:bodyPr lIns="114300" tIns="114300" rIns="114300" bIns="114300">
                      <a:noAutofit/>
                    </a:bodyPr>
                    <a:lstStyle/>
                    <a:p>
                      <a:r>
                        <a:rPr sz="1800" b="0">
                          <a:solidFill>
                            <a:srgbClr val="F5F7FB"/>
                          </a:solidFill>
                          <a:latin typeface="Calibri"/>
                          <a:ea typeface="Calibri"/>
                          <a:cs typeface="Calibri"/>
                        </a:rPr>
                        <a:t>1280 × 720 y 30 FPS nominales como objetivo</a:t>
                      </a:r>
                    </a:p>
                  </a:txBody>
                  <a:tcPr marL="91440" marR="91440" marT="45720" marB="45720" anchor="ctr">
                    <a:solidFill>
                      <a:srgbClr val="151D28"/>
                    </a:solidFill>
                  </a:tcPr>
                </a:tc>
              </a:tr>
              <a:tr h="669925">
                <a:tc>
                  <a:txBody>
                    <a:bodyPr lIns="114300" tIns="114300" rIns="114300" bIns="114300">
                      <a:noAutofit/>
                    </a:bodyPr>
                    <a:lstStyle/>
                    <a:p>
                      <a:r>
                        <a:rPr sz="1800" b="0">
                          <a:solidFill>
                            <a:srgbClr val="F5F7FB"/>
                          </a:solidFill>
                          <a:latin typeface="Calibri"/>
                          <a:ea typeface="Calibri"/>
                          <a:cs typeface="Calibri"/>
                        </a:rPr>
                        <a:t>Privacidad</a:t>
                      </a:r>
                    </a:p>
                  </a:txBody>
                  <a:tcPr marL="91440" marR="91440" marT="45720" marB="45720" anchor="ctr">
                    <a:solidFill>
                      <a:srgbClr val="1A2532"/>
                    </a:solidFill>
                  </a:tcPr>
                </a:tc>
                <a:tc>
                  <a:txBody>
                    <a:bodyPr lIns="114300" tIns="114300" rIns="114300" bIns="114300">
                      <a:noAutofit/>
                    </a:bodyPr>
                    <a:lstStyle/>
                    <a:p>
                      <a:r>
                        <a:rPr sz="1800" b="0">
                          <a:solidFill>
                            <a:srgbClr val="F5F7FB"/>
                          </a:solidFill>
                          <a:latin typeface="Calibri"/>
                          <a:ea typeface="Calibri"/>
                          <a:cs typeface="Calibri"/>
                        </a:rPr>
                        <a:t>Fotogramas efímeros por defecto</a:t>
                      </a:r>
                    </a:p>
                  </a:txBody>
                  <a:tcPr marL="91440" marR="91440" marT="45720" marB="45720" anchor="ctr">
                    <a:solidFill>
                      <a:srgbClr val="1A2532"/>
                    </a:solidFill>
                  </a:tcPr>
                </a:tc>
              </a:tr>
              <a:tr h="669925">
                <a:tc>
                  <a:txBody>
                    <a:bodyPr lIns="114300" tIns="114300" rIns="114300" bIns="114300">
                      <a:noAutofit/>
                    </a:bodyPr>
                    <a:lstStyle/>
                    <a:p>
                      <a:r>
                        <a:rPr sz="1800" b="0">
                          <a:solidFill>
                            <a:srgbClr val="F5F7FB"/>
                          </a:solidFill>
                          <a:latin typeface="Calibri"/>
                          <a:ea typeface="Calibri"/>
                          <a:cs typeface="Calibri"/>
                        </a:rPr>
                        <a:t>Reproducción</a:t>
                      </a:r>
                    </a:p>
                  </a:txBody>
                  <a:tcPr marL="91440" marR="91440" marT="45720" marB="45720" anchor="ctr">
                    <a:solidFill>
                      <a:srgbClr val="151D28"/>
                    </a:solidFill>
                  </a:tcPr>
                </a:tc>
                <a:tc>
                  <a:txBody>
                    <a:bodyPr lIns="114300" tIns="114300" rIns="114300" bIns="114300">
                      <a:noAutofit/>
                    </a:bodyPr>
                    <a:lstStyle/>
                    <a:p>
                      <a:r>
                        <a:rPr sz="1800" b="0">
                          <a:solidFill>
                            <a:srgbClr val="F5F7FB"/>
                          </a:solidFill>
                          <a:latin typeface="Calibri"/>
                          <a:ea typeface="Calibri"/>
                          <a:cs typeface="Calibri"/>
                        </a:rPr>
                        <a:t>Pruebas sintéticas y pasos de compilación</a:t>
                      </a:r>
                    </a:p>
                  </a:txBody>
                  <a:tcPr marL="91440" marR="91440" marT="45720" marB="45720" anchor="ctr">
                    <a:solidFill>
                      <a:srgbClr val="151D28"/>
                    </a:solidFill>
                  </a:tcPr>
                </a:tc>
              </a:tr>
              <a:tr h="669925">
                <a:tc>
                  <a:txBody>
                    <a:bodyPr lIns="114300" tIns="114300" rIns="114300" bIns="114300">
                      <a:noAutofit/>
                    </a:bodyPr>
                    <a:lstStyle/>
                    <a:p>
                      <a:r>
                        <a:rPr sz="1800" b="0">
                          <a:solidFill>
                            <a:srgbClr val="F5F7FB"/>
                          </a:solidFill>
                          <a:latin typeface="Calibri"/>
                          <a:ea typeface="Calibri"/>
                          <a:cs typeface="Calibri"/>
                        </a:rPr>
                        <a:t>Robustez</a:t>
                      </a:r>
                    </a:p>
                  </a:txBody>
                  <a:tcPr marL="91440" marR="91440" marT="45720" marB="45720" anchor="ctr">
                    <a:solidFill>
                      <a:srgbClr val="1A2532"/>
                    </a:solidFill>
                  </a:tcPr>
                </a:tc>
                <a:tc>
                  <a:txBody>
                    <a:bodyPr lIns="114300" tIns="114300" rIns="114300" bIns="114300">
                      <a:noAutofit/>
                    </a:bodyPr>
                    <a:lstStyle/>
                    <a:p>
                      <a:r>
                        <a:rPr sz="1800" b="0">
                          <a:solidFill>
                            <a:srgbClr val="F5F7FB"/>
                          </a:solidFill>
                          <a:latin typeface="Calibri"/>
                          <a:ea typeface="Calibri"/>
                          <a:cs typeface="Calibri"/>
                        </a:rPr>
                        <a:t>Errores visibles y salida sin espera indefinida</a:t>
                      </a:r>
                    </a:p>
                  </a:txBody>
                  <a:tcPr marL="91440" marR="91440" marT="45720" marB="45720" anchor="ctr">
                    <a:solidFill>
                      <a:srgbClr val="1A2532"/>
                    </a:solidFill>
                  </a:tcPr>
                </a:tc>
              </a:tr>
              <a:tr h="669925">
                <a:tc>
                  <a:txBody>
                    <a:bodyPr lIns="114300" tIns="114300" rIns="114300" bIns="114300">
                      <a:noAutofit/>
                    </a:bodyPr>
                    <a:lstStyle/>
                    <a:p>
                      <a:r>
                        <a:rPr sz="1800" b="0">
                          <a:solidFill>
                            <a:srgbClr val="F5F7FB"/>
                          </a:solidFill>
                          <a:latin typeface="Calibri"/>
                          <a:ea typeface="Calibri"/>
                          <a:cs typeface="Calibri"/>
                        </a:rPr>
                        <a:t>Usabilidad</a:t>
                      </a:r>
                    </a:p>
                  </a:txBody>
                  <a:tcPr marL="91440" marR="91440" marT="45720" marB="45720" anchor="ctr">
                    <a:solidFill>
                      <a:srgbClr val="151D28"/>
                    </a:solidFill>
                  </a:tcPr>
                </a:tc>
                <a:tc>
                  <a:txBody>
                    <a:bodyPr lIns="114300" tIns="114300" rIns="114300" bIns="114300">
                      <a:noAutofit/>
                    </a:bodyPr>
                    <a:lstStyle/>
                    <a:p>
                      <a:r>
                        <a:rPr sz="1800" b="0">
                          <a:solidFill>
                            <a:srgbClr val="F5F7FB"/>
                          </a:solidFill>
                          <a:latin typeface="Calibri"/>
                          <a:ea typeface="Calibri"/>
                          <a:cs typeface="Calibri"/>
                        </a:rPr>
                        <a:t>Controles legibles y respuesta al redimensionar</a:t>
                      </a:r>
                    </a:p>
                  </a:txBody>
                  <a:tcPr marL="91440" marR="91440" marT="45720" marB="45720" anchor="ctr">
                    <a:solidFill>
                      <a:srgbClr val="151D28"/>
                    </a:solidFill>
                  </a:tcPr>
                </a:tc>
              </a:tr>
            </a:tbl>
          </a:graphicData>
        </a:graphic>
      </p:graphicFrame>
    </p:spTree>
    <p:extLst>
      <p:ext uri="{BB962C8B-B14F-4D97-AF65-F5344CB8AC3E}">
        <p14:creationId xmlns:p14="http://schemas.microsoft.com/office/powerpoint/2010/main" val="864390744"/>
      </p:ext>
    </p:extLst>
  </p:cSld>
</p:sld>
</file>

<file path=ppt/slides/slide7.xml><?xml version="1.0" encoding="utf-8"?>
<p:sld xmlns:p="http://schemas.openxmlformats.org/presentationml/2006/main">
  <p:cSld>
    <p:bg>
      <p:bgPr>
        <a:solidFill xmlns:a="http://schemas.openxmlformats.org/drawingml/2006/main">
          <a:srgbClr val="0D1118"/>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CA1A434E-B592-48B3-A276-690B97A4737B}"/>
              </a:ext>
            </a:extLst>
          </p:cNvPr>
          <p:cNvCxnSpPr>
            <a:stCxn xmlns:a="http://schemas.openxmlformats.org/drawingml/2006/main" id="13" idx="3"/>
            <a:endCxn xmlns:a="http://schemas.openxmlformats.org/drawingml/2006/main" id="14" idx="1"/>
          </p:cNvCxnSpPr>
          <p:nvPr/>
        </p:nvCxnSpPr>
        <p:spPr>
          <a:xfrm xmlns:a="http://schemas.openxmlformats.org/drawingml/2006/main">
            <a:off x="7620000" y="4362450"/>
            <a:ext cx="952500" cy="0"/>
          </a:xfrm>
          <a:prstGeom xmlns:a="http://schemas.openxmlformats.org/drawingml/2006/main" prst="straightConnector1">
            <a:avLst/>
          </a:prstGeom>
          <a:ln xmlns:a="http://schemas.openxmlformats.org/drawingml/2006/main" w="19050">
            <a:solidFill>
              <a:srgbClr val="B6C0D0"/>
            </a:solidFill>
            <a:prstDash val="dash"/>
            <a:tailEnd type="triangle" w="sm" len="sm"/>
          </a:ln>
        </p:spPr>
      </p:cxnSp>
      <p:cxnSp>
        <p:nvCxnSpPr>
          <p:cNvPr id="15" name="">
            <a:extLst xmlns:a="http://schemas.openxmlformats.org/drawingml/2006/main">
              <a:ext uri="{FF2B5EF4-FFF2-40B4-BE49-F238E27FC236}">
                <a16:creationId xmlns:a16="http://schemas.microsoft.com/office/drawing/2014/main" id="{F33377E0-F3D9-4BF4-9184-439DA07F97B6}"/>
              </a:ext>
            </a:extLst>
          </p:cNvPr>
          <p:cNvCxnSpPr>
            <a:stCxn xmlns:a="http://schemas.openxmlformats.org/drawingml/2006/main" id="12" idx="3"/>
            <a:endCxn xmlns:a="http://schemas.openxmlformats.org/drawingml/2006/main" id="13" idx="1"/>
          </p:cNvCxnSpPr>
          <p:nvPr/>
        </p:nvCxnSpPr>
        <p:spPr>
          <a:xfrm xmlns:a="http://schemas.openxmlformats.org/drawingml/2006/main">
            <a:off x="3505200" y="4362450"/>
            <a:ext cx="971550" cy="0"/>
          </a:xfrm>
          <a:prstGeom xmlns:a="http://schemas.openxmlformats.org/drawingml/2006/main" prst="straightConnector1">
            <a:avLst/>
          </a:prstGeom>
          <a:ln xmlns:a="http://schemas.openxmlformats.org/drawingml/2006/main" w="19050">
            <a:solidFill>
              <a:srgbClr val="B6C0D0"/>
            </a:solidFill>
            <a:prstDash val="dash"/>
            <a:tailEnd type="triangle" w="sm" len="sm"/>
          </a:ln>
        </p:spPr>
      </p:cxnSp>
      <p:cxnSp>
        <p:nvCxnSpPr>
          <p:cNvPr id="11" name="">
            <a:extLst xmlns:a="http://schemas.openxmlformats.org/drawingml/2006/main">
              <a:ext uri="{FF2B5EF4-FFF2-40B4-BE49-F238E27FC236}">
                <a16:creationId xmlns:a16="http://schemas.microsoft.com/office/drawing/2014/main" id="{FF7B0014-91C6-4B25-86F1-D948BC4C91AB}"/>
              </a:ext>
            </a:extLst>
          </p:cNvPr>
          <p:cNvCxnSpPr>
            <a:stCxn xmlns:a="http://schemas.openxmlformats.org/drawingml/2006/main" id="6" idx="3"/>
            <a:endCxn xmlns:a="http://schemas.openxmlformats.org/drawingml/2006/main" id="7" idx="1"/>
          </p:cNvCxnSpPr>
          <p:nvPr/>
        </p:nvCxnSpPr>
        <p:spPr>
          <a:xfrm xmlns:a="http://schemas.openxmlformats.org/drawingml/2006/main">
            <a:off x="9210675" y="2562225"/>
            <a:ext cx="314325" cy="0"/>
          </a:xfrm>
          <a:prstGeom xmlns:a="http://schemas.openxmlformats.org/drawingml/2006/main" prst="straightConnector1">
            <a:avLst/>
          </a:prstGeom>
          <a:ln xmlns:a="http://schemas.openxmlformats.org/drawingml/2006/main" w="19050">
            <a:solidFill>
              <a:srgbClr val="B6C0D0"/>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FFA6C703-07B6-41BA-97E7-2DAAF821149E}"/>
              </a:ext>
            </a:extLst>
          </p:cNvPr>
          <p:cNvCxnSpPr>
            <a:stCxn xmlns:a="http://schemas.openxmlformats.org/drawingml/2006/main" id="5" idx="3"/>
            <a:endCxn xmlns:a="http://schemas.openxmlformats.org/drawingml/2006/main" id="6" idx="1"/>
          </p:cNvCxnSpPr>
          <p:nvPr/>
        </p:nvCxnSpPr>
        <p:spPr>
          <a:xfrm xmlns:a="http://schemas.openxmlformats.org/drawingml/2006/main">
            <a:off x="6943725" y="2562225"/>
            <a:ext cx="314325" cy="0"/>
          </a:xfrm>
          <a:prstGeom xmlns:a="http://schemas.openxmlformats.org/drawingml/2006/main" prst="straightConnector1">
            <a:avLst/>
          </a:prstGeom>
          <a:ln xmlns:a="http://schemas.openxmlformats.org/drawingml/2006/main" w="19050">
            <a:solidFill>
              <a:srgbClr val="B6C0D0"/>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E7D0F215-495A-4D9D-8F03-2A0443B1AC4B}"/>
              </a:ext>
            </a:extLst>
          </p:cNvPr>
          <p:cNvCxnSpPr>
            <a:stCxn xmlns:a="http://schemas.openxmlformats.org/drawingml/2006/main" id="4" idx="3"/>
            <a:endCxn xmlns:a="http://schemas.openxmlformats.org/drawingml/2006/main" id="5" idx="1"/>
          </p:cNvCxnSpPr>
          <p:nvPr/>
        </p:nvCxnSpPr>
        <p:spPr>
          <a:xfrm xmlns:a="http://schemas.openxmlformats.org/drawingml/2006/main">
            <a:off x="4676775" y="2562225"/>
            <a:ext cx="314325" cy="0"/>
          </a:xfrm>
          <a:prstGeom xmlns:a="http://schemas.openxmlformats.org/drawingml/2006/main" prst="straightConnector1">
            <a:avLst/>
          </a:prstGeom>
          <a:ln xmlns:a="http://schemas.openxmlformats.org/drawingml/2006/main" w="19050">
            <a:solidFill>
              <a:srgbClr val="B6C0D0"/>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F4C23C00-6DE4-4DA5-9E13-5BD2A9035262}"/>
              </a:ext>
            </a:extLst>
          </p:cNvPr>
          <p:cNvCxnSpPr>
            <a:stCxn xmlns:a="http://schemas.openxmlformats.org/drawingml/2006/main" id="3" idx="3"/>
            <a:endCxn xmlns:a="http://schemas.openxmlformats.org/drawingml/2006/main" id="4" idx="1"/>
          </p:cNvCxnSpPr>
          <p:nvPr/>
        </p:nvCxnSpPr>
        <p:spPr>
          <a:xfrm xmlns:a="http://schemas.openxmlformats.org/drawingml/2006/main">
            <a:off x="2409825" y="2562225"/>
            <a:ext cx="314325" cy="0"/>
          </a:xfrm>
          <a:prstGeom xmlns:a="http://schemas.openxmlformats.org/drawingml/2006/main" prst="straightConnector1">
            <a:avLst/>
          </a:prstGeom>
          <a:ln xmlns:a="http://schemas.openxmlformats.org/drawingml/2006/main" w="19050">
            <a:solidFill>
              <a:srgbClr val="B6C0D0"/>
            </a:solidFill>
            <a:prstDash val="solid"/>
            <a:tailEnd type="triangle" w="sm" len="sm"/>
          </a:ln>
        </p:spPr>
      </p:cxnSp>
      <p:sp>
        <p:nvSpPr>
          <p:cNvPr id="18" name="Flujo principal y recuperación">
            <a:extLst xmlns:a="http://schemas.openxmlformats.org/drawingml/2006/main">
              <a:ext uri="{FF2B5EF4-FFF2-40B4-BE49-F238E27FC236}">
                <a16:creationId xmlns:a16="http://schemas.microsoft.com/office/drawing/2014/main" id="{3B25B17A-0D28-44BC-AC62-DEB7F8B11AF5}"/>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5F7FB"/>
                </a:solidFill>
                <a:latin typeface="Calibri"/>
                <a:ea typeface="Calibri"/>
                <a:cs typeface="Calibri"/>
              </a:defRPr>
            </a:defPPr>
          </a:lstStyle>
          <a:p xmlns:a="http://schemas.openxmlformats.org/drawingml/2006/main">
            <a:pPr algn="l">
              <a:defRPr sz="3300" b="1">
                <a:solidFill>
                  <a:srgbClr val="F5F7FB"/>
                </a:solidFill>
                <a:latin typeface="Calibri"/>
                <a:ea typeface="Calibri"/>
                <a:cs typeface="Calibri"/>
              </a:defRPr>
            </a:pPr>
            <a:r>
              <a:rPr sz="3300" b="1">
                <a:solidFill>
                  <a:srgbClr val="F5F7FB"/>
                </a:solidFill>
                <a:latin typeface="Calibri"/>
                <a:ea typeface="Calibri"/>
                <a:cs typeface="Calibri"/>
              </a:rPr>
              <a:t>Flujo principal y recuperación</a:t>
            </a:r>
          </a:p>
        </p:txBody>
      </p:sp>
      <p:sp>
        <p:nvSpPr>
          <p:cNvPr id="2" name="07">
            <a:extLst xmlns:a="http://schemas.openxmlformats.org/drawingml/2006/main">
              <a:ext uri="{FF2B5EF4-FFF2-40B4-BE49-F238E27FC236}">
                <a16:creationId xmlns:a16="http://schemas.microsoft.com/office/drawing/2014/main" id="{3588907D-E19F-4BFF-AFF4-CD2625C10A41}"/>
              </a:ext>
            </a:extLst>
          </p:cNvPr>
          <p:cNvSpPr>
            <a:spLocks xmlns:a="http://schemas.openxmlformats.org/drawingml/2006/main" noGrp="1"/>
          </p:cNvSpPr>
          <p:nvPr/>
        </p:nvSpPr>
        <p:spPr>
          <a:xfrm xmlns:a="http://schemas.openxmlformats.org/drawingml/2006/main">
            <a:off x="11125200" y="62293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6C0D0"/>
                </a:solidFill>
                <a:latin typeface="Calibri"/>
                <a:ea typeface="Calibri"/>
                <a:cs typeface="Calibri"/>
              </a:defRPr>
            </a:defPPr>
          </a:lstStyle>
          <a:p xmlns:a="http://schemas.openxmlformats.org/drawingml/2006/main">
            <a:pPr algn="r">
              <a:defRPr sz="1500" b="0">
                <a:solidFill>
                  <a:srgbClr val="B6C0D0"/>
                </a:solidFill>
                <a:latin typeface="Calibri"/>
                <a:ea typeface="Calibri"/>
                <a:cs typeface="Calibri"/>
              </a:defRPr>
            </a:pPr>
            <a:r>
              <a:rPr sz="1500" b="0">
                <a:solidFill>
                  <a:srgbClr val="B6C0D0"/>
                </a:solidFill>
                <a:latin typeface="Calibri"/>
                <a:ea typeface="Calibri"/>
                <a:cs typeface="Calibri"/>
              </a:rPr>
              <a:t>07</a:t>
            </a:r>
          </a:p>
        </p:txBody>
      </p:sp>
      <p:sp>
        <p:nvSpPr>
          <p:cNvPr id="3" name="Elegir&#10;fuente">
            <a:extLst xmlns:a="http://schemas.openxmlformats.org/drawingml/2006/main">
              <a:ext uri="{FF2B5EF4-FFF2-40B4-BE49-F238E27FC236}">
                <a16:creationId xmlns:a16="http://schemas.microsoft.com/office/drawing/2014/main" id="{6048DA84-9FC6-4E51-957F-50A55B7944EB}"/>
              </a:ext>
            </a:extLst>
          </p:cNvPr>
          <p:cNvSpPr>
            <a:spLocks xmlns:a="http://schemas.openxmlformats.org/drawingml/2006/main" noGrp="1"/>
          </p:cNvSpPr>
          <p:nvPr/>
        </p:nvSpPr>
        <p:spPr>
          <a:xfrm xmlns:a="http://schemas.openxmlformats.org/drawingml/2006/main">
            <a:off x="457200" y="2076450"/>
            <a:ext cx="1952625" cy="971550"/>
          </a:xfrm>
          <a:prstGeom xmlns:a="http://schemas.openxmlformats.org/drawingml/2006/main" prst="roundRect">
            <a:avLst>
              <a:gd name="adj" fmla="val 9804"/>
            </a:avLst>
          </a:prstGeom>
          <a:solidFill xmlns:a="http://schemas.openxmlformats.org/drawingml/2006/main">
            <a:srgbClr val="151E29"/>
          </a:solidFill>
          <a:ln xmlns:a="http://schemas.openxmlformats.org/drawingml/2006/main" w="19050">
            <a:solidFill>
              <a:srgbClr val="69E5BA"/>
            </a:solidFill>
            <a:prstDash val="solid"/>
          </a:ln>
        </p:spPr>
        <p:txBody>
          <a:bodyPr xmlns:a="http://schemas.openxmlformats.org/drawingml/2006/main" lIns="114300" tIns="114300" rIns="114300" bIns="114300" anchor="ctr">
            <a:noAutofit/>
          </a:bodyPr>
          <a:lstStyle xmlns:a="http://schemas.openxmlformats.org/drawingml/2006/main">
            <a:defPPr algn="ctr">
              <a:defRPr sz="2175" b="1">
                <a:solidFill>
                  <a:srgbClr val="F5F7FB"/>
                </a:solidFill>
                <a:latin typeface="Calibri"/>
                <a:ea typeface="Calibri"/>
                <a:cs typeface="Calibri"/>
              </a:defRPr>
            </a:defPPr>
          </a:lstStyle>
          <a:p xmlns:a="http://schemas.openxmlformats.org/drawingml/2006/main">
            <a:pPr algn="ctr">
              <a:defRPr sz="2175" b="1">
                <a:solidFill>
                  <a:srgbClr val="F5F7FB"/>
                </a:solidFill>
                <a:latin typeface="Calibri"/>
                <a:ea typeface="Calibri"/>
                <a:cs typeface="Calibri"/>
              </a:defRPr>
            </a:pPr>
            <a:r>
              <a:rPr sz="2175" b="1">
                <a:solidFill>
                  <a:srgbClr val="F5F7FB"/>
                </a:solidFill>
                <a:latin typeface="Calibri"/>
                <a:ea typeface="Calibri"/>
                <a:cs typeface="Calibri"/>
              </a:rPr>
              <a:t>Elegir</a:t>
            </a:r>
          </a:p>
          <a:p xmlns:a="http://schemas.openxmlformats.org/drawingml/2006/main">
            <a:pPr algn="ctr">
              <a:defRPr sz="2175" b="1">
                <a:solidFill>
                  <a:srgbClr val="F5F7FB"/>
                </a:solidFill>
                <a:latin typeface="Calibri"/>
                <a:ea typeface="Calibri"/>
                <a:cs typeface="Calibri"/>
              </a:defRPr>
            </a:pPr>
            <a:r>
              <a:rPr sz="2175" b="1">
                <a:solidFill>
                  <a:srgbClr val="F5F7FB"/>
                </a:solidFill>
                <a:latin typeface="Calibri"/>
                <a:ea typeface="Calibri"/>
                <a:cs typeface="Calibri"/>
              </a:rPr>
              <a:t>fuente</a:t>
            </a:r>
          </a:p>
        </p:txBody>
      </p:sp>
      <p:sp>
        <p:nvSpPr>
          <p:cNvPr id="4" name="Validar y&#10;abrir C++">
            <a:extLst xmlns:a="http://schemas.openxmlformats.org/drawingml/2006/main">
              <a:ext uri="{FF2B5EF4-FFF2-40B4-BE49-F238E27FC236}">
                <a16:creationId xmlns:a16="http://schemas.microsoft.com/office/drawing/2014/main" id="{38A3CBED-6E05-4D88-AF54-E42DFD6EB452}"/>
              </a:ext>
            </a:extLst>
          </p:cNvPr>
          <p:cNvSpPr>
            <a:spLocks xmlns:a="http://schemas.openxmlformats.org/drawingml/2006/main" noGrp="1"/>
          </p:cNvSpPr>
          <p:nvPr/>
        </p:nvSpPr>
        <p:spPr>
          <a:xfrm xmlns:a="http://schemas.openxmlformats.org/drawingml/2006/main">
            <a:off x="2724150" y="2076450"/>
            <a:ext cx="1952625" cy="971550"/>
          </a:xfrm>
          <a:prstGeom xmlns:a="http://schemas.openxmlformats.org/drawingml/2006/main" prst="roundRect">
            <a:avLst>
              <a:gd name="adj" fmla="val 9804"/>
            </a:avLst>
          </a:prstGeom>
          <a:solidFill xmlns:a="http://schemas.openxmlformats.org/drawingml/2006/main">
            <a:srgbClr val="151E29"/>
          </a:solidFill>
          <a:ln xmlns:a="http://schemas.openxmlformats.org/drawingml/2006/main" w="19050">
            <a:solidFill>
              <a:srgbClr val="69E5BA"/>
            </a:solidFill>
            <a:prstDash val="solid"/>
          </a:ln>
        </p:spPr>
        <p:txBody>
          <a:bodyPr xmlns:a="http://schemas.openxmlformats.org/drawingml/2006/main" lIns="114300" tIns="114300" rIns="114300" bIns="114300" anchor="ctr">
            <a:noAutofit/>
          </a:bodyPr>
          <a:lstStyle xmlns:a="http://schemas.openxmlformats.org/drawingml/2006/main">
            <a:defPPr algn="ctr">
              <a:defRPr sz="2175" b="1">
                <a:solidFill>
                  <a:srgbClr val="F5F7FB"/>
                </a:solidFill>
                <a:latin typeface="Calibri"/>
                <a:ea typeface="Calibri"/>
                <a:cs typeface="Calibri"/>
              </a:defRPr>
            </a:defPPr>
          </a:lstStyle>
          <a:p xmlns:a="http://schemas.openxmlformats.org/drawingml/2006/main">
            <a:pPr algn="ctr">
              <a:defRPr sz="2175" b="1">
                <a:solidFill>
                  <a:srgbClr val="F5F7FB"/>
                </a:solidFill>
                <a:latin typeface="Calibri"/>
                <a:ea typeface="Calibri"/>
                <a:cs typeface="Calibri"/>
              </a:defRPr>
            </a:pPr>
            <a:r>
              <a:rPr sz="2175" b="1">
                <a:solidFill>
                  <a:srgbClr val="F5F7FB"/>
                </a:solidFill>
                <a:latin typeface="Calibri"/>
                <a:ea typeface="Calibri"/>
                <a:cs typeface="Calibri"/>
              </a:rPr>
              <a:t>Validar y</a:t>
            </a:r>
          </a:p>
          <a:p xmlns:a="http://schemas.openxmlformats.org/drawingml/2006/main">
            <a:pPr algn="ctr">
              <a:defRPr sz="2175" b="1">
                <a:solidFill>
                  <a:srgbClr val="F5F7FB"/>
                </a:solidFill>
                <a:latin typeface="Calibri"/>
                <a:ea typeface="Calibri"/>
                <a:cs typeface="Calibri"/>
              </a:defRPr>
            </a:pPr>
            <a:r>
              <a:rPr sz="2175" b="1">
                <a:solidFill>
                  <a:srgbClr val="F5F7FB"/>
                </a:solidFill>
                <a:latin typeface="Calibri"/>
                <a:ea typeface="Calibri"/>
                <a:cs typeface="Calibri"/>
              </a:rPr>
              <a:t>abrir C++</a:t>
            </a:r>
          </a:p>
        </p:txBody>
      </p:sp>
      <p:sp>
        <p:nvSpPr>
          <p:cNvPr id="5" name="Publicar&#10;Bridge">
            <a:extLst xmlns:a="http://schemas.openxmlformats.org/drawingml/2006/main">
              <a:ext uri="{FF2B5EF4-FFF2-40B4-BE49-F238E27FC236}">
                <a16:creationId xmlns:a16="http://schemas.microsoft.com/office/drawing/2014/main" id="{9319F141-3412-4581-A1B5-D12DE152EF59}"/>
              </a:ext>
            </a:extLst>
          </p:cNvPr>
          <p:cNvSpPr>
            <a:spLocks xmlns:a="http://schemas.openxmlformats.org/drawingml/2006/main" noGrp="1"/>
          </p:cNvSpPr>
          <p:nvPr/>
        </p:nvSpPr>
        <p:spPr>
          <a:xfrm xmlns:a="http://schemas.openxmlformats.org/drawingml/2006/main">
            <a:off x="4991100" y="2076450"/>
            <a:ext cx="1952625" cy="971550"/>
          </a:xfrm>
          <a:prstGeom xmlns:a="http://schemas.openxmlformats.org/drawingml/2006/main" prst="roundRect">
            <a:avLst>
              <a:gd name="adj" fmla="val 9804"/>
            </a:avLst>
          </a:prstGeom>
          <a:solidFill xmlns:a="http://schemas.openxmlformats.org/drawingml/2006/main">
            <a:srgbClr val="151E29"/>
          </a:solidFill>
          <a:ln xmlns:a="http://schemas.openxmlformats.org/drawingml/2006/main" w="19050">
            <a:solidFill>
              <a:srgbClr val="69E5BA"/>
            </a:solidFill>
            <a:prstDash val="solid"/>
          </a:ln>
        </p:spPr>
        <p:txBody>
          <a:bodyPr xmlns:a="http://schemas.openxmlformats.org/drawingml/2006/main" lIns="114300" tIns="114300" rIns="114300" bIns="114300" anchor="ctr">
            <a:noAutofit/>
          </a:bodyPr>
          <a:lstStyle xmlns:a="http://schemas.openxmlformats.org/drawingml/2006/main">
            <a:defPPr algn="ctr">
              <a:defRPr sz="2175" b="1">
                <a:solidFill>
                  <a:srgbClr val="F5F7FB"/>
                </a:solidFill>
                <a:latin typeface="Calibri"/>
                <a:ea typeface="Calibri"/>
                <a:cs typeface="Calibri"/>
              </a:defRPr>
            </a:defPPr>
          </a:lstStyle>
          <a:p xmlns:a="http://schemas.openxmlformats.org/drawingml/2006/main">
            <a:pPr algn="ctr">
              <a:defRPr sz="2175" b="1">
                <a:solidFill>
                  <a:srgbClr val="F5F7FB"/>
                </a:solidFill>
                <a:latin typeface="Calibri"/>
                <a:ea typeface="Calibri"/>
                <a:cs typeface="Calibri"/>
              </a:defRPr>
            </a:pPr>
            <a:r>
              <a:rPr sz="2175" b="1">
                <a:solidFill>
                  <a:srgbClr val="F5F7FB"/>
                </a:solidFill>
                <a:latin typeface="Calibri"/>
                <a:ea typeface="Calibri"/>
                <a:cs typeface="Calibri"/>
              </a:rPr>
              <a:t>Publicar</a:t>
            </a:r>
          </a:p>
          <a:p xmlns:a="http://schemas.openxmlformats.org/drawingml/2006/main">
            <a:pPr algn="ctr">
              <a:defRPr sz="2175" b="1">
                <a:solidFill>
                  <a:srgbClr val="F5F7FB"/>
                </a:solidFill>
                <a:latin typeface="Calibri"/>
                <a:ea typeface="Calibri"/>
                <a:cs typeface="Calibri"/>
              </a:defRPr>
            </a:pPr>
            <a:r>
              <a:rPr sz="2175" b="1">
                <a:solidFill>
                  <a:srgbClr val="F5F7FB"/>
                </a:solidFill>
                <a:latin typeface="Calibri"/>
                <a:ea typeface="Calibri"/>
                <a:cs typeface="Calibri"/>
              </a:rPr>
              <a:t>Bridge</a:t>
            </a:r>
          </a:p>
        </p:txBody>
      </p:sp>
      <p:sp>
        <p:nvSpPr>
          <p:cNvPr id="6" name="Leer&#10;Python">
            <a:extLst xmlns:a="http://schemas.openxmlformats.org/drawingml/2006/main">
              <a:ext uri="{FF2B5EF4-FFF2-40B4-BE49-F238E27FC236}">
                <a16:creationId xmlns:a16="http://schemas.microsoft.com/office/drawing/2014/main" id="{5126B964-04ED-4601-9D9A-50AEBDF351D8}"/>
              </a:ext>
            </a:extLst>
          </p:cNvPr>
          <p:cNvSpPr>
            <a:spLocks xmlns:a="http://schemas.openxmlformats.org/drawingml/2006/main" noGrp="1"/>
          </p:cNvSpPr>
          <p:nvPr/>
        </p:nvSpPr>
        <p:spPr>
          <a:xfrm xmlns:a="http://schemas.openxmlformats.org/drawingml/2006/main">
            <a:off x="7258050" y="2076450"/>
            <a:ext cx="1952625" cy="971550"/>
          </a:xfrm>
          <a:prstGeom xmlns:a="http://schemas.openxmlformats.org/drawingml/2006/main" prst="roundRect">
            <a:avLst>
              <a:gd name="adj" fmla="val 9804"/>
            </a:avLst>
          </a:prstGeom>
          <a:solidFill xmlns:a="http://schemas.openxmlformats.org/drawingml/2006/main">
            <a:srgbClr val="151E29"/>
          </a:solidFill>
          <a:ln xmlns:a="http://schemas.openxmlformats.org/drawingml/2006/main" w="19050">
            <a:solidFill>
              <a:srgbClr val="69E5BA"/>
            </a:solidFill>
            <a:prstDash val="solid"/>
          </a:ln>
        </p:spPr>
        <p:txBody>
          <a:bodyPr xmlns:a="http://schemas.openxmlformats.org/drawingml/2006/main" lIns="114300" tIns="114300" rIns="114300" bIns="114300" anchor="ctr">
            <a:noAutofit/>
          </a:bodyPr>
          <a:lstStyle xmlns:a="http://schemas.openxmlformats.org/drawingml/2006/main">
            <a:defPPr algn="ctr">
              <a:defRPr sz="2175" b="1">
                <a:solidFill>
                  <a:srgbClr val="F5F7FB"/>
                </a:solidFill>
                <a:latin typeface="Calibri"/>
                <a:ea typeface="Calibri"/>
                <a:cs typeface="Calibri"/>
              </a:defRPr>
            </a:defPPr>
          </a:lstStyle>
          <a:p xmlns:a="http://schemas.openxmlformats.org/drawingml/2006/main">
            <a:pPr algn="ctr">
              <a:defRPr sz="2175" b="1">
                <a:solidFill>
                  <a:srgbClr val="F5F7FB"/>
                </a:solidFill>
                <a:latin typeface="Calibri"/>
                <a:ea typeface="Calibri"/>
                <a:cs typeface="Calibri"/>
              </a:defRPr>
            </a:pPr>
            <a:r>
              <a:rPr sz="2175" b="1">
                <a:solidFill>
                  <a:srgbClr val="F5F7FB"/>
                </a:solidFill>
                <a:latin typeface="Calibri"/>
                <a:ea typeface="Calibri"/>
                <a:cs typeface="Calibri"/>
              </a:rPr>
              <a:t>Leer</a:t>
            </a:r>
          </a:p>
          <a:p xmlns:a="http://schemas.openxmlformats.org/drawingml/2006/main">
            <a:pPr algn="ctr">
              <a:defRPr sz="2175" b="1">
                <a:solidFill>
                  <a:srgbClr val="F5F7FB"/>
                </a:solidFill>
                <a:latin typeface="Calibri"/>
                <a:ea typeface="Calibri"/>
                <a:cs typeface="Calibri"/>
              </a:defRPr>
            </a:pPr>
            <a:r>
              <a:rPr sz="2175" b="1">
                <a:solidFill>
                  <a:srgbClr val="F5F7FB"/>
                </a:solidFill>
                <a:latin typeface="Calibri"/>
                <a:ea typeface="Calibri"/>
                <a:cs typeface="Calibri"/>
              </a:rPr>
              <a:t>Python</a:t>
            </a:r>
          </a:p>
        </p:txBody>
      </p:sp>
      <p:sp>
        <p:nvSpPr>
          <p:cNvPr id="7" name="Mostrar&#10;RAW">
            <a:extLst xmlns:a="http://schemas.openxmlformats.org/drawingml/2006/main">
              <a:ext uri="{FF2B5EF4-FFF2-40B4-BE49-F238E27FC236}">
                <a16:creationId xmlns:a16="http://schemas.microsoft.com/office/drawing/2014/main" id="{BBB83AAE-DFAE-40F6-9EDF-E0B154E87502}"/>
              </a:ext>
            </a:extLst>
          </p:cNvPr>
          <p:cNvSpPr>
            <a:spLocks xmlns:a="http://schemas.openxmlformats.org/drawingml/2006/main" noGrp="1"/>
          </p:cNvSpPr>
          <p:nvPr/>
        </p:nvSpPr>
        <p:spPr>
          <a:xfrm xmlns:a="http://schemas.openxmlformats.org/drawingml/2006/main">
            <a:off x="9525000" y="2076450"/>
            <a:ext cx="1952625" cy="971550"/>
          </a:xfrm>
          <a:prstGeom xmlns:a="http://schemas.openxmlformats.org/drawingml/2006/main" prst="roundRect">
            <a:avLst>
              <a:gd name="adj" fmla="val 9804"/>
            </a:avLst>
          </a:prstGeom>
          <a:solidFill xmlns:a="http://schemas.openxmlformats.org/drawingml/2006/main">
            <a:srgbClr val="151E29"/>
          </a:solidFill>
          <a:ln xmlns:a="http://schemas.openxmlformats.org/drawingml/2006/main" w="19050">
            <a:solidFill>
              <a:srgbClr val="69E5BA"/>
            </a:solidFill>
            <a:prstDash val="solid"/>
          </a:ln>
        </p:spPr>
        <p:txBody>
          <a:bodyPr xmlns:a="http://schemas.openxmlformats.org/drawingml/2006/main" lIns="114300" tIns="114300" rIns="114300" bIns="114300" anchor="ctr">
            <a:noAutofit/>
          </a:bodyPr>
          <a:lstStyle xmlns:a="http://schemas.openxmlformats.org/drawingml/2006/main">
            <a:defPPr algn="ctr">
              <a:defRPr sz="2175" b="1">
                <a:solidFill>
                  <a:srgbClr val="F5F7FB"/>
                </a:solidFill>
                <a:latin typeface="Calibri"/>
                <a:ea typeface="Calibri"/>
                <a:cs typeface="Calibri"/>
              </a:defRPr>
            </a:defPPr>
          </a:lstStyle>
          <a:p xmlns:a="http://schemas.openxmlformats.org/drawingml/2006/main">
            <a:pPr algn="ctr">
              <a:defRPr sz="2175" b="1">
                <a:solidFill>
                  <a:srgbClr val="F5F7FB"/>
                </a:solidFill>
                <a:latin typeface="Calibri"/>
                <a:ea typeface="Calibri"/>
                <a:cs typeface="Calibri"/>
              </a:defRPr>
            </a:pPr>
            <a:r>
              <a:rPr sz="2175" b="1">
                <a:solidFill>
                  <a:srgbClr val="F5F7FB"/>
                </a:solidFill>
                <a:latin typeface="Calibri"/>
                <a:ea typeface="Calibri"/>
                <a:cs typeface="Calibri"/>
              </a:rPr>
              <a:t>Mostrar</a:t>
            </a:r>
          </a:p>
          <a:p xmlns:a="http://schemas.openxmlformats.org/drawingml/2006/main">
            <a:pPr algn="ctr">
              <a:defRPr sz="2175" b="1">
                <a:solidFill>
                  <a:srgbClr val="F5F7FB"/>
                </a:solidFill>
                <a:latin typeface="Calibri"/>
                <a:ea typeface="Calibri"/>
                <a:cs typeface="Calibri"/>
              </a:defRPr>
            </a:pPr>
            <a:r>
              <a:rPr sz="2175" b="1">
                <a:solidFill>
                  <a:srgbClr val="F5F7FB"/>
                </a:solidFill>
                <a:latin typeface="Calibri"/>
                <a:ea typeface="Calibri"/>
                <a:cs typeface="Calibri"/>
              </a:rPr>
              <a:t>RAW</a:t>
            </a:r>
          </a:p>
        </p:txBody>
      </p:sp>
      <p:sp>
        <p:nvSpPr>
          <p:cNvPr id="12" name="Interrupción&#10;del productor">
            <a:extLst xmlns:a="http://schemas.openxmlformats.org/drawingml/2006/main">
              <a:ext uri="{FF2B5EF4-FFF2-40B4-BE49-F238E27FC236}">
                <a16:creationId xmlns:a16="http://schemas.microsoft.com/office/drawing/2014/main" id="{12494904-3A75-486C-B29F-A2A51AF60687}"/>
              </a:ext>
            </a:extLst>
          </p:cNvPr>
          <p:cNvSpPr>
            <a:spLocks xmlns:a="http://schemas.openxmlformats.org/drawingml/2006/main" noGrp="1"/>
          </p:cNvSpPr>
          <p:nvPr/>
        </p:nvSpPr>
        <p:spPr>
          <a:xfrm xmlns:a="http://schemas.openxmlformats.org/drawingml/2006/main">
            <a:off x="457200" y="3886200"/>
            <a:ext cx="3048000" cy="952500"/>
          </a:xfrm>
          <a:prstGeom xmlns:a="http://schemas.openxmlformats.org/drawingml/2006/main" prst="roundRect">
            <a:avLst>
              <a:gd name="adj" fmla="val 10000"/>
            </a:avLst>
          </a:prstGeom>
          <a:solidFill xmlns:a="http://schemas.openxmlformats.org/drawingml/2006/main">
            <a:srgbClr val="151E29"/>
          </a:solidFill>
          <a:ln xmlns:a="http://schemas.openxmlformats.org/drawingml/2006/main" w="19050">
            <a:solidFill>
              <a:srgbClr val="B397F6"/>
            </a:solidFill>
            <a:prstDash val="dash"/>
          </a:ln>
        </p:spPr>
        <p:txBody>
          <a:bodyPr xmlns:a="http://schemas.openxmlformats.org/drawingml/2006/main" lIns="114300" tIns="114300" rIns="114300" bIns="114300" anchor="ctr">
            <a:noAutofit/>
          </a:bodyPr>
          <a:lstStyle xmlns:a="http://schemas.openxmlformats.org/drawingml/2006/main">
            <a:defPPr algn="ctr">
              <a:defRPr sz="2100" b="1">
                <a:solidFill>
                  <a:srgbClr val="F5F7FB"/>
                </a:solidFill>
                <a:latin typeface="Calibri"/>
                <a:ea typeface="Calibri"/>
                <a:cs typeface="Calibri"/>
              </a:defRPr>
            </a:defPPr>
          </a:lstStyle>
          <a:p xmlns:a="http://schemas.openxmlformats.org/drawingml/2006/main">
            <a:pPr algn="ctr">
              <a:defRPr sz="2100" b="1">
                <a:solidFill>
                  <a:srgbClr val="F5F7FB"/>
                </a:solidFill>
                <a:latin typeface="Calibri"/>
                <a:ea typeface="Calibri"/>
                <a:cs typeface="Calibri"/>
              </a:defRPr>
            </a:pPr>
            <a:r>
              <a:rPr sz="2100" b="1">
                <a:solidFill>
                  <a:srgbClr val="F5F7FB"/>
                </a:solidFill>
                <a:latin typeface="Calibri"/>
                <a:ea typeface="Calibri"/>
                <a:cs typeface="Calibri"/>
              </a:rPr>
              <a:t>Interrupción</a:t>
            </a:r>
          </a:p>
          <a:p xmlns:a="http://schemas.openxmlformats.org/drawingml/2006/main">
            <a:pPr algn="ctr">
              <a:defRPr sz="2100" b="1">
                <a:solidFill>
                  <a:srgbClr val="F5F7FB"/>
                </a:solidFill>
                <a:latin typeface="Calibri"/>
                <a:ea typeface="Calibri"/>
                <a:cs typeface="Calibri"/>
              </a:defRPr>
            </a:pPr>
            <a:r>
              <a:rPr sz="2100" b="1">
                <a:solidFill>
                  <a:srgbClr val="F5F7FB"/>
                </a:solidFill>
                <a:latin typeface="Calibri"/>
                <a:ea typeface="Calibri"/>
                <a:cs typeface="Calibri"/>
              </a:rPr>
              <a:t>del productor</a:t>
            </a:r>
          </a:p>
        </p:txBody>
      </p:sp>
      <p:sp>
        <p:nvSpPr>
          <p:cNvPr id="13" name="Detectar caída&#10;o ausencia de frames">
            <a:extLst xmlns:a="http://schemas.openxmlformats.org/drawingml/2006/main">
              <a:ext uri="{FF2B5EF4-FFF2-40B4-BE49-F238E27FC236}">
                <a16:creationId xmlns:a16="http://schemas.microsoft.com/office/drawing/2014/main" id="{6CC0B5F7-4047-46FD-8A2F-A180797D6859}"/>
              </a:ext>
            </a:extLst>
          </p:cNvPr>
          <p:cNvSpPr>
            <a:spLocks xmlns:a="http://schemas.openxmlformats.org/drawingml/2006/main" noGrp="1"/>
          </p:cNvSpPr>
          <p:nvPr/>
        </p:nvSpPr>
        <p:spPr>
          <a:xfrm xmlns:a="http://schemas.openxmlformats.org/drawingml/2006/main">
            <a:off x="4476750" y="3886200"/>
            <a:ext cx="3143250" cy="952500"/>
          </a:xfrm>
          <a:prstGeom xmlns:a="http://schemas.openxmlformats.org/drawingml/2006/main" prst="roundRect">
            <a:avLst>
              <a:gd name="adj" fmla="val 10000"/>
            </a:avLst>
          </a:prstGeom>
          <a:solidFill xmlns:a="http://schemas.openxmlformats.org/drawingml/2006/main">
            <a:srgbClr val="151E29"/>
          </a:solidFill>
          <a:ln xmlns:a="http://schemas.openxmlformats.org/drawingml/2006/main" w="19050">
            <a:solidFill>
              <a:srgbClr val="B397F6"/>
            </a:solidFill>
            <a:prstDash val="dash"/>
          </a:ln>
        </p:spPr>
        <p:txBody>
          <a:bodyPr xmlns:a="http://schemas.openxmlformats.org/drawingml/2006/main" lIns="114300" tIns="114300" rIns="114300" bIns="114300" anchor="ctr">
            <a:noAutofit/>
          </a:bodyPr>
          <a:lstStyle xmlns:a="http://schemas.openxmlformats.org/drawingml/2006/main">
            <a:defPPr algn="ctr">
              <a:defRPr sz="2100" b="1">
                <a:solidFill>
                  <a:srgbClr val="F5F7FB"/>
                </a:solidFill>
                <a:latin typeface="Calibri"/>
                <a:ea typeface="Calibri"/>
                <a:cs typeface="Calibri"/>
              </a:defRPr>
            </a:defPPr>
          </a:lstStyle>
          <a:p xmlns:a="http://schemas.openxmlformats.org/drawingml/2006/main">
            <a:pPr algn="ctr">
              <a:defRPr sz="2100" b="1">
                <a:solidFill>
                  <a:srgbClr val="F5F7FB"/>
                </a:solidFill>
                <a:latin typeface="Calibri"/>
                <a:ea typeface="Calibri"/>
                <a:cs typeface="Calibri"/>
              </a:defRPr>
            </a:pPr>
            <a:r>
              <a:rPr sz="2100" b="1">
                <a:solidFill>
                  <a:srgbClr val="F5F7FB"/>
                </a:solidFill>
                <a:latin typeface="Calibri"/>
                <a:ea typeface="Calibri"/>
                <a:cs typeface="Calibri"/>
              </a:rPr>
              <a:t>Detectar caída</a:t>
            </a:r>
          </a:p>
          <a:p xmlns:a="http://schemas.openxmlformats.org/drawingml/2006/main">
            <a:pPr algn="ctr">
              <a:defRPr sz="2100" b="1">
                <a:solidFill>
                  <a:srgbClr val="F5F7FB"/>
                </a:solidFill>
                <a:latin typeface="Calibri"/>
                <a:ea typeface="Calibri"/>
                <a:cs typeface="Calibri"/>
              </a:defRPr>
            </a:pPr>
            <a:r>
              <a:rPr sz="2100" b="1">
                <a:solidFill>
                  <a:srgbClr val="F5F7FB"/>
                </a:solidFill>
                <a:latin typeface="Calibri"/>
                <a:ea typeface="Calibri"/>
                <a:cs typeface="Calibri"/>
              </a:rPr>
              <a:t>o ausencia de frames</a:t>
            </a:r>
          </a:p>
        </p:txBody>
      </p:sp>
      <p:sp>
        <p:nvSpPr>
          <p:cNvPr id="14" name="Informar estado&#10;y reconectar">
            <a:extLst xmlns:a="http://schemas.openxmlformats.org/drawingml/2006/main">
              <a:ext uri="{FF2B5EF4-FFF2-40B4-BE49-F238E27FC236}">
                <a16:creationId xmlns:a16="http://schemas.microsoft.com/office/drawing/2014/main" id="{D0D8387E-FB09-4AE1-8899-8AB1A555E37A}"/>
              </a:ext>
            </a:extLst>
          </p:cNvPr>
          <p:cNvSpPr>
            <a:spLocks xmlns:a="http://schemas.openxmlformats.org/drawingml/2006/main" noGrp="1"/>
          </p:cNvSpPr>
          <p:nvPr/>
        </p:nvSpPr>
        <p:spPr>
          <a:xfrm xmlns:a="http://schemas.openxmlformats.org/drawingml/2006/main">
            <a:off x="8572500" y="3886200"/>
            <a:ext cx="3143250" cy="952500"/>
          </a:xfrm>
          <a:prstGeom xmlns:a="http://schemas.openxmlformats.org/drawingml/2006/main" prst="roundRect">
            <a:avLst>
              <a:gd name="adj" fmla="val 10000"/>
            </a:avLst>
          </a:prstGeom>
          <a:solidFill xmlns:a="http://schemas.openxmlformats.org/drawingml/2006/main">
            <a:srgbClr val="151E29"/>
          </a:solidFill>
          <a:ln xmlns:a="http://schemas.openxmlformats.org/drawingml/2006/main" w="19050">
            <a:solidFill>
              <a:srgbClr val="B397F6"/>
            </a:solidFill>
            <a:prstDash val="dash"/>
          </a:ln>
        </p:spPr>
        <p:txBody>
          <a:bodyPr xmlns:a="http://schemas.openxmlformats.org/drawingml/2006/main" lIns="114300" tIns="114300" rIns="114300" bIns="114300" anchor="ctr">
            <a:noAutofit/>
          </a:bodyPr>
          <a:lstStyle xmlns:a="http://schemas.openxmlformats.org/drawingml/2006/main">
            <a:defPPr algn="ctr">
              <a:defRPr sz="2100" b="1">
                <a:solidFill>
                  <a:srgbClr val="F5F7FB"/>
                </a:solidFill>
                <a:latin typeface="Calibri"/>
                <a:ea typeface="Calibri"/>
                <a:cs typeface="Calibri"/>
              </a:defRPr>
            </a:defPPr>
          </a:lstStyle>
          <a:p xmlns:a="http://schemas.openxmlformats.org/drawingml/2006/main">
            <a:pPr algn="ctr">
              <a:defRPr sz="2100" b="1">
                <a:solidFill>
                  <a:srgbClr val="F5F7FB"/>
                </a:solidFill>
                <a:latin typeface="Calibri"/>
                <a:ea typeface="Calibri"/>
                <a:cs typeface="Calibri"/>
              </a:defRPr>
            </a:pPr>
            <a:r>
              <a:rPr sz="2100" b="1">
                <a:solidFill>
                  <a:srgbClr val="F5F7FB"/>
                </a:solidFill>
                <a:latin typeface="Calibri"/>
                <a:ea typeface="Calibri"/>
                <a:cs typeface="Calibri"/>
              </a:rPr>
              <a:t>Informar estado</a:t>
            </a:r>
          </a:p>
          <a:p xmlns:a="http://schemas.openxmlformats.org/drawingml/2006/main">
            <a:pPr algn="ctr">
              <a:defRPr sz="2100" b="1">
                <a:solidFill>
                  <a:srgbClr val="F5F7FB"/>
                </a:solidFill>
                <a:latin typeface="Calibri"/>
                <a:ea typeface="Calibri"/>
                <a:cs typeface="Calibri"/>
              </a:defRPr>
            </a:pPr>
            <a:r>
              <a:rPr sz="2100" b="1">
                <a:solidFill>
                  <a:srgbClr val="F5F7FB"/>
                </a:solidFill>
                <a:latin typeface="Calibri"/>
                <a:ea typeface="Calibri"/>
                <a:cs typeface="Calibri"/>
              </a:rPr>
              <a:t>y reconectar</a:t>
            </a:r>
          </a:p>
        </p:txBody>
      </p:sp>
      <p:sp>
        <p:nvSpPr>
          <p:cNvPr id="17" name="Ruta de recuperación propuesta">
            <a:extLst xmlns:a="http://schemas.openxmlformats.org/drawingml/2006/main">
              <a:ext uri="{FF2B5EF4-FFF2-40B4-BE49-F238E27FC236}">
                <a16:creationId xmlns:a16="http://schemas.microsoft.com/office/drawing/2014/main" id="{61360A29-8515-410F-81E5-84436D194A7D}"/>
              </a:ext>
            </a:extLst>
          </p:cNvPr>
          <p:cNvSpPr>
            <a:spLocks xmlns:a="http://schemas.openxmlformats.org/drawingml/2006/main" noGrp="1"/>
          </p:cNvSpPr>
          <p:nvPr/>
        </p:nvSpPr>
        <p:spPr>
          <a:xfrm xmlns:a="http://schemas.openxmlformats.org/drawingml/2006/main">
            <a:off x="457200" y="5076825"/>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397F6"/>
                </a:solidFill>
                <a:latin typeface="Calibri"/>
                <a:ea typeface="Calibri"/>
                <a:cs typeface="Calibri"/>
              </a:defRPr>
            </a:defPPr>
          </a:lstStyle>
          <a:p xmlns:a="http://schemas.openxmlformats.org/drawingml/2006/main">
            <a:pPr algn="l">
              <a:defRPr sz="1875" b="0">
                <a:solidFill>
                  <a:srgbClr val="B397F6"/>
                </a:solidFill>
                <a:latin typeface="Calibri"/>
                <a:ea typeface="Calibri"/>
                <a:cs typeface="Calibri"/>
              </a:defRPr>
            </a:pPr>
            <a:r>
              <a:rPr sz="1875" b="0">
                <a:solidFill>
                  <a:srgbClr val="B397F6"/>
                </a:solidFill>
                <a:latin typeface="Calibri"/>
                <a:ea typeface="Calibri"/>
                <a:cs typeface="Calibri"/>
              </a:rPr>
              <a:t>Ruta de recuperación propuesta</a:t>
            </a:r>
          </a:p>
        </p:txBody>
      </p:sp>
    </p:spTree>
    <p:extLst>
      <p:ext uri="{BB962C8B-B14F-4D97-AF65-F5344CB8AC3E}">
        <p14:creationId xmlns:p14="http://schemas.microsoft.com/office/powerpoint/2010/main" val="1121835225"/>
      </p:ext>
    </p:extLst>
  </p:cSld>
</p:sld>
</file>

<file path=ppt/slides/slide8.xml><?xml version="1.0" encoding="utf-8"?>
<p:sld xmlns:p="http://schemas.openxmlformats.org/presentationml/2006/main">
  <p:cSld>
    <p:bg>
      <p:bgPr>
        <a:solidFill xmlns:a="http://schemas.openxmlformats.org/drawingml/2006/main">
          <a:srgbClr val="0D1118"/>
        </a:solidFill>
      </p:bgPr>
    </p:bg>
    <p:spTree>
      <p:nvGrpSpPr>
        <p:cNvPr id="1" name=""/>
        <p:cNvGrpSpPr/>
        <p:nvPr/>
      </p:nvGrpSpPr>
      <p:grpSpPr>
        <a:xfrm xmlns:a="http://schemas.openxmlformats.org/drawingml/2006/main"/>
      </p:grpSpPr>
      <p:sp>
        <p:nvSpPr>
          <p:cNvPr id="5" name="Pantalla de captura">
            <a:extLst xmlns:a="http://schemas.openxmlformats.org/drawingml/2006/main">
              <a:ext uri="{FF2B5EF4-FFF2-40B4-BE49-F238E27FC236}">
                <a16:creationId xmlns:a16="http://schemas.microsoft.com/office/drawing/2014/main" id="{D0DE97BA-04A0-47DF-8722-A040C7BCBBE9}"/>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5F7FB"/>
                </a:solidFill>
                <a:latin typeface="Calibri"/>
                <a:ea typeface="Calibri"/>
                <a:cs typeface="Calibri"/>
              </a:defRPr>
            </a:defPPr>
          </a:lstStyle>
          <a:p xmlns:a="http://schemas.openxmlformats.org/drawingml/2006/main">
            <a:pPr algn="l">
              <a:defRPr sz="3300" b="1">
                <a:solidFill>
                  <a:srgbClr val="F5F7FB"/>
                </a:solidFill>
                <a:latin typeface="Calibri"/>
                <a:ea typeface="Calibri"/>
                <a:cs typeface="Calibri"/>
              </a:defRPr>
            </a:pPr>
            <a:r>
              <a:rPr sz="3300" b="1">
                <a:solidFill>
                  <a:srgbClr val="F5F7FB"/>
                </a:solidFill>
                <a:latin typeface="Calibri"/>
                <a:ea typeface="Calibri"/>
                <a:cs typeface="Calibri"/>
              </a:rPr>
              <a:t>Pantalla de captura</a:t>
            </a:r>
          </a:p>
        </p:txBody>
      </p:sp>
      <p:sp>
        <p:nvSpPr>
          <p:cNvPr id="2" name="Diseño propuesto de la interfaz de escritorio">
            <a:extLst xmlns:a="http://schemas.openxmlformats.org/drawingml/2006/main">
              <a:ext uri="{FF2B5EF4-FFF2-40B4-BE49-F238E27FC236}">
                <a16:creationId xmlns:a16="http://schemas.microsoft.com/office/drawing/2014/main" id="{C49D1764-E566-436C-B276-3300A5D17B32}"/>
              </a:ext>
            </a:extLst>
          </p:cNvPr>
          <p:cNvSpPr>
            <a:spLocks xmlns:a="http://schemas.openxmlformats.org/drawingml/2006/main" noGrp="1"/>
          </p:cNvSpPr>
          <p:nvPr/>
        </p:nvSpPr>
        <p:spPr>
          <a:xfrm xmlns:a="http://schemas.openxmlformats.org/drawingml/2006/main">
            <a:off x="609600" y="6229350"/>
            <a:ext cx="1019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6C0D0"/>
                </a:solidFill>
                <a:latin typeface="Calibri"/>
                <a:ea typeface="Calibri"/>
                <a:cs typeface="Calibri"/>
              </a:defRPr>
            </a:defPPr>
          </a:lstStyle>
          <a:p xmlns:a="http://schemas.openxmlformats.org/drawingml/2006/main">
            <a:pPr algn="l">
              <a:defRPr sz="1500" b="0">
                <a:solidFill>
                  <a:srgbClr val="B6C0D0"/>
                </a:solidFill>
                <a:latin typeface="Calibri"/>
                <a:ea typeface="Calibri"/>
                <a:cs typeface="Calibri"/>
              </a:defRPr>
            </a:pPr>
            <a:r>
              <a:rPr sz="1500" b="0">
                <a:solidFill>
                  <a:srgbClr val="B6C0D0"/>
                </a:solidFill>
                <a:latin typeface="Calibri"/>
                <a:ea typeface="Calibri"/>
                <a:cs typeface="Calibri"/>
              </a:rPr>
              <a:t>Diseño propuesto de la interfaz de escritorio</a:t>
            </a:r>
          </a:p>
        </p:txBody>
      </p:sp>
      <p:sp>
        <p:nvSpPr>
          <p:cNvPr id="3" name="08">
            <a:extLst xmlns:a="http://schemas.openxmlformats.org/drawingml/2006/main">
              <a:ext uri="{FF2B5EF4-FFF2-40B4-BE49-F238E27FC236}">
                <a16:creationId xmlns:a16="http://schemas.microsoft.com/office/drawing/2014/main" id="{C9F10C84-8986-4C32-8E93-FD0D07E58702}"/>
              </a:ext>
            </a:extLst>
          </p:cNvPr>
          <p:cNvSpPr>
            <a:spLocks xmlns:a="http://schemas.openxmlformats.org/drawingml/2006/main" noGrp="1"/>
          </p:cNvSpPr>
          <p:nvPr/>
        </p:nvSpPr>
        <p:spPr>
          <a:xfrm xmlns:a="http://schemas.openxmlformats.org/drawingml/2006/main">
            <a:off x="11125200" y="62293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6C0D0"/>
                </a:solidFill>
                <a:latin typeface="Calibri"/>
                <a:ea typeface="Calibri"/>
                <a:cs typeface="Calibri"/>
              </a:defRPr>
            </a:defPPr>
          </a:lstStyle>
          <a:p xmlns:a="http://schemas.openxmlformats.org/drawingml/2006/main">
            <a:pPr algn="r">
              <a:defRPr sz="1500" b="0">
                <a:solidFill>
                  <a:srgbClr val="B6C0D0"/>
                </a:solidFill>
                <a:latin typeface="Calibri"/>
                <a:ea typeface="Calibri"/>
                <a:cs typeface="Calibri"/>
              </a:defRPr>
            </a:pPr>
            <a:r>
              <a:rPr sz="1500" b="0">
                <a:solidFill>
                  <a:srgbClr val="B6C0D0"/>
                </a:solidFill>
                <a:latin typeface="Calibri"/>
                <a:ea typeface="Calibri"/>
                <a:cs typeface="Calibri"/>
              </a:rPr>
              <a:t>08</a:t>
            </a:r>
          </a:p>
        </p:txBody>
      </p:sp>
      <p:pic>
        <p:nvPicPr>
          <p:cNvPr id="4" name="">
            <a:extLst xmlns:a="http://schemas.openxmlformats.org/drawingml/2006/main">
              <a:ext uri="{FF2B5EF4-FFF2-40B4-BE49-F238E27FC236}">
                <a16:creationId xmlns:a16="http://schemas.microsoft.com/office/drawing/2014/main" id="{9FE89BDA-B380-44CE-B472-5ADF0B17E174}"/>
              </a:ext>
            </a:extLst>
          </p:cNvPr>
          <p:cNvPicPr>
            <a:picLocks xmlns:a="http://schemas.openxmlformats.org/drawingml/2006/main" noChangeAspect="1"/>
          </p:cNvPicPr>
          <p:nvPr/>
        </p:nvPicPr>
        <p:blipFill>
          <a:blip xmlns:r="http://schemas.openxmlformats.org/officeDocument/2006/relationships" xmlns:a="http://schemas.openxmlformats.org/drawingml/2006/main" r:embed="Rc19be53e5afb4bcc"/>
          <a:stretch xmlns:a="http://schemas.openxmlformats.org/drawingml/2006/main"/>
        </p:blipFill>
        <p:spPr>
          <a:xfrm xmlns:a="http://schemas.openxmlformats.org/drawingml/2006/main">
            <a:off x="2076470" y="1495425"/>
            <a:ext cx="8039060" cy="4524375"/>
          </a:xfrm>
          <a:prstGeom xmlns:a="http://schemas.openxmlformats.org/drawingml/2006/main" prst="rect">
            <a:avLst/>
          </a:prstGeom>
        </p:spPr>
      </p:pic>
    </p:spTree>
    <p:extLst>
      <p:ext uri="{BB962C8B-B14F-4D97-AF65-F5344CB8AC3E}">
        <p14:creationId xmlns:p14="http://schemas.microsoft.com/office/powerpoint/2010/main" val="829075584"/>
      </p:ext>
    </p:extLst>
  </p:cSld>
</p:sld>
</file>

<file path=ppt/slides/slide9.xml><?xml version="1.0" encoding="utf-8"?>
<p:sld xmlns:p="http://schemas.openxmlformats.org/presentationml/2006/main">
  <p:cSld>
    <p:bg>
      <p:bgPr>
        <a:solidFill xmlns:a="http://schemas.openxmlformats.org/drawingml/2006/main">
          <a:srgbClr val="0D1118"/>
        </a:solidFill>
      </p:bgPr>
    </p:bg>
    <p:spTree>
      <p:nvGrpSpPr>
        <p:cNvPr id="1" name=""/>
        <p:cNvGrpSpPr/>
        <p:nvPr/>
      </p:nvGrpSpPr>
      <p:grpSpPr>
        <a:xfrm xmlns:a="http://schemas.openxmlformats.org/drawingml/2006/main"/>
      </p:grpSpPr>
      <p:sp>
        <p:nvSpPr>
          <p:cNvPr id="5" name="Historial de sesiones">
            <a:extLst xmlns:a="http://schemas.openxmlformats.org/drawingml/2006/main">
              <a:ext uri="{FF2B5EF4-FFF2-40B4-BE49-F238E27FC236}">
                <a16:creationId xmlns:a16="http://schemas.microsoft.com/office/drawing/2014/main" id="{65FC42DB-4914-4A42-A72C-624A027FBDA8}"/>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5F7FB"/>
                </a:solidFill>
                <a:latin typeface="Calibri"/>
                <a:ea typeface="Calibri"/>
                <a:cs typeface="Calibri"/>
              </a:defRPr>
            </a:defPPr>
          </a:lstStyle>
          <a:p xmlns:a="http://schemas.openxmlformats.org/drawingml/2006/main">
            <a:pPr algn="l">
              <a:defRPr sz="3300" b="1">
                <a:solidFill>
                  <a:srgbClr val="F5F7FB"/>
                </a:solidFill>
                <a:latin typeface="Calibri"/>
                <a:ea typeface="Calibri"/>
                <a:cs typeface="Calibri"/>
              </a:defRPr>
            </a:pPr>
            <a:r>
              <a:rPr sz="3300" b="1">
                <a:solidFill>
                  <a:srgbClr val="F5F7FB"/>
                </a:solidFill>
                <a:latin typeface="Calibri"/>
                <a:ea typeface="Calibri"/>
                <a:cs typeface="Calibri"/>
              </a:rPr>
              <a:t>Historial de sesiones</a:t>
            </a:r>
          </a:p>
        </p:txBody>
      </p:sp>
      <p:sp>
        <p:nvSpPr>
          <p:cNvPr id="2" name="Diseño propuesto para la persistencia SQLite">
            <a:extLst xmlns:a="http://schemas.openxmlformats.org/drawingml/2006/main">
              <a:ext uri="{FF2B5EF4-FFF2-40B4-BE49-F238E27FC236}">
                <a16:creationId xmlns:a16="http://schemas.microsoft.com/office/drawing/2014/main" id="{7F4E99E7-D855-4E2B-9E99-0221FB05F173}"/>
              </a:ext>
            </a:extLst>
          </p:cNvPr>
          <p:cNvSpPr>
            <a:spLocks xmlns:a="http://schemas.openxmlformats.org/drawingml/2006/main" noGrp="1"/>
          </p:cNvSpPr>
          <p:nvPr/>
        </p:nvSpPr>
        <p:spPr>
          <a:xfrm xmlns:a="http://schemas.openxmlformats.org/drawingml/2006/main">
            <a:off x="609600" y="6229350"/>
            <a:ext cx="1019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6C0D0"/>
                </a:solidFill>
                <a:latin typeface="Calibri"/>
                <a:ea typeface="Calibri"/>
                <a:cs typeface="Calibri"/>
              </a:defRPr>
            </a:defPPr>
          </a:lstStyle>
          <a:p xmlns:a="http://schemas.openxmlformats.org/drawingml/2006/main">
            <a:pPr algn="l">
              <a:defRPr sz="1500" b="0">
                <a:solidFill>
                  <a:srgbClr val="B6C0D0"/>
                </a:solidFill>
                <a:latin typeface="Calibri"/>
                <a:ea typeface="Calibri"/>
                <a:cs typeface="Calibri"/>
              </a:defRPr>
            </a:pPr>
            <a:r>
              <a:rPr sz="1500" b="0">
                <a:solidFill>
                  <a:srgbClr val="B6C0D0"/>
                </a:solidFill>
                <a:latin typeface="Calibri"/>
                <a:ea typeface="Calibri"/>
                <a:cs typeface="Calibri"/>
              </a:rPr>
              <a:t>Diseño propuesto para la persistencia SQLite</a:t>
            </a:r>
          </a:p>
        </p:txBody>
      </p:sp>
      <p:sp>
        <p:nvSpPr>
          <p:cNvPr id="3" name="09">
            <a:extLst xmlns:a="http://schemas.openxmlformats.org/drawingml/2006/main">
              <a:ext uri="{FF2B5EF4-FFF2-40B4-BE49-F238E27FC236}">
                <a16:creationId xmlns:a16="http://schemas.microsoft.com/office/drawing/2014/main" id="{9669322C-1BCF-497D-9EBE-D78FF5A4DC4D}"/>
              </a:ext>
            </a:extLst>
          </p:cNvPr>
          <p:cNvSpPr>
            <a:spLocks xmlns:a="http://schemas.openxmlformats.org/drawingml/2006/main" noGrp="1"/>
          </p:cNvSpPr>
          <p:nvPr/>
        </p:nvSpPr>
        <p:spPr>
          <a:xfrm xmlns:a="http://schemas.openxmlformats.org/drawingml/2006/main">
            <a:off x="11125200" y="62293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6C0D0"/>
                </a:solidFill>
                <a:latin typeface="Calibri"/>
                <a:ea typeface="Calibri"/>
                <a:cs typeface="Calibri"/>
              </a:defRPr>
            </a:defPPr>
          </a:lstStyle>
          <a:p xmlns:a="http://schemas.openxmlformats.org/drawingml/2006/main">
            <a:pPr algn="r">
              <a:defRPr sz="1500" b="0">
                <a:solidFill>
                  <a:srgbClr val="B6C0D0"/>
                </a:solidFill>
                <a:latin typeface="Calibri"/>
                <a:ea typeface="Calibri"/>
                <a:cs typeface="Calibri"/>
              </a:defRPr>
            </a:pPr>
            <a:r>
              <a:rPr sz="1500" b="0">
                <a:solidFill>
                  <a:srgbClr val="B6C0D0"/>
                </a:solidFill>
                <a:latin typeface="Calibri"/>
                <a:ea typeface="Calibri"/>
                <a:cs typeface="Calibri"/>
              </a:rPr>
              <a:t>09</a:t>
            </a:r>
          </a:p>
        </p:txBody>
      </p:sp>
      <p:pic>
        <p:nvPicPr>
          <p:cNvPr id="4" name="">
            <a:extLst xmlns:a="http://schemas.openxmlformats.org/drawingml/2006/main">
              <a:ext uri="{FF2B5EF4-FFF2-40B4-BE49-F238E27FC236}">
                <a16:creationId xmlns:a16="http://schemas.microsoft.com/office/drawing/2014/main" id="{46471C25-9652-4FE4-9634-6471FAB526EE}"/>
              </a:ext>
            </a:extLst>
          </p:cNvPr>
          <p:cNvPicPr>
            <a:picLocks xmlns:a="http://schemas.openxmlformats.org/drawingml/2006/main" noChangeAspect="1"/>
          </p:cNvPicPr>
          <p:nvPr/>
        </p:nvPicPr>
        <p:blipFill>
          <a:blip xmlns:r="http://schemas.openxmlformats.org/officeDocument/2006/relationships" xmlns:a="http://schemas.openxmlformats.org/drawingml/2006/main" r:embed="R76890b314d414a91"/>
          <a:stretch xmlns:a="http://schemas.openxmlformats.org/drawingml/2006/main"/>
        </p:blipFill>
        <p:spPr>
          <a:xfrm xmlns:a="http://schemas.openxmlformats.org/drawingml/2006/main">
            <a:off x="2076470" y="1495425"/>
            <a:ext cx="8039060" cy="4524375"/>
          </a:xfrm>
          <a:prstGeom xmlns:a="http://schemas.openxmlformats.org/drawingml/2006/main" prst="rect">
            <a:avLst/>
          </a:prstGeom>
        </p:spPr>
      </p:pic>
    </p:spTree>
    <p:extLst>
      <p:ext uri="{BB962C8B-B14F-4D97-AF65-F5344CB8AC3E}">
        <p14:creationId xmlns:p14="http://schemas.microsoft.com/office/powerpoint/2010/main" val="2019478806"/>
      </p:ext>
    </p:extLst>
  </p:cSld>
</p:sld>
</file>

<file path=ppt/slides/slide10.xml><?xml version="1.0" encoding="utf-8"?>
<p:sld xmlns:p="http://schemas.openxmlformats.org/presentationml/2006/main">
  <p:cSld>
    <p:bg>
      <p:bgPr>
        <a:solidFill xmlns:a="http://schemas.openxmlformats.org/drawingml/2006/main">
          <a:srgbClr val="0D1118"/>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ABB26026-6B89-4D7D-BD8E-1AF67CD296C0}"/>
              </a:ext>
            </a:extLst>
          </p:cNvPr>
          <p:cNvCxnSpPr>
            <a:stCxn xmlns:a="http://schemas.openxmlformats.org/drawingml/2006/main" id="5" idx="3"/>
            <a:endCxn xmlns:a="http://schemas.openxmlformats.org/drawingml/2006/main" id="6" idx="1"/>
          </p:cNvCxnSpPr>
          <p:nvPr/>
        </p:nvCxnSpPr>
        <p:spPr>
          <a:xfrm xmlns:a="http://schemas.openxmlformats.org/drawingml/2006/main">
            <a:off x="8782050" y="2643188"/>
            <a:ext cx="361950" cy="0"/>
          </a:xfrm>
          <a:prstGeom xmlns:a="http://schemas.openxmlformats.org/drawingml/2006/main" prst="straightConnector1">
            <a:avLst/>
          </a:prstGeom>
          <a:ln xmlns:a="http://schemas.openxmlformats.org/drawingml/2006/main" w="19050">
            <a:solidFill>
              <a:srgbClr val="B6C0D0"/>
            </a:solidFill>
            <a:prstDash val="dash"/>
            <a:tailEnd type="triangle" w="sm" len="sm"/>
          </a:ln>
        </p:spPr>
      </p:cxnSp>
      <p:cxnSp>
        <p:nvCxnSpPr>
          <p:cNvPr id="8" name="">
            <a:extLst xmlns:a="http://schemas.openxmlformats.org/drawingml/2006/main">
              <a:ext uri="{FF2B5EF4-FFF2-40B4-BE49-F238E27FC236}">
                <a16:creationId xmlns:a16="http://schemas.microsoft.com/office/drawing/2014/main" id="{352FAD3E-DC0C-4894-B879-EB2B6348E991}"/>
              </a:ext>
            </a:extLst>
          </p:cNvPr>
          <p:cNvCxnSpPr>
            <a:stCxn xmlns:a="http://schemas.openxmlformats.org/drawingml/2006/main" id="4" idx="3"/>
            <a:endCxn xmlns:a="http://schemas.openxmlformats.org/drawingml/2006/main" id="5" idx="1"/>
          </p:cNvCxnSpPr>
          <p:nvPr/>
        </p:nvCxnSpPr>
        <p:spPr>
          <a:xfrm xmlns:a="http://schemas.openxmlformats.org/drawingml/2006/main">
            <a:off x="5886450" y="2643188"/>
            <a:ext cx="361950" cy="0"/>
          </a:xfrm>
          <a:prstGeom xmlns:a="http://schemas.openxmlformats.org/drawingml/2006/main" prst="straightConnector1">
            <a:avLst/>
          </a:prstGeom>
          <a:ln xmlns:a="http://schemas.openxmlformats.org/drawingml/2006/main" w="19050">
            <a:solidFill>
              <a:srgbClr val="B6C0D0"/>
            </a:solidFill>
            <a:prstDash val="solid"/>
            <a:tailEnd type="triangle" w="sm" len="sm"/>
          </a:ln>
        </p:spPr>
      </p:cxnSp>
      <p:cxnSp>
        <p:nvCxnSpPr>
          <p:cNvPr id="7" name="">
            <a:extLst xmlns:a="http://schemas.openxmlformats.org/drawingml/2006/main">
              <a:ext uri="{FF2B5EF4-FFF2-40B4-BE49-F238E27FC236}">
                <a16:creationId xmlns:a16="http://schemas.microsoft.com/office/drawing/2014/main" id="{79F257CC-88CF-4F9D-9DE9-60E1B5CE5E97}"/>
              </a:ext>
            </a:extLst>
          </p:cNvPr>
          <p:cNvCxnSpPr>
            <a:stCxn xmlns:a="http://schemas.openxmlformats.org/drawingml/2006/main" id="3" idx="3"/>
            <a:endCxn xmlns:a="http://schemas.openxmlformats.org/drawingml/2006/main" id="4" idx="1"/>
          </p:cNvCxnSpPr>
          <p:nvPr/>
        </p:nvCxnSpPr>
        <p:spPr>
          <a:xfrm xmlns:a="http://schemas.openxmlformats.org/drawingml/2006/main">
            <a:off x="2990850" y="2643188"/>
            <a:ext cx="361950" cy="0"/>
          </a:xfrm>
          <a:prstGeom xmlns:a="http://schemas.openxmlformats.org/drawingml/2006/main" prst="straightConnector1">
            <a:avLst/>
          </a:prstGeom>
          <a:ln xmlns:a="http://schemas.openxmlformats.org/drawingml/2006/main" w="19050">
            <a:solidFill>
              <a:srgbClr val="B6C0D0"/>
            </a:solidFill>
            <a:prstDash val="solid"/>
            <a:tailEnd type="triangle" w="sm" len="sm"/>
          </a:ln>
        </p:spPr>
      </p:cxnSp>
      <p:sp>
        <p:nvSpPr>
          <p:cNvPr id="15" name="Arquitectura del proyecto">
            <a:extLst xmlns:a="http://schemas.openxmlformats.org/drawingml/2006/main">
              <a:ext uri="{FF2B5EF4-FFF2-40B4-BE49-F238E27FC236}">
                <a16:creationId xmlns:a16="http://schemas.microsoft.com/office/drawing/2014/main" id="{FE6D8222-5545-475C-A480-4E58E2ACD0E6}"/>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5F7FB"/>
                </a:solidFill>
                <a:latin typeface="Calibri"/>
                <a:ea typeface="Calibri"/>
                <a:cs typeface="Calibri"/>
              </a:defRPr>
            </a:defPPr>
          </a:lstStyle>
          <a:p xmlns:a="http://schemas.openxmlformats.org/drawingml/2006/main">
            <a:pPr algn="l">
              <a:defRPr sz="3300" b="1">
                <a:solidFill>
                  <a:srgbClr val="F5F7FB"/>
                </a:solidFill>
                <a:latin typeface="Calibri"/>
                <a:ea typeface="Calibri"/>
                <a:cs typeface="Calibri"/>
              </a:defRPr>
            </a:pPr>
            <a:r>
              <a:rPr sz="3300" b="1">
                <a:solidFill>
                  <a:srgbClr val="F5F7FB"/>
                </a:solidFill>
                <a:latin typeface="Calibri"/>
                <a:ea typeface="Calibri"/>
                <a:cs typeface="Calibri"/>
              </a:rPr>
              <a:t>Arquitectura del proyecto</a:t>
            </a:r>
          </a:p>
        </p:txBody>
      </p:sp>
      <p:sp>
        <p:nvSpPr>
          <p:cNvPr id="2" name="10">
            <a:extLst xmlns:a="http://schemas.openxmlformats.org/drawingml/2006/main">
              <a:ext uri="{FF2B5EF4-FFF2-40B4-BE49-F238E27FC236}">
                <a16:creationId xmlns:a16="http://schemas.microsoft.com/office/drawing/2014/main" id="{D4067915-443D-4C52-A7FF-E3AD83C4A6CC}"/>
              </a:ext>
            </a:extLst>
          </p:cNvPr>
          <p:cNvSpPr>
            <a:spLocks xmlns:a="http://schemas.openxmlformats.org/drawingml/2006/main" noGrp="1"/>
          </p:cNvSpPr>
          <p:nvPr/>
        </p:nvSpPr>
        <p:spPr>
          <a:xfrm xmlns:a="http://schemas.openxmlformats.org/drawingml/2006/main">
            <a:off x="11125200" y="62293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6C0D0"/>
                </a:solidFill>
                <a:latin typeface="Calibri"/>
                <a:ea typeface="Calibri"/>
                <a:cs typeface="Calibri"/>
              </a:defRPr>
            </a:defPPr>
          </a:lstStyle>
          <a:p xmlns:a="http://schemas.openxmlformats.org/drawingml/2006/main">
            <a:pPr algn="r">
              <a:defRPr sz="1500" b="0">
                <a:solidFill>
                  <a:srgbClr val="B6C0D0"/>
                </a:solidFill>
                <a:latin typeface="Calibri"/>
                <a:ea typeface="Calibri"/>
                <a:cs typeface="Calibri"/>
              </a:defRPr>
            </a:pPr>
            <a:r>
              <a:rPr sz="1500" b="0">
                <a:solidFill>
                  <a:srgbClr val="B6C0D0"/>
                </a:solidFill>
                <a:latin typeface="Calibri"/>
                <a:ea typeface="Calibri"/>
                <a:cs typeface="Calibri"/>
              </a:rPr>
              <a:t>10</a:t>
            </a:r>
          </a:p>
        </p:txBody>
      </p:sp>
      <p:sp>
        <p:nvSpPr>
          <p:cNvPr id="3" name="Capture&#10;C++20">
            <a:extLst xmlns:a="http://schemas.openxmlformats.org/drawingml/2006/main">
              <a:ext uri="{FF2B5EF4-FFF2-40B4-BE49-F238E27FC236}">
                <a16:creationId xmlns:a16="http://schemas.microsoft.com/office/drawing/2014/main" id="{BAF07DF8-3D6B-4746-9B88-F3DCB28297C2}"/>
              </a:ext>
            </a:extLst>
          </p:cNvPr>
          <p:cNvSpPr>
            <a:spLocks xmlns:a="http://schemas.openxmlformats.org/drawingml/2006/main" noGrp="1"/>
          </p:cNvSpPr>
          <p:nvPr/>
        </p:nvSpPr>
        <p:spPr>
          <a:xfrm xmlns:a="http://schemas.openxmlformats.org/drawingml/2006/main">
            <a:off x="457200" y="2095500"/>
            <a:ext cx="2533650" cy="1095375"/>
          </a:xfrm>
          <a:prstGeom xmlns:a="http://schemas.openxmlformats.org/drawingml/2006/main" prst="roundRect">
            <a:avLst>
              <a:gd name="adj" fmla="val 8696"/>
            </a:avLst>
          </a:prstGeom>
          <a:solidFill xmlns:a="http://schemas.openxmlformats.org/drawingml/2006/main">
            <a:srgbClr val="151E29"/>
          </a:solidFill>
          <a:ln xmlns:a="http://schemas.openxmlformats.org/drawingml/2006/main" w="19050">
            <a:solidFill>
              <a:srgbClr val="69E5BA"/>
            </a:solidFill>
            <a:prstDash val="solid"/>
          </a:ln>
        </p:spPr>
        <p:txBody>
          <a:bodyPr xmlns:a="http://schemas.openxmlformats.org/drawingml/2006/main" lIns="114300" tIns="114300" rIns="114300" bIns="114300" anchor="ctr">
            <a:noAutofit/>
          </a:bodyPr>
          <a:lstStyle xmlns:a="http://schemas.openxmlformats.org/drawingml/2006/main">
            <a:defPPr algn="ctr">
              <a:defRPr sz="2175" b="1">
                <a:solidFill>
                  <a:srgbClr val="F5F7FB"/>
                </a:solidFill>
                <a:latin typeface="Calibri"/>
                <a:ea typeface="Calibri"/>
                <a:cs typeface="Calibri"/>
              </a:defRPr>
            </a:defPPr>
          </a:lstStyle>
          <a:p xmlns:a="http://schemas.openxmlformats.org/drawingml/2006/main">
            <a:pPr algn="ctr">
              <a:defRPr sz="2175" b="1">
                <a:solidFill>
                  <a:srgbClr val="F5F7FB"/>
                </a:solidFill>
                <a:latin typeface="Calibri"/>
                <a:ea typeface="Calibri"/>
                <a:cs typeface="Calibri"/>
              </a:defRPr>
            </a:pPr>
            <a:r>
              <a:rPr sz="2175" b="1">
                <a:solidFill>
                  <a:srgbClr val="F5F7FB"/>
                </a:solidFill>
                <a:latin typeface="Calibri"/>
                <a:ea typeface="Calibri"/>
                <a:cs typeface="Calibri"/>
              </a:rPr>
              <a:t>Capture</a:t>
            </a:r>
          </a:p>
          <a:p xmlns:a="http://schemas.openxmlformats.org/drawingml/2006/main">
            <a:pPr algn="ctr">
              <a:defRPr sz="2175" b="1">
                <a:solidFill>
                  <a:srgbClr val="F5F7FB"/>
                </a:solidFill>
                <a:latin typeface="Calibri"/>
                <a:ea typeface="Calibri"/>
                <a:cs typeface="Calibri"/>
              </a:defRPr>
            </a:pPr>
            <a:r>
              <a:rPr sz="2175" b="1">
                <a:solidFill>
                  <a:srgbClr val="F5F7FB"/>
                </a:solidFill>
                <a:latin typeface="Calibri"/>
                <a:ea typeface="Calibri"/>
                <a:cs typeface="Calibri"/>
              </a:rPr>
              <a:t>C++20</a:t>
            </a:r>
          </a:p>
        </p:txBody>
      </p:sp>
      <p:sp>
        <p:nvSpPr>
          <p:cNvPr id="4" name="Bridge&#10;Memoria compartida">
            <a:extLst xmlns:a="http://schemas.openxmlformats.org/drawingml/2006/main">
              <a:ext uri="{FF2B5EF4-FFF2-40B4-BE49-F238E27FC236}">
                <a16:creationId xmlns:a16="http://schemas.microsoft.com/office/drawing/2014/main" id="{93915F18-5FFC-4EDB-B499-EEAC85C1F5F4}"/>
              </a:ext>
            </a:extLst>
          </p:cNvPr>
          <p:cNvSpPr>
            <a:spLocks xmlns:a="http://schemas.openxmlformats.org/drawingml/2006/main" noGrp="1"/>
          </p:cNvSpPr>
          <p:nvPr/>
        </p:nvSpPr>
        <p:spPr>
          <a:xfrm xmlns:a="http://schemas.openxmlformats.org/drawingml/2006/main">
            <a:off x="3352800" y="2095500"/>
            <a:ext cx="2533650" cy="1095375"/>
          </a:xfrm>
          <a:prstGeom xmlns:a="http://schemas.openxmlformats.org/drawingml/2006/main" prst="roundRect">
            <a:avLst>
              <a:gd name="adj" fmla="val 8696"/>
            </a:avLst>
          </a:prstGeom>
          <a:solidFill xmlns:a="http://schemas.openxmlformats.org/drawingml/2006/main">
            <a:srgbClr val="151E29"/>
          </a:solidFill>
          <a:ln xmlns:a="http://schemas.openxmlformats.org/drawingml/2006/main" w="19050">
            <a:solidFill>
              <a:srgbClr val="69E5BA"/>
            </a:solidFill>
            <a:prstDash val="solid"/>
          </a:ln>
        </p:spPr>
        <p:txBody>
          <a:bodyPr xmlns:a="http://schemas.openxmlformats.org/drawingml/2006/main" lIns="114300" tIns="114300" rIns="114300" bIns="114300" anchor="ctr">
            <a:noAutofit/>
          </a:bodyPr>
          <a:lstStyle xmlns:a="http://schemas.openxmlformats.org/drawingml/2006/main">
            <a:defPPr algn="ctr">
              <a:defRPr sz="2175" b="1">
                <a:solidFill>
                  <a:srgbClr val="F5F7FB"/>
                </a:solidFill>
                <a:latin typeface="Calibri"/>
                <a:ea typeface="Calibri"/>
                <a:cs typeface="Calibri"/>
              </a:defRPr>
            </a:defPPr>
          </a:lstStyle>
          <a:p xmlns:a="http://schemas.openxmlformats.org/drawingml/2006/main">
            <a:pPr algn="ctr">
              <a:defRPr sz="2175" b="1">
                <a:solidFill>
                  <a:srgbClr val="F5F7FB"/>
                </a:solidFill>
                <a:latin typeface="Calibri"/>
                <a:ea typeface="Calibri"/>
                <a:cs typeface="Calibri"/>
              </a:defRPr>
            </a:pPr>
            <a:r>
              <a:rPr sz="2175" b="1">
                <a:solidFill>
                  <a:srgbClr val="F5F7FB"/>
                </a:solidFill>
                <a:latin typeface="Calibri"/>
                <a:ea typeface="Calibri"/>
                <a:cs typeface="Calibri"/>
              </a:rPr>
              <a:t>Bridge</a:t>
            </a:r>
          </a:p>
          <a:p xmlns:a="http://schemas.openxmlformats.org/drawingml/2006/main">
            <a:pPr algn="ctr">
              <a:defRPr sz="2175" b="1">
                <a:solidFill>
                  <a:srgbClr val="F5F7FB"/>
                </a:solidFill>
                <a:latin typeface="Calibri"/>
                <a:ea typeface="Calibri"/>
                <a:cs typeface="Calibri"/>
              </a:defRPr>
            </a:pPr>
            <a:r>
              <a:rPr sz="2175" b="1">
                <a:solidFill>
                  <a:srgbClr val="F5F7FB"/>
                </a:solidFill>
                <a:latin typeface="Calibri"/>
                <a:ea typeface="Calibri"/>
                <a:cs typeface="Calibri"/>
              </a:rPr>
              <a:t>Memoria compartida</a:t>
            </a:r>
          </a:p>
        </p:txBody>
      </p:sp>
      <p:sp>
        <p:nvSpPr>
          <p:cNvPr id="5" name="Vision&#10;NumPy y OpenCV">
            <a:extLst xmlns:a="http://schemas.openxmlformats.org/drawingml/2006/main">
              <a:ext uri="{FF2B5EF4-FFF2-40B4-BE49-F238E27FC236}">
                <a16:creationId xmlns:a16="http://schemas.microsoft.com/office/drawing/2014/main" id="{CE68C4C4-84A4-4376-8116-42A72E634BFB}"/>
              </a:ext>
            </a:extLst>
          </p:cNvPr>
          <p:cNvSpPr>
            <a:spLocks xmlns:a="http://schemas.openxmlformats.org/drawingml/2006/main" noGrp="1"/>
          </p:cNvSpPr>
          <p:nvPr/>
        </p:nvSpPr>
        <p:spPr>
          <a:xfrm xmlns:a="http://schemas.openxmlformats.org/drawingml/2006/main">
            <a:off x="6248400" y="2095500"/>
            <a:ext cx="2533650" cy="1095375"/>
          </a:xfrm>
          <a:prstGeom xmlns:a="http://schemas.openxmlformats.org/drawingml/2006/main" prst="roundRect">
            <a:avLst>
              <a:gd name="adj" fmla="val 8696"/>
            </a:avLst>
          </a:prstGeom>
          <a:solidFill xmlns:a="http://schemas.openxmlformats.org/drawingml/2006/main">
            <a:srgbClr val="151E29"/>
          </a:solidFill>
          <a:ln xmlns:a="http://schemas.openxmlformats.org/drawingml/2006/main" w="19050">
            <a:solidFill>
              <a:srgbClr val="69E5BA"/>
            </a:solidFill>
            <a:prstDash val="solid"/>
          </a:ln>
        </p:spPr>
        <p:txBody>
          <a:bodyPr xmlns:a="http://schemas.openxmlformats.org/drawingml/2006/main" lIns="114300" tIns="114300" rIns="114300" bIns="114300" anchor="ctr">
            <a:noAutofit/>
          </a:bodyPr>
          <a:lstStyle xmlns:a="http://schemas.openxmlformats.org/drawingml/2006/main">
            <a:defPPr algn="ctr">
              <a:defRPr sz="2175" b="1">
                <a:solidFill>
                  <a:srgbClr val="F5F7FB"/>
                </a:solidFill>
                <a:latin typeface="Calibri"/>
                <a:ea typeface="Calibri"/>
                <a:cs typeface="Calibri"/>
              </a:defRPr>
            </a:defPPr>
          </a:lstStyle>
          <a:p xmlns:a="http://schemas.openxmlformats.org/drawingml/2006/main">
            <a:pPr algn="ctr">
              <a:defRPr sz="2175" b="1">
                <a:solidFill>
                  <a:srgbClr val="F5F7FB"/>
                </a:solidFill>
                <a:latin typeface="Calibri"/>
                <a:ea typeface="Calibri"/>
                <a:cs typeface="Calibri"/>
              </a:defRPr>
            </a:pPr>
            <a:r>
              <a:rPr sz="2175" b="1">
                <a:solidFill>
                  <a:srgbClr val="F5F7FB"/>
                </a:solidFill>
                <a:latin typeface="Calibri"/>
                <a:ea typeface="Calibri"/>
                <a:cs typeface="Calibri"/>
              </a:rPr>
              <a:t>Vision</a:t>
            </a:r>
          </a:p>
          <a:p xmlns:a="http://schemas.openxmlformats.org/drawingml/2006/main">
            <a:pPr algn="ctr">
              <a:defRPr sz="2175" b="1">
                <a:solidFill>
                  <a:srgbClr val="F5F7FB"/>
                </a:solidFill>
                <a:latin typeface="Calibri"/>
                <a:ea typeface="Calibri"/>
                <a:cs typeface="Calibri"/>
              </a:defRPr>
            </a:pPr>
            <a:r>
              <a:rPr sz="2175" b="1">
                <a:solidFill>
                  <a:srgbClr val="F5F7FB"/>
                </a:solidFill>
                <a:latin typeface="Calibri"/>
                <a:ea typeface="Calibri"/>
                <a:cs typeface="Calibri"/>
              </a:rPr>
              <a:t>NumPy y OpenCV</a:t>
            </a:r>
          </a:p>
        </p:txBody>
      </p:sp>
      <p:sp>
        <p:nvSpPr>
          <p:cNvPr id="6" name="Insight&#10;Métricas y SQLite">
            <a:extLst xmlns:a="http://schemas.openxmlformats.org/drawingml/2006/main">
              <a:ext uri="{FF2B5EF4-FFF2-40B4-BE49-F238E27FC236}">
                <a16:creationId xmlns:a16="http://schemas.microsoft.com/office/drawing/2014/main" id="{31113264-BA3B-456F-918B-9BA3C03C11CD}"/>
              </a:ext>
            </a:extLst>
          </p:cNvPr>
          <p:cNvSpPr>
            <a:spLocks xmlns:a="http://schemas.openxmlformats.org/drawingml/2006/main" noGrp="1"/>
          </p:cNvSpPr>
          <p:nvPr/>
        </p:nvSpPr>
        <p:spPr>
          <a:xfrm xmlns:a="http://schemas.openxmlformats.org/drawingml/2006/main">
            <a:off x="9144000" y="2095500"/>
            <a:ext cx="2533650" cy="1095375"/>
          </a:xfrm>
          <a:prstGeom xmlns:a="http://schemas.openxmlformats.org/drawingml/2006/main" prst="roundRect">
            <a:avLst>
              <a:gd name="adj" fmla="val 8696"/>
            </a:avLst>
          </a:prstGeom>
          <a:solidFill xmlns:a="http://schemas.openxmlformats.org/drawingml/2006/main">
            <a:srgbClr val="151E29"/>
          </a:solidFill>
          <a:ln xmlns:a="http://schemas.openxmlformats.org/drawingml/2006/main" w="19050">
            <a:solidFill>
              <a:srgbClr val="B397F6"/>
            </a:solidFill>
            <a:prstDash val="dash"/>
          </a:ln>
        </p:spPr>
        <p:txBody>
          <a:bodyPr xmlns:a="http://schemas.openxmlformats.org/drawingml/2006/main" lIns="114300" tIns="114300" rIns="114300" bIns="114300" anchor="ctr">
            <a:noAutofit/>
          </a:bodyPr>
          <a:lstStyle xmlns:a="http://schemas.openxmlformats.org/drawingml/2006/main">
            <a:defPPr algn="ctr">
              <a:defRPr sz="2175" b="1">
                <a:solidFill>
                  <a:srgbClr val="F5F7FB"/>
                </a:solidFill>
                <a:latin typeface="Calibri"/>
                <a:ea typeface="Calibri"/>
                <a:cs typeface="Calibri"/>
              </a:defRPr>
            </a:defPPr>
          </a:lstStyle>
          <a:p xmlns:a="http://schemas.openxmlformats.org/drawingml/2006/main">
            <a:pPr algn="ctr">
              <a:defRPr sz="2175" b="1">
                <a:solidFill>
                  <a:srgbClr val="F5F7FB"/>
                </a:solidFill>
                <a:latin typeface="Calibri"/>
                <a:ea typeface="Calibri"/>
                <a:cs typeface="Calibri"/>
              </a:defRPr>
            </a:pPr>
            <a:r>
              <a:rPr sz="2175" b="1">
                <a:solidFill>
                  <a:srgbClr val="F5F7FB"/>
                </a:solidFill>
                <a:latin typeface="Calibri"/>
                <a:ea typeface="Calibri"/>
                <a:cs typeface="Calibri"/>
              </a:rPr>
              <a:t>Insight</a:t>
            </a:r>
          </a:p>
          <a:p xmlns:a="http://schemas.openxmlformats.org/drawingml/2006/main">
            <a:pPr algn="ctr">
              <a:defRPr sz="2175" b="1">
                <a:solidFill>
                  <a:srgbClr val="F5F7FB"/>
                </a:solidFill>
                <a:latin typeface="Calibri"/>
                <a:ea typeface="Calibri"/>
                <a:cs typeface="Calibri"/>
              </a:defRPr>
            </a:pPr>
            <a:r>
              <a:rPr sz="2175" b="1">
                <a:solidFill>
                  <a:srgbClr val="F5F7FB"/>
                </a:solidFill>
                <a:latin typeface="Calibri"/>
                <a:ea typeface="Calibri"/>
                <a:cs typeface="Calibri"/>
              </a:rPr>
              <a:t>Métricas y SQLite</a:t>
            </a:r>
          </a:p>
        </p:txBody>
      </p:sp>
      <p:sp>
        <p:nvSpPr>
          <p:cNvPr id="10" name="Media Foundation&#10;V4L2&#10;AVFoundation">
            <a:extLst xmlns:a="http://schemas.openxmlformats.org/drawingml/2006/main">
              <a:ext uri="{FF2B5EF4-FFF2-40B4-BE49-F238E27FC236}">
                <a16:creationId xmlns:a16="http://schemas.microsoft.com/office/drawing/2014/main" id="{0FE96862-0A29-48F9-BE74-5B64CDBEED8E}"/>
              </a:ext>
            </a:extLst>
          </p:cNvPr>
          <p:cNvSpPr>
            <a:spLocks xmlns:a="http://schemas.openxmlformats.org/drawingml/2006/main" noGrp="1"/>
          </p:cNvSpPr>
          <p:nvPr/>
        </p:nvSpPr>
        <p:spPr>
          <a:xfrm xmlns:a="http://schemas.openxmlformats.org/drawingml/2006/main">
            <a:off x="457200" y="3505200"/>
            <a:ext cx="25431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6C0D0"/>
                </a:solidFill>
                <a:latin typeface="Calibri"/>
                <a:ea typeface="Calibri"/>
                <a:cs typeface="Calibri"/>
              </a:defRPr>
            </a:defPPr>
          </a:lstStyle>
          <a:p xmlns:a="http://schemas.openxmlformats.org/drawingml/2006/main">
            <a:pPr algn="l">
              <a:defRPr sz="1875" b="0">
                <a:solidFill>
                  <a:srgbClr val="B6C0D0"/>
                </a:solidFill>
                <a:latin typeface="Calibri"/>
                <a:ea typeface="Calibri"/>
                <a:cs typeface="Calibri"/>
              </a:defRPr>
            </a:pPr>
            <a:r>
              <a:rPr sz="1875" b="0">
                <a:solidFill>
                  <a:srgbClr val="B6C0D0"/>
                </a:solidFill>
                <a:latin typeface="Calibri"/>
                <a:ea typeface="Calibri"/>
                <a:cs typeface="Calibri"/>
              </a:rPr>
              <a:t>Media Foundation</a:t>
            </a:r>
          </a:p>
          <a:p xmlns:a="http://schemas.openxmlformats.org/drawingml/2006/main">
            <a:pPr algn="l">
              <a:defRPr sz="1875" b="0">
                <a:solidFill>
                  <a:srgbClr val="B6C0D0"/>
                </a:solidFill>
                <a:latin typeface="Calibri"/>
                <a:ea typeface="Calibri"/>
                <a:cs typeface="Calibri"/>
              </a:defRPr>
            </a:pPr>
            <a:r>
              <a:rPr sz="1875" b="0">
                <a:solidFill>
                  <a:srgbClr val="B6C0D0"/>
                </a:solidFill>
                <a:latin typeface="Calibri"/>
                <a:ea typeface="Calibri"/>
                <a:cs typeface="Calibri"/>
              </a:rPr>
              <a:t>V4L2</a:t>
            </a:r>
          </a:p>
          <a:p xmlns:a="http://schemas.openxmlformats.org/drawingml/2006/main">
            <a:pPr algn="l">
              <a:defRPr sz="1875" b="0">
                <a:solidFill>
                  <a:srgbClr val="B6C0D0"/>
                </a:solidFill>
                <a:latin typeface="Calibri"/>
                <a:ea typeface="Calibri"/>
                <a:cs typeface="Calibri"/>
              </a:defRPr>
            </a:pPr>
            <a:r>
              <a:rPr sz="1875" b="0">
                <a:solidFill>
                  <a:srgbClr val="B6C0D0"/>
                </a:solidFill>
                <a:latin typeface="Calibri"/>
                <a:ea typeface="Calibri"/>
                <a:cs typeface="Calibri"/>
              </a:rPr>
              <a:t>AVFoundation</a:t>
            </a:r>
          </a:p>
        </p:txBody>
      </p:sp>
      <p:sp>
        <p:nvSpPr>
          <p:cNvPr id="11" name="ORVX v1&#10;Tres slots&#10;Lectura del frame reciente">
            <a:extLst xmlns:a="http://schemas.openxmlformats.org/drawingml/2006/main">
              <a:ext uri="{FF2B5EF4-FFF2-40B4-BE49-F238E27FC236}">
                <a16:creationId xmlns:a16="http://schemas.microsoft.com/office/drawing/2014/main" id="{F6D96E09-5D3E-4E50-93D1-643F6E6AF0FA}"/>
              </a:ext>
            </a:extLst>
          </p:cNvPr>
          <p:cNvSpPr>
            <a:spLocks xmlns:a="http://schemas.openxmlformats.org/drawingml/2006/main" noGrp="1"/>
          </p:cNvSpPr>
          <p:nvPr/>
        </p:nvSpPr>
        <p:spPr>
          <a:xfrm xmlns:a="http://schemas.openxmlformats.org/drawingml/2006/main">
            <a:off x="3362325" y="3505200"/>
            <a:ext cx="25717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6C0D0"/>
                </a:solidFill>
                <a:latin typeface="Calibri"/>
                <a:ea typeface="Calibri"/>
                <a:cs typeface="Calibri"/>
              </a:defRPr>
            </a:defPPr>
          </a:lstStyle>
          <a:p xmlns:a="http://schemas.openxmlformats.org/drawingml/2006/main">
            <a:pPr algn="l">
              <a:defRPr sz="1875" b="0">
                <a:solidFill>
                  <a:srgbClr val="B6C0D0"/>
                </a:solidFill>
                <a:latin typeface="Calibri"/>
                <a:ea typeface="Calibri"/>
                <a:cs typeface="Calibri"/>
              </a:defRPr>
            </a:pPr>
            <a:r>
              <a:rPr sz="1875" b="0">
                <a:solidFill>
                  <a:srgbClr val="B6C0D0"/>
                </a:solidFill>
                <a:latin typeface="Calibri"/>
                <a:ea typeface="Calibri"/>
                <a:cs typeface="Calibri"/>
              </a:rPr>
              <a:t>ORVX v1</a:t>
            </a:r>
          </a:p>
          <a:p xmlns:a="http://schemas.openxmlformats.org/drawingml/2006/main">
            <a:pPr algn="l">
              <a:defRPr sz="1875" b="0">
                <a:solidFill>
                  <a:srgbClr val="B6C0D0"/>
                </a:solidFill>
                <a:latin typeface="Calibri"/>
                <a:ea typeface="Calibri"/>
                <a:cs typeface="Calibri"/>
              </a:defRPr>
            </a:pPr>
            <a:r>
              <a:rPr sz="1875" b="0">
                <a:solidFill>
                  <a:srgbClr val="B6C0D0"/>
                </a:solidFill>
                <a:latin typeface="Calibri"/>
                <a:ea typeface="Calibri"/>
                <a:cs typeface="Calibri"/>
              </a:rPr>
              <a:t>Tres slots</a:t>
            </a:r>
          </a:p>
          <a:p xmlns:a="http://schemas.openxmlformats.org/drawingml/2006/main">
            <a:pPr algn="l">
              <a:defRPr sz="1875" b="0">
                <a:solidFill>
                  <a:srgbClr val="B6C0D0"/>
                </a:solidFill>
                <a:latin typeface="Calibri"/>
                <a:ea typeface="Calibri"/>
                <a:cs typeface="Calibri"/>
              </a:defRPr>
            </a:pPr>
            <a:r>
              <a:rPr sz="1875" b="0">
                <a:solidFill>
                  <a:srgbClr val="B6C0D0"/>
                </a:solidFill>
                <a:latin typeface="Calibri"/>
                <a:ea typeface="Calibri"/>
                <a:cs typeface="Calibri"/>
              </a:rPr>
              <a:t>Lectura del frame reciente</a:t>
            </a:r>
          </a:p>
        </p:txBody>
      </p:sp>
      <p:sp>
        <p:nvSpPr>
          <p:cNvPr id="12" name="RAW implementado&#10;Filtros en planificación">
            <a:extLst xmlns:a="http://schemas.openxmlformats.org/drawingml/2006/main">
              <a:ext uri="{FF2B5EF4-FFF2-40B4-BE49-F238E27FC236}">
                <a16:creationId xmlns:a16="http://schemas.microsoft.com/office/drawing/2014/main" id="{EA1E0B82-183B-4696-A6F6-F8B928E95BFD}"/>
              </a:ext>
            </a:extLst>
          </p:cNvPr>
          <p:cNvSpPr>
            <a:spLocks xmlns:a="http://schemas.openxmlformats.org/drawingml/2006/main" noGrp="1"/>
          </p:cNvSpPr>
          <p:nvPr/>
        </p:nvSpPr>
        <p:spPr>
          <a:xfrm xmlns:a="http://schemas.openxmlformats.org/drawingml/2006/main">
            <a:off x="6248400" y="3505200"/>
            <a:ext cx="2600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6C0D0"/>
                </a:solidFill>
                <a:latin typeface="Calibri"/>
                <a:ea typeface="Calibri"/>
                <a:cs typeface="Calibri"/>
              </a:defRPr>
            </a:defPPr>
          </a:lstStyle>
          <a:p xmlns:a="http://schemas.openxmlformats.org/drawingml/2006/main">
            <a:pPr algn="l">
              <a:defRPr sz="1875" b="0">
                <a:solidFill>
                  <a:srgbClr val="B6C0D0"/>
                </a:solidFill>
                <a:latin typeface="Calibri"/>
                <a:ea typeface="Calibri"/>
                <a:cs typeface="Calibri"/>
              </a:defRPr>
            </a:pPr>
            <a:r>
              <a:rPr sz="1875" b="0">
                <a:solidFill>
                  <a:srgbClr val="B6C0D0"/>
                </a:solidFill>
                <a:latin typeface="Calibri"/>
                <a:ea typeface="Calibri"/>
                <a:cs typeface="Calibri"/>
              </a:rPr>
              <a:t>RAW implementado</a:t>
            </a:r>
          </a:p>
          <a:p xmlns:a="http://schemas.openxmlformats.org/drawingml/2006/main">
            <a:pPr algn="l">
              <a:defRPr sz="1875" b="0">
                <a:solidFill>
                  <a:srgbClr val="B6C0D0"/>
                </a:solidFill>
                <a:latin typeface="Calibri"/>
                <a:ea typeface="Calibri"/>
                <a:cs typeface="Calibri"/>
              </a:defRPr>
            </a:pPr>
            <a:r>
              <a:rPr sz="1875" b="0">
                <a:solidFill>
                  <a:srgbClr val="B6C0D0"/>
                </a:solidFill>
                <a:latin typeface="Calibri"/>
                <a:ea typeface="Calibri"/>
                <a:cs typeface="Calibri"/>
              </a:rPr>
              <a:t>Filtros en planificación</a:t>
            </a:r>
          </a:p>
        </p:txBody>
      </p:sp>
      <p:sp>
        <p:nvSpPr>
          <p:cNvPr id="13" name="Métricas básicas actuales&#10;Persistencia propuesta">
            <a:extLst xmlns:a="http://schemas.openxmlformats.org/drawingml/2006/main">
              <a:ext uri="{FF2B5EF4-FFF2-40B4-BE49-F238E27FC236}">
                <a16:creationId xmlns:a16="http://schemas.microsoft.com/office/drawing/2014/main" id="{648188A3-1F5B-49FD-BA03-7545D239B853}"/>
              </a:ext>
            </a:extLst>
          </p:cNvPr>
          <p:cNvSpPr>
            <a:spLocks xmlns:a="http://schemas.openxmlformats.org/drawingml/2006/main" noGrp="1"/>
          </p:cNvSpPr>
          <p:nvPr/>
        </p:nvSpPr>
        <p:spPr>
          <a:xfrm xmlns:a="http://schemas.openxmlformats.org/drawingml/2006/main">
            <a:off x="9144000" y="3505200"/>
            <a:ext cx="2628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6C0D0"/>
                </a:solidFill>
                <a:latin typeface="Calibri"/>
                <a:ea typeface="Calibri"/>
                <a:cs typeface="Calibri"/>
              </a:defRPr>
            </a:defPPr>
          </a:lstStyle>
          <a:p xmlns:a="http://schemas.openxmlformats.org/drawingml/2006/main">
            <a:pPr algn="l">
              <a:defRPr sz="1875" b="0">
                <a:solidFill>
                  <a:srgbClr val="B6C0D0"/>
                </a:solidFill>
                <a:latin typeface="Calibri"/>
                <a:ea typeface="Calibri"/>
                <a:cs typeface="Calibri"/>
              </a:defRPr>
            </a:pPr>
            <a:r>
              <a:rPr sz="1875" b="0">
                <a:solidFill>
                  <a:srgbClr val="B6C0D0"/>
                </a:solidFill>
                <a:latin typeface="Calibri"/>
                <a:ea typeface="Calibri"/>
                <a:cs typeface="Calibri"/>
              </a:rPr>
              <a:t>Métricas básicas actuales</a:t>
            </a:r>
          </a:p>
          <a:p xmlns:a="http://schemas.openxmlformats.org/drawingml/2006/main">
            <a:pPr algn="l">
              <a:defRPr sz="1875" b="0">
                <a:solidFill>
                  <a:srgbClr val="B6C0D0"/>
                </a:solidFill>
                <a:latin typeface="Calibri"/>
                <a:ea typeface="Calibri"/>
                <a:cs typeface="Calibri"/>
              </a:defRPr>
            </a:pPr>
            <a:r>
              <a:rPr sz="1875" b="0">
                <a:solidFill>
                  <a:srgbClr val="B6C0D0"/>
                </a:solidFill>
                <a:latin typeface="Calibri"/>
                <a:ea typeface="Calibri"/>
                <a:cs typeface="Calibri"/>
              </a:rPr>
              <a:t>Persistencia propuesta</a:t>
            </a:r>
          </a:p>
        </p:txBody>
      </p:sp>
      <p:sp>
        <p:nvSpPr>
          <p:cNvPr id="14" name="Python recibe muestras del Bridge sin abrir la cámara">
            <a:extLst xmlns:a="http://schemas.openxmlformats.org/drawingml/2006/main">
              <a:ext uri="{FF2B5EF4-FFF2-40B4-BE49-F238E27FC236}">
                <a16:creationId xmlns:a16="http://schemas.microsoft.com/office/drawing/2014/main" id="{3D956EFC-90BC-4A52-B1D8-5B0095975798}"/>
              </a:ext>
            </a:extLst>
          </p:cNvPr>
          <p:cNvSpPr>
            <a:spLocks xmlns:a="http://schemas.openxmlformats.org/drawingml/2006/main" noGrp="1"/>
          </p:cNvSpPr>
          <p:nvPr/>
        </p:nvSpPr>
        <p:spPr>
          <a:xfrm xmlns:a="http://schemas.openxmlformats.org/drawingml/2006/main">
            <a:off x="457200" y="5048250"/>
            <a:ext cx="11191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9E5BA"/>
                </a:solidFill>
                <a:latin typeface="Calibri"/>
                <a:ea typeface="Calibri"/>
                <a:cs typeface="Calibri"/>
              </a:defRPr>
            </a:defPPr>
          </a:lstStyle>
          <a:p xmlns:a="http://schemas.openxmlformats.org/drawingml/2006/main">
            <a:pPr algn="l">
              <a:defRPr sz="2175" b="1">
                <a:solidFill>
                  <a:srgbClr val="69E5BA"/>
                </a:solidFill>
                <a:latin typeface="Calibri"/>
                <a:ea typeface="Calibri"/>
                <a:cs typeface="Calibri"/>
              </a:defRPr>
            </a:pPr>
            <a:r>
              <a:rPr sz="2175" b="1">
                <a:solidFill>
                  <a:srgbClr val="69E5BA"/>
                </a:solidFill>
                <a:latin typeface="Calibri"/>
                <a:ea typeface="Calibri"/>
                <a:cs typeface="Calibri"/>
              </a:rPr>
              <a:t>Python recibe muestras del Bridge sin abrir la cámara</a:t>
            </a:r>
          </a:p>
        </p:txBody>
      </p:sp>
    </p:spTree>
    <p:extLst>
      <p:ext uri="{BB962C8B-B14F-4D97-AF65-F5344CB8AC3E}">
        <p14:creationId xmlns:p14="http://schemas.microsoft.com/office/powerpoint/2010/main" val="1927448182"/>
      </p:ext>
    </p:extLst>
  </p:cSld>
</p:sld>
</file>

<file path=ppt/slides/slide11.xml><?xml version="1.0" encoding="utf-8"?>
<p:sld xmlns:p="http://schemas.openxmlformats.org/presentationml/2006/main">
  <p:cSld>
    <p:bg>
      <p:bgPr>
        <a:solidFill xmlns:a="http://schemas.openxmlformats.org/drawingml/2006/main">
          <a:srgbClr val="0D1118"/>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411D2A41-09B0-4AE1-8D48-8965698D9E03}"/>
              </a:ext>
            </a:extLst>
          </p:cNvPr>
          <p:cNvCxnSpPr>
            <a:stCxn xmlns:a="http://schemas.openxmlformats.org/drawingml/2006/main" id="4" idx="3"/>
            <a:endCxn xmlns:a="http://schemas.openxmlformats.org/drawingml/2006/main" id="8" idx="1"/>
          </p:cNvCxnSpPr>
          <p:nvPr/>
        </p:nvCxnSpPr>
        <p:spPr>
          <a:xfrm xmlns:a="http://schemas.openxmlformats.org/drawingml/2006/main">
            <a:off x="9144000" y="3095625"/>
            <a:ext cx="523875" cy="4763"/>
          </a:xfrm>
          <a:prstGeom xmlns:a="http://schemas.openxmlformats.org/drawingml/2006/main" prst="straightConnector1">
            <a:avLst/>
          </a:prstGeom>
          <a:ln xmlns:a="http://schemas.openxmlformats.org/drawingml/2006/main" w="19050">
            <a:solidFill>
              <a:srgbClr val="B6C0D0"/>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7FF452AA-D3DD-4710-B742-CC55242B3A4C}"/>
              </a:ext>
            </a:extLst>
          </p:cNvPr>
          <p:cNvCxnSpPr>
            <a:stCxn xmlns:a="http://schemas.openxmlformats.org/drawingml/2006/main" id="3" idx="3"/>
            <a:endCxn xmlns:a="http://schemas.openxmlformats.org/drawingml/2006/main" id="4" idx="1"/>
          </p:cNvCxnSpPr>
          <p:nvPr/>
        </p:nvCxnSpPr>
        <p:spPr>
          <a:xfrm xmlns:a="http://schemas.openxmlformats.org/drawingml/2006/main" flipV="1">
            <a:off x="2409825" y="3095625"/>
            <a:ext cx="447675" cy="4763"/>
          </a:xfrm>
          <a:prstGeom xmlns:a="http://schemas.openxmlformats.org/drawingml/2006/main" prst="straightConnector1">
            <a:avLst/>
          </a:prstGeom>
          <a:ln xmlns:a="http://schemas.openxmlformats.org/drawingml/2006/main" w="19050">
            <a:solidFill>
              <a:srgbClr val="B6C0D0"/>
            </a:solidFill>
            <a:prstDash val="solid"/>
            <a:tailEnd type="triangle" w="sm" len="sm"/>
          </a:ln>
        </p:spPr>
      </p:cxnSp>
      <p:sp>
        <p:nvSpPr>
          <p:cNvPr id="13" name="Memoria compartida e IPC">
            <a:extLst xmlns:a="http://schemas.openxmlformats.org/drawingml/2006/main">
              <a:ext uri="{FF2B5EF4-FFF2-40B4-BE49-F238E27FC236}">
                <a16:creationId xmlns:a16="http://schemas.microsoft.com/office/drawing/2014/main" id="{F6D3E406-44E6-4636-BE14-B48AFD281BA7}"/>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5F7FB"/>
                </a:solidFill>
                <a:latin typeface="Calibri"/>
                <a:ea typeface="Calibri"/>
                <a:cs typeface="Calibri"/>
              </a:defRPr>
            </a:defPPr>
          </a:lstStyle>
          <a:p xmlns:a="http://schemas.openxmlformats.org/drawingml/2006/main">
            <a:pPr algn="l">
              <a:defRPr sz="3300" b="1">
                <a:solidFill>
                  <a:srgbClr val="F5F7FB"/>
                </a:solidFill>
                <a:latin typeface="Calibri"/>
                <a:ea typeface="Calibri"/>
                <a:cs typeface="Calibri"/>
              </a:defRPr>
            </a:pPr>
            <a:r>
              <a:rPr sz="3300" b="1">
                <a:solidFill>
                  <a:srgbClr val="F5F7FB"/>
                </a:solidFill>
                <a:latin typeface="Calibri"/>
                <a:ea typeface="Calibri"/>
                <a:cs typeface="Calibri"/>
              </a:rPr>
              <a:t>Memoria compartida e IPC</a:t>
            </a:r>
          </a:p>
        </p:txBody>
      </p:sp>
      <p:sp>
        <p:nvSpPr>
          <p:cNvPr id="2" name="11">
            <a:extLst xmlns:a="http://schemas.openxmlformats.org/drawingml/2006/main">
              <a:ext uri="{FF2B5EF4-FFF2-40B4-BE49-F238E27FC236}">
                <a16:creationId xmlns:a16="http://schemas.microsoft.com/office/drawing/2014/main" id="{38F136D4-B3CC-4CA6-AB44-90AE57AD91A2}"/>
              </a:ext>
            </a:extLst>
          </p:cNvPr>
          <p:cNvSpPr>
            <a:spLocks xmlns:a="http://schemas.openxmlformats.org/drawingml/2006/main" noGrp="1"/>
          </p:cNvSpPr>
          <p:nvPr/>
        </p:nvSpPr>
        <p:spPr>
          <a:xfrm xmlns:a="http://schemas.openxmlformats.org/drawingml/2006/main">
            <a:off x="11125200" y="62293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6C0D0"/>
                </a:solidFill>
                <a:latin typeface="Calibri"/>
                <a:ea typeface="Calibri"/>
                <a:cs typeface="Calibri"/>
              </a:defRPr>
            </a:defPPr>
          </a:lstStyle>
          <a:p xmlns:a="http://schemas.openxmlformats.org/drawingml/2006/main">
            <a:pPr algn="r">
              <a:defRPr sz="1500" b="0">
                <a:solidFill>
                  <a:srgbClr val="B6C0D0"/>
                </a:solidFill>
                <a:latin typeface="Calibri"/>
                <a:ea typeface="Calibri"/>
                <a:cs typeface="Calibri"/>
              </a:defRPr>
            </a:pPr>
            <a:r>
              <a:rPr sz="1500" b="0">
                <a:solidFill>
                  <a:srgbClr val="B6C0D0"/>
                </a:solidFill>
                <a:latin typeface="Calibri"/>
                <a:ea typeface="Calibri"/>
                <a:cs typeface="Calibri"/>
              </a:rPr>
              <a:t>11</a:t>
            </a:r>
          </a:p>
        </p:txBody>
      </p:sp>
      <p:sp>
        <p:nvSpPr>
          <p:cNvPr id="3" name="Productor&#10;C++">
            <a:extLst xmlns:a="http://schemas.openxmlformats.org/drawingml/2006/main">
              <a:ext uri="{FF2B5EF4-FFF2-40B4-BE49-F238E27FC236}">
                <a16:creationId xmlns:a16="http://schemas.microsoft.com/office/drawing/2014/main" id="{9C878517-ED29-406D-B074-0F4E1F998D72}"/>
              </a:ext>
            </a:extLst>
          </p:cNvPr>
          <p:cNvSpPr>
            <a:spLocks xmlns:a="http://schemas.openxmlformats.org/drawingml/2006/main" noGrp="1"/>
          </p:cNvSpPr>
          <p:nvPr/>
        </p:nvSpPr>
        <p:spPr>
          <a:xfrm xmlns:a="http://schemas.openxmlformats.org/drawingml/2006/main">
            <a:off x="457200" y="2600325"/>
            <a:ext cx="1952625" cy="1000125"/>
          </a:xfrm>
          <a:prstGeom xmlns:a="http://schemas.openxmlformats.org/drawingml/2006/main" prst="roundRect">
            <a:avLst>
              <a:gd name="adj" fmla="val 9524"/>
            </a:avLst>
          </a:prstGeom>
          <a:solidFill xmlns:a="http://schemas.openxmlformats.org/drawingml/2006/main">
            <a:srgbClr val="151E29"/>
          </a:solidFill>
          <a:ln xmlns:a="http://schemas.openxmlformats.org/drawingml/2006/main" w="19050">
            <a:solidFill>
              <a:srgbClr val="69E5BA"/>
            </a:solidFill>
            <a:prstDash val="solid"/>
          </a:ln>
        </p:spPr>
        <p:txBody>
          <a:bodyPr xmlns:a="http://schemas.openxmlformats.org/drawingml/2006/main" lIns="114300" tIns="114300" rIns="114300" bIns="114300" anchor="ctr">
            <a:noAutofit/>
          </a:bodyPr>
          <a:lstStyle xmlns:a="http://schemas.openxmlformats.org/drawingml/2006/main">
            <a:defPPr algn="ctr">
              <a:defRPr sz="2100" b="1">
                <a:solidFill>
                  <a:srgbClr val="F5F7FB"/>
                </a:solidFill>
                <a:latin typeface="Calibri"/>
                <a:ea typeface="Calibri"/>
                <a:cs typeface="Calibri"/>
              </a:defRPr>
            </a:defPPr>
          </a:lstStyle>
          <a:p xmlns:a="http://schemas.openxmlformats.org/drawingml/2006/main">
            <a:pPr algn="ctr">
              <a:defRPr sz="2100" b="1">
                <a:solidFill>
                  <a:srgbClr val="F5F7FB"/>
                </a:solidFill>
                <a:latin typeface="Calibri"/>
                <a:ea typeface="Calibri"/>
                <a:cs typeface="Calibri"/>
              </a:defRPr>
            </a:pPr>
            <a:r>
              <a:rPr sz="2100" b="1">
                <a:solidFill>
                  <a:srgbClr val="F5F7FB"/>
                </a:solidFill>
                <a:latin typeface="Calibri"/>
                <a:ea typeface="Calibri"/>
                <a:cs typeface="Calibri"/>
              </a:rPr>
              <a:t>Productor</a:t>
            </a:r>
          </a:p>
          <a:p xmlns:a="http://schemas.openxmlformats.org/drawingml/2006/main">
            <a:pPr algn="ctr">
              <a:defRPr sz="2100" b="1">
                <a:solidFill>
                  <a:srgbClr val="F5F7FB"/>
                </a:solidFill>
                <a:latin typeface="Calibri"/>
                <a:ea typeface="Calibri"/>
                <a:cs typeface="Calibri"/>
              </a:defRPr>
            </a:pPr>
            <a:r>
              <a:rPr sz="2100" b="1">
                <a:solidFill>
                  <a:srgbClr val="F5F7FB"/>
                </a:solidFill>
                <a:latin typeface="Calibri"/>
                <a:ea typeface="Calibri"/>
                <a:cs typeface="Calibri"/>
              </a:rPr>
              <a:t>C++</a:t>
            </a:r>
          </a:p>
        </p:txBody>
      </p:sp>
      <p:sp>
        <p:nvSpPr>
          <p:cNvPr id="4" name="Región del anillo compartido">
            <a:extLst xmlns:a="http://schemas.openxmlformats.org/drawingml/2006/main">
              <a:ext uri="{FF2B5EF4-FFF2-40B4-BE49-F238E27FC236}">
                <a16:creationId xmlns:a16="http://schemas.microsoft.com/office/drawing/2014/main" id="{8A677022-A461-4A2D-A3CA-1058FBD9C8EF}"/>
              </a:ext>
            </a:extLst>
          </p:cNvPr>
          <p:cNvSpPr>
            <a:spLocks xmlns:a="http://schemas.openxmlformats.org/drawingml/2006/main" noGrp="1"/>
          </p:cNvSpPr>
          <p:nvPr/>
        </p:nvSpPr>
        <p:spPr>
          <a:xfrm xmlns:a="http://schemas.openxmlformats.org/drawingml/2006/main">
            <a:off x="2857500" y="2143125"/>
            <a:ext cx="6286500" cy="1905000"/>
          </a:xfrm>
          <a:prstGeom xmlns:a="http://schemas.openxmlformats.org/drawingml/2006/main" prst="rect">
            <a:avLst/>
          </a:prstGeom>
          <a:noFill xmlns:a="http://schemas.openxmlformats.org/drawingml/2006/main"/>
          <a:ln xmlns:a="http://schemas.openxmlformats.org/drawingml/2006/main" w="19050">
            <a:solidFill>
              <a:srgbClr val="334454"/>
            </a:solidFill>
          </a:ln>
        </p:spPr>
      </p:sp>
      <p:sp>
        <p:nvSpPr>
          <p:cNvPr id="5" name="Slot 0&#10;Metadatos&#10;Payload">
            <a:extLst xmlns:a="http://schemas.openxmlformats.org/drawingml/2006/main">
              <a:ext uri="{FF2B5EF4-FFF2-40B4-BE49-F238E27FC236}">
                <a16:creationId xmlns:a16="http://schemas.microsoft.com/office/drawing/2014/main" id="{5E47505A-0687-4DA0-873F-C67ED15DF4BD}"/>
              </a:ext>
            </a:extLst>
          </p:cNvPr>
          <p:cNvSpPr>
            <a:spLocks xmlns:a="http://schemas.openxmlformats.org/drawingml/2006/main" noGrp="1"/>
          </p:cNvSpPr>
          <p:nvPr/>
        </p:nvSpPr>
        <p:spPr>
          <a:xfrm xmlns:a="http://schemas.openxmlformats.org/drawingml/2006/main">
            <a:off x="3048000" y="2333625"/>
            <a:ext cx="1714500" cy="1524000"/>
          </a:xfrm>
          <a:prstGeom xmlns:a="http://schemas.openxmlformats.org/drawingml/2006/main" prst="roundRect">
            <a:avLst>
              <a:gd name="adj" fmla="val 6250"/>
            </a:avLst>
          </a:prstGeom>
          <a:solidFill xmlns:a="http://schemas.openxmlformats.org/drawingml/2006/main">
            <a:srgbClr val="151E29"/>
          </a:solidFill>
          <a:ln xmlns:a="http://schemas.openxmlformats.org/drawingml/2006/main" w="19050">
            <a:solidFill>
              <a:srgbClr val="69E5BA"/>
            </a:solidFill>
            <a:prstDash val="solid"/>
          </a:ln>
        </p:spPr>
        <p:txBody>
          <a:bodyPr xmlns:a="http://schemas.openxmlformats.org/drawingml/2006/main" lIns="114300" tIns="114300" rIns="114300" bIns="114300" anchor="ctr">
            <a:noAutofit/>
          </a:bodyPr>
          <a:lstStyle xmlns:a="http://schemas.openxmlformats.org/drawingml/2006/main">
            <a:defPPr algn="ctr">
              <a:defRPr sz="2025" b="1">
                <a:solidFill>
                  <a:srgbClr val="F5F7FB"/>
                </a:solidFill>
                <a:latin typeface="Calibri"/>
                <a:ea typeface="Calibri"/>
                <a:cs typeface="Calibri"/>
              </a:defRPr>
            </a:defPPr>
          </a:lstStyle>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Slot 0</a:t>
            </a:r>
          </a:p>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Metadatos</a:t>
            </a:r>
          </a:p>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Payload</a:t>
            </a:r>
          </a:p>
        </p:txBody>
      </p:sp>
      <p:sp>
        <p:nvSpPr>
          <p:cNvPr id="6" name="Slot 1&#10;Metadatos&#10;Payload">
            <a:extLst xmlns:a="http://schemas.openxmlformats.org/drawingml/2006/main">
              <a:ext uri="{FF2B5EF4-FFF2-40B4-BE49-F238E27FC236}">
                <a16:creationId xmlns:a16="http://schemas.microsoft.com/office/drawing/2014/main" id="{BFDF9248-A033-49A5-948A-AA5296ECF1BB}"/>
              </a:ext>
            </a:extLst>
          </p:cNvPr>
          <p:cNvSpPr>
            <a:spLocks xmlns:a="http://schemas.openxmlformats.org/drawingml/2006/main" noGrp="1"/>
          </p:cNvSpPr>
          <p:nvPr/>
        </p:nvSpPr>
        <p:spPr>
          <a:xfrm xmlns:a="http://schemas.openxmlformats.org/drawingml/2006/main">
            <a:off x="5000625" y="2333625"/>
            <a:ext cx="1714500" cy="1524000"/>
          </a:xfrm>
          <a:prstGeom xmlns:a="http://schemas.openxmlformats.org/drawingml/2006/main" prst="roundRect">
            <a:avLst>
              <a:gd name="adj" fmla="val 6250"/>
            </a:avLst>
          </a:prstGeom>
          <a:solidFill xmlns:a="http://schemas.openxmlformats.org/drawingml/2006/main">
            <a:srgbClr val="151E29"/>
          </a:solidFill>
          <a:ln xmlns:a="http://schemas.openxmlformats.org/drawingml/2006/main" w="19050">
            <a:solidFill>
              <a:srgbClr val="69E5BA"/>
            </a:solidFill>
            <a:prstDash val="solid"/>
          </a:ln>
        </p:spPr>
        <p:txBody>
          <a:bodyPr xmlns:a="http://schemas.openxmlformats.org/drawingml/2006/main" lIns="114300" tIns="114300" rIns="114300" bIns="114300" anchor="ctr">
            <a:noAutofit/>
          </a:bodyPr>
          <a:lstStyle xmlns:a="http://schemas.openxmlformats.org/drawingml/2006/main">
            <a:defPPr algn="ctr">
              <a:defRPr sz="2025" b="1">
                <a:solidFill>
                  <a:srgbClr val="F5F7FB"/>
                </a:solidFill>
                <a:latin typeface="Calibri"/>
                <a:ea typeface="Calibri"/>
                <a:cs typeface="Calibri"/>
              </a:defRPr>
            </a:defPPr>
          </a:lstStyle>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Slot 1</a:t>
            </a:r>
          </a:p>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Metadatos</a:t>
            </a:r>
          </a:p>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Payload</a:t>
            </a:r>
          </a:p>
        </p:txBody>
      </p:sp>
      <p:sp>
        <p:nvSpPr>
          <p:cNvPr id="7" name="Slot 2&#10;Metadatos&#10;Payload">
            <a:extLst xmlns:a="http://schemas.openxmlformats.org/drawingml/2006/main">
              <a:ext uri="{FF2B5EF4-FFF2-40B4-BE49-F238E27FC236}">
                <a16:creationId xmlns:a16="http://schemas.microsoft.com/office/drawing/2014/main" id="{F642244E-5D31-41FF-9C54-6FE68622CC39}"/>
              </a:ext>
            </a:extLst>
          </p:cNvPr>
          <p:cNvSpPr>
            <a:spLocks xmlns:a="http://schemas.openxmlformats.org/drawingml/2006/main" noGrp="1"/>
          </p:cNvSpPr>
          <p:nvPr/>
        </p:nvSpPr>
        <p:spPr>
          <a:xfrm xmlns:a="http://schemas.openxmlformats.org/drawingml/2006/main">
            <a:off x="6953250" y="2333625"/>
            <a:ext cx="1714500" cy="1524000"/>
          </a:xfrm>
          <a:prstGeom xmlns:a="http://schemas.openxmlformats.org/drawingml/2006/main" prst="roundRect">
            <a:avLst>
              <a:gd name="adj" fmla="val 6250"/>
            </a:avLst>
          </a:prstGeom>
          <a:solidFill xmlns:a="http://schemas.openxmlformats.org/drawingml/2006/main">
            <a:srgbClr val="151E29"/>
          </a:solidFill>
          <a:ln xmlns:a="http://schemas.openxmlformats.org/drawingml/2006/main" w="19050">
            <a:solidFill>
              <a:srgbClr val="69E5BA"/>
            </a:solidFill>
            <a:prstDash val="solid"/>
          </a:ln>
        </p:spPr>
        <p:txBody>
          <a:bodyPr xmlns:a="http://schemas.openxmlformats.org/drawingml/2006/main" lIns="114300" tIns="114300" rIns="114300" bIns="114300" anchor="ctr">
            <a:noAutofit/>
          </a:bodyPr>
          <a:lstStyle xmlns:a="http://schemas.openxmlformats.org/drawingml/2006/main">
            <a:defPPr algn="ctr">
              <a:defRPr sz="2025" b="1">
                <a:solidFill>
                  <a:srgbClr val="F5F7FB"/>
                </a:solidFill>
                <a:latin typeface="Calibri"/>
                <a:ea typeface="Calibri"/>
                <a:cs typeface="Calibri"/>
              </a:defRPr>
            </a:defPPr>
          </a:lstStyle>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Slot 2</a:t>
            </a:r>
          </a:p>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Metadatos</a:t>
            </a:r>
          </a:p>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Payload</a:t>
            </a:r>
          </a:p>
        </p:txBody>
      </p:sp>
      <p:sp>
        <p:nvSpPr>
          <p:cNvPr id="8" name="Consumidor&#10;Python">
            <a:extLst xmlns:a="http://schemas.openxmlformats.org/drawingml/2006/main">
              <a:ext uri="{FF2B5EF4-FFF2-40B4-BE49-F238E27FC236}">
                <a16:creationId xmlns:a16="http://schemas.microsoft.com/office/drawing/2014/main" id="{CA50CEA6-5E88-475F-A3CF-526A30D916E1}"/>
              </a:ext>
            </a:extLst>
          </p:cNvPr>
          <p:cNvSpPr>
            <a:spLocks xmlns:a="http://schemas.openxmlformats.org/drawingml/2006/main" noGrp="1"/>
          </p:cNvSpPr>
          <p:nvPr/>
        </p:nvSpPr>
        <p:spPr>
          <a:xfrm xmlns:a="http://schemas.openxmlformats.org/drawingml/2006/main">
            <a:off x="9667875" y="2600325"/>
            <a:ext cx="2143125" cy="1000125"/>
          </a:xfrm>
          <a:prstGeom xmlns:a="http://schemas.openxmlformats.org/drawingml/2006/main" prst="roundRect">
            <a:avLst>
              <a:gd name="adj" fmla="val 9524"/>
            </a:avLst>
          </a:prstGeom>
          <a:solidFill xmlns:a="http://schemas.openxmlformats.org/drawingml/2006/main">
            <a:srgbClr val="151E29"/>
          </a:solidFill>
          <a:ln xmlns:a="http://schemas.openxmlformats.org/drawingml/2006/main" w="19050">
            <a:solidFill>
              <a:srgbClr val="69E5BA"/>
            </a:solidFill>
            <a:prstDash val="solid"/>
          </a:ln>
        </p:spPr>
        <p:txBody>
          <a:bodyPr xmlns:a="http://schemas.openxmlformats.org/drawingml/2006/main" lIns="114300" tIns="114300" rIns="114300" bIns="114300" anchor="ctr">
            <a:noAutofit/>
          </a:bodyPr>
          <a:lstStyle xmlns:a="http://schemas.openxmlformats.org/drawingml/2006/main">
            <a:defPPr algn="ctr">
              <a:defRPr sz="2100" b="1">
                <a:solidFill>
                  <a:srgbClr val="F5F7FB"/>
                </a:solidFill>
                <a:latin typeface="Calibri"/>
                <a:ea typeface="Calibri"/>
                <a:cs typeface="Calibri"/>
              </a:defRPr>
            </a:defPPr>
          </a:lstStyle>
          <a:p xmlns:a="http://schemas.openxmlformats.org/drawingml/2006/main">
            <a:pPr algn="ctr">
              <a:defRPr sz="2100" b="1">
                <a:solidFill>
                  <a:srgbClr val="F5F7FB"/>
                </a:solidFill>
                <a:latin typeface="Calibri"/>
                <a:ea typeface="Calibri"/>
                <a:cs typeface="Calibri"/>
              </a:defRPr>
            </a:pPr>
            <a:r>
              <a:rPr sz="2100" b="1">
                <a:solidFill>
                  <a:srgbClr val="F5F7FB"/>
                </a:solidFill>
                <a:latin typeface="Calibri"/>
                <a:ea typeface="Calibri"/>
                <a:cs typeface="Calibri"/>
              </a:rPr>
              <a:t>Consumidor</a:t>
            </a:r>
          </a:p>
          <a:p xmlns:a="http://schemas.openxmlformats.org/drawingml/2006/main">
            <a:pPr algn="ctr">
              <a:defRPr sz="2100" b="1">
                <a:solidFill>
                  <a:srgbClr val="F5F7FB"/>
                </a:solidFill>
                <a:latin typeface="Calibri"/>
                <a:ea typeface="Calibri"/>
                <a:cs typeface="Calibri"/>
              </a:defRPr>
            </a:pPr>
            <a:r>
              <a:rPr sz="2100" b="1">
                <a:solidFill>
                  <a:srgbClr val="F5F7FB"/>
                </a:solidFill>
                <a:latin typeface="Calibri"/>
                <a:ea typeface="Calibri"/>
                <a:cs typeface="Calibri"/>
              </a:rPr>
              <a:t>Python</a:t>
            </a:r>
          </a:p>
        </p:txBody>
      </p:sp>
      <p:sp>
        <p:nvSpPr>
          <p:cNvPr id="11" name="Lector del frame más reciente">
            <a:extLst xmlns:a="http://schemas.openxmlformats.org/drawingml/2006/main">
              <a:ext uri="{FF2B5EF4-FFF2-40B4-BE49-F238E27FC236}">
                <a16:creationId xmlns:a16="http://schemas.microsoft.com/office/drawing/2014/main" id="{F6E776CF-F855-464C-ACAB-235DE85FF219}"/>
              </a:ext>
            </a:extLst>
          </p:cNvPr>
          <p:cNvSpPr>
            <a:spLocks xmlns:a="http://schemas.openxmlformats.org/drawingml/2006/main" noGrp="1"/>
          </p:cNvSpPr>
          <p:nvPr/>
        </p:nvSpPr>
        <p:spPr>
          <a:xfrm xmlns:a="http://schemas.openxmlformats.org/drawingml/2006/main">
            <a:off x="2905125" y="42100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69E5BA"/>
                </a:solidFill>
                <a:latin typeface="Calibri"/>
                <a:ea typeface="Calibri"/>
                <a:cs typeface="Calibri"/>
              </a:defRPr>
            </a:defPPr>
          </a:lstStyle>
          <a:p xmlns:a="http://schemas.openxmlformats.org/drawingml/2006/main">
            <a:pPr algn="ctr">
              <a:defRPr sz="2175" b="1">
                <a:solidFill>
                  <a:srgbClr val="69E5BA"/>
                </a:solidFill>
                <a:latin typeface="Calibri"/>
                <a:ea typeface="Calibri"/>
                <a:cs typeface="Calibri"/>
              </a:defRPr>
            </a:pPr>
            <a:r>
              <a:rPr sz="2175" b="1">
                <a:solidFill>
                  <a:srgbClr val="69E5BA"/>
                </a:solidFill>
                <a:latin typeface="Calibri"/>
                <a:ea typeface="Calibri"/>
                <a:cs typeface="Calibri"/>
              </a:rPr>
              <a:t>Lector del frame más reciente</a:t>
            </a:r>
          </a:p>
        </p:txBody>
      </p:sp>
      <p:sp>
        <p:nvSpPr>
          <p:cNvPr id="12" name="Secuencia publicada y consumida&#10;Generación estable ante">
            <a:extLst xmlns:a="http://schemas.openxmlformats.org/drawingml/2006/main">
              <a:ext uri="{FF2B5EF4-FFF2-40B4-BE49-F238E27FC236}">
                <a16:creationId xmlns:a16="http://schemas.microsoft.com/office/drawing/2014/main" id="{28AC09D0-447B-4E45-90BD-5BB088EA7B50}"/>
              </a:ext>
            </a:extLst>
          </p:cNvPr>
          <p:cNvSpPr>
            <a:spLocks xmlns:a="http://schemas.openxmlformats.org/drawingml/2006/main" noGrp="1"/>
          </p:cNvSpPr>
          <p:nvPr/>
        </p:nvSpPr>
        <p:spPr>
          <a:xfrm xmlns:a="http://schemas.openxmlformats.org/drawingml/2006/main">
            <a:off x="762000" y="481012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0">
                <a:solidFill>
                  <a:srgbClr val="B6C0D0"/>
                </a:solidFill>
                <a:latin typeface="Calibri"/>
                <a:ea typeface="Calibri"/>
                <a:cs typeface="Calibri"/>
              </a:defRPr>
            </a:defPPr>
          </a:lstStyle>
          <a:p xmlns:a="http://schemas.openxmlformats.org/drawingml/2006/main">
            <a:pPr algn="ctr">
              <a:defRPr sz="2175" b="0">
                <a:solidFill>
                  <a:srgbClr val="B6C0D0"/>
                </a:solidFill>
                <a:latin typeface="Calibri"/>
                <a:ea typeface="Calibri"/>
                <a:cs typeface="Calibri"/>
              </a:defRPr>
            </a:pPr>
            <a:r>
              <a:rPr sz="2175" b="0">
                <a:solidFill>
                  <a:srgbClr val="B6C0D0"/>
                </a:solidFill>
                <a:latin typeface="Calibri"/>
                <a:ea typeface="Calibri"/>
                <a:cs typeface="Calibri"/>
              </a:rPr>
              <a:t>Secuencia publicada y consumida</a:t>
            </a:r>
          </a:p>
          <a:p xmlns:a="http://schemas.openxmlformats.org/drawingml/2006/main">
            <a:pPr algn="ctr">
              <a:defRPr sz="2175" b="0">
                <a:solidFill>
                  <a:srgbClr val="B6C0D0"/>
                </a:solidFill>
                <a:latin typeface="Calibri"/>
                <a:ea typeface="Calibri"/>
                <a:cs typeface="Calibri"/>
              </a:defRPr>
            </a:pPr>
            <a:r>
              <a:rPr sz="2175" b="0">
                <a:solidFill>
                  <a:srgbClr val="B6C0D0"/>
                </a:solidFill>
                <a:latin typeface="Calibri"/>
                <a:ea typeface="Calibri"/>
                <a:cs typeface="Calibri"/>
              </a:rPr>
              <a:t>Generación estable antes y después de copiar</a:t>
            </a:r>
          </a:p>
        </p:txBody>
      </p:sp>
    </p:spTree>
    <p:extLst>
      <p:ext uri="{BB962C8B-B14F-4D97-AF65-F5344CB8AC3E}">
        <p14:creationId xmlns:p14="http://schemas.microsoft.com/office/powerpoint/2010/main" val="1605006761"/>
      </p:ext>
    </p:extLst>
  </p:cSld>
</p:sld>
</file>

<file path=ppt/slides/slide12.xml><?xml version="1.0" encoding="utf-8"?>
<p:sld xmlns:p="http://schemas.openxmlformats.org/presentationml/2006/main">
  <p:cSld>
    <p:bg>
      <p:bgPr>
        <a:solidFill xmlns:a="http://schemas.openxmlformats.org/drawingml/2006/main">
          <a:srgbClr val="0D1118"/>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58655743-2053-4896-A112-1DF9EA5E41A1}"/>
              </a:ext>
            </a:extLst>
          </p:cNvPr>
          <p:cNvCxnSpPr>
            <a:stCxn xmlns:a="http://schemas.openxmlformats.org/drawingml/2006/main" id="5" idx="2"/>
            <a:endCxn xmlns:a="http://schemas.openxmlformats.org/drawingml/2006/main" id="7" idx="0"/>
          </p:cNvCxnSpPr>
          <p:nvPr/>
        </p:nvCxnSpPr>
        <p:spPr>
          <a:xfrm xmlns:a="http://schemas.openxmlformats.org/drawingml/2006/main">
            <a:off x="6124575" y="3219450"/>
            <a:ext cx="0" cy="771525"/>
          </a:xfrm>
          <a:prstGeom xmlns:a="http://schemas.openxmlformats.org/drawingml/2006/main" prst="straightConnector1">
            <a:avLst/>
          </a:prstGeom>
          <a:ln xmlns:a="http://schemas.openxmlformats.org/drawingml/2006/main" w="19050">
            <a:solidFill>
              <a:srgbClr val="B6C0D0"/>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51F7F57E-2220-4A87-A683-1F432732C411}"/>
              </a:ext>
            </a:extLst>
          </p:cNvPr>
          <p:cNvCxnSpPr>
            <a:stCxn xmlns:a="http://schemas.openxmlformats.org/drawingml/2006/main" id="5" idx="3"/>
            <a:endCxn xmlns:a="http://schemas.openxmlformats.org/drawingml/2006/main" id="6" idx="1"/>
          </p:cNvCxnSpPr>
          <p:nvPr/>
        </p:nvCxnSpPr>
        <p:spPr>
          <a:xfrm xmlns:a="http://schemas.openxmlformats.org/drawingml/2006/main">
            <a:off x="7648575" y="2438400"/>
            <a:ext cx="1047750" cy="0"/>
          </a:xfrm>
          <a:prstGeom xmlns:a="http://schemas.openxmlformats.org/drawingml/2006/main" prst="straightConnector1">
            <a:avLst/>
          </a:prstGeom>
          <a:ln xmlns:a="http://schemas.openxmlformats.org/drawingml/2006/main" w="19050">
            <a:solidFill>
              <a:srgbClr val="B6C0D0"/>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B749E7C6-916C-471C-8A51-594BFB1DCC6F}"/>
              </a:ext>
            </a:extLst>
          </p:cNvPr>
          <p:cNvCxnSpPr>
            <a:stCxn xmlns:a="http://schemas.openxmlformats.org/drawingml/2006/main" id="4" idx="3"/>
            <a:endCxn xmlns:a="http://schemas.openxmlformats.org/drawingml/2006/main" id="5" idx="1"/>
          </p:cNvCxnSpPr>
          <p:nvPr/>
        </p:nvCxnSpPr>
        <p:spPr>
          <a:xfrm xmlns:a="http://schemas.openxmlformats.org/drawingml/2006/main">
            <a:off x="3524250" y="2438400"/>
            <a:ext cx="1076325" cy="0"/>
          </a:xfrm>
          <a:prstGeom xmlns:a="http://schemas.openxmlformats.org/drawingml/2006/main" prst="straightConnector1">
            <a:avLst/>
          </a:prstGeom>
          <a:ln xmlns:a="http://schemas.openxmlformats.org/drawingml/2006/main" w="19050">
            <a:solidFill>
              <a:srgbClr val="B6C0D0"/>
            </a:solidFill>
            <a:prstDash val="solid"/>
            <a:tailEnd type="triangle" w="sm" len="sm"/>
          </a:ln>
        </p:spPr>
      </p:cxnSp>
      <p:sp>
        <p:nvSpPr>
          <p:cNvPr id="15" name="Base de datos y relaciones">
            <a:extLst xmlns:a="http://schemas.openxmlformats.org/drawingml/2006/main">
              <a:ext uri="{FF2B5EF4-FFF2-40B4-BE49-F238E27FC236}">
                <a16:creationId xmlns:a16="http://schemas.microsoft.com/office/drawing/2014/main" id="{1E233116-6D3B-447C-BAE7-6B07EFEE9497}"/>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5F7FB"/>
                </a:solidFill>
                <a:latin typeface="Calibri"/>
                <a:ea typeface="Calibri"/>
                <a:cs typeface="Calibri"/>
              </a:defRPr>
            </a:defPPr>
          </a:lstStyle>
          <a:p xmlns:a="http://schemas.openxmlformats.org/drawingml/2006/main">
            <a:pPr algn="l">
              <a:defRPr sz="3300" b="1">
                <a:solidFill>
                  <a:srgbClr val="F5F7FB"/>
                </a:solidFill>
                <a:latin typeface="Calibri"/>
                <a:ea typeface="Calibri"/>
                <a:cs typeface="Calibri"/>
              </a:defRPr>
            </a:pPr>
            <a:r>
              <a:rPr sz="3300" b="1">
                <a:solidFill>
                  <a:srgbClr val="F5F7FB"/>
                </a:solidFill>
                <a:latin typeface="Calibri"/>
                <a:ea typeface="Calibri"/>
                <a:cs typeface="Calibri"/>
              </a:rPr>
              <a:t>Base de datos y relaciones</a:t>
            </a:r>
          </a:p>
        </p:txBody>
      </p:sp>
      <p:sp>
        <p:nvSpPr>
          <p:cNvPr id="2" name="Modelo propuesto para RF-021 y RF-022">
            <a:extLst xmlns:a="http://schemas.openxmlformats.org/drawingml/2006/main">
              <a:ext uri="{FF2B5EF4-FFF2-40B4-BE49-F238E27FC236}">
                <a16:creationId xmlns:a16="http://schemas.microsoft.com/office/drawing/2014/main" id="{070DC7C8-6DB6-44D5-8514-9FBA7A23DE3D}"/>
              </a:ext>
            </a:extLst>
          </p:cNvPr>
          <p:cNvSpPr>
            <a:spLocks xmlns:a="http://schemas.openxmlformats.org/drawingml/2006/main" noGrp="1"/>
          </p:cNvSpPr>
          <p:nvPr/>
        </p:nvSpPr>
        <p:spPr>
          <a:xfrm xmlns:a="http://schemas.openxmlformats.org/drawingml/2006/main">
            <a:off x="609600" y="6229350"/>
            <a:ext cx="1019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6C0D0"/>
                </a:solidFill>
                <a:latin typeface="Calibri"/>
                <a:ea typeface="Calibri"/>
                <a:cs typeface="Calibri"/>
              </a:defRPr>
            </a:defPPr>
          </a:lstStyle>
          <a:p xmlns:a="http://schemas.openxmlformats.org/drawingml/2006/main">
            <a:pPr algn="l">
              <a:defRPr sz="1500" b="0">
                <a:solidFill>
                  <a:srgbClr val="B6C0D0"/>
                </a:solidFill>
                <a:latin typeface="Calibri"/>
                <a:ea typeface="Calibri"/>
                <a:cs typeface="Calibri"/>
              </a:defRPr>
            </a:pPr>
            <a:r>
              <a:rPr sz="1500" b="0">
                <a:solidFill>
                  <a:srgbClr val="B6C0D0"/>
                </a:solidFill>
                <a:latin typeface="Calibri"/>
                <a:ea typeface="Calibri"/>
                <a:cs typeface="Calibri"/>
              </a:rPr>
              <a:t>Modelo propuesto para RF-021 y RF-022</a:t>
            </a:r>
          </a:p>
        </p:txBody>
      </p:sp>
      <p:sp>
        <p:nvSpPr>
          <p:cNvPr id="3" name="12">
            <a:extLst xmlns:a="http://schemas.openxmlformats.org/drawingml/2006/main">
              <a:ext uri="{FF2B5EF4-FFF2-40B4-BE49-F238E27FC236}">
                <a16:creationId xmlns:a16="http://schemas.microsoft.com/office/drawing/2014/main" id="{B77656F8-CA3E-4406-A20B-F699C77EB80B}"/>
              </a:ext>
            </a:extLst>
          </p:cNvPr>
          <p:cNvSpPr>
            <a:spLocks xmlns:a="http://schemas.openxmlformats.org/drawingml/2006/main" noGrp="1"/>
          </p:cNvSpPr>
          <p:nvPr/>
        </p:nvSpPr>
        <p:spPr>
          <a:xfrm xmlns:a="http://schemas.openxmlformats.org/drawingml/2006/main">
            <a:off x="11125200" y="62293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6C0D0"/>
                </a:solidFill>
                <a:latin typeface="Calibri"/>
                <a:ea typeface="Calibri"/>
                <a:cs typeface="Calibri"/>
              </a:defRPr>
            </a:defPPr>
          </a:lstStyle>
          <a:p xmlns:a="http://schemas.openxmlformats.org/drawingml/2006/main">
            <a:pPr algn="r">
              <a:defRPr sz="1500" b="0">
                <a:solidFill>
                  <a:srgbClr val="B6C0D0"/>
                </a:solidFill>
                <a:latin typeface="Calibri"/>
                <a:ea typeface="Calibri"/>
                <a:cs typeface="Calibri"/>
              </a:defRPr>
            </a:pPr>
            <a:r>
              <a:rPr sz="1500" b="0">
                <a:solidFill>
                  <a:srgbClr val="B6C0D0"/>
                </a:solidFill>
                <a:latin typeface="Calibri"/>
                <a:ea typeface="Calibri"/>
                <a:cs typeface="Calibri"/>
              </a:rPr>
              <a:t>12</a:t>
            </a:r>
          </a:p>
        </p:txBody>
      </p:sp>
      <p:sp>
        <p:nvSpPr>
          <p:cNvPr id="4" name="source&#10;PK source_id&#10;kind, backend, nombre">
            <a:extLst xmlns:a="http://schemas.openxmlformats.org/drawingml/2006/main">
              <a:ext uri="{FF2B5EF4-FFF2-40B4-BE49-F238E27FC236}">
                <a16:creationId xmlns:a16="http://schemas.microsoft.com/office/drawing/2014/main" id="{845E7454-EB1B-433F-9735-EC821180AD05}"/>
              </a:ext>
            </a:extLst>
          </p:cNvPr>
          <p:cNvSpPr>
            <a:spLocks xmlns:a="http://schemas.openxmlformats.org/drawingml/2006/main" noGrp="1"/>
          </p:cNvSpPr>
          <p:nvPr/>
        </p:nvSpPr>
        <p:spPr>
          <a:xfrm xmlns:a="http://schemas.openxmlformats.org/drawingml/2006/main">
            <a:off x="476250" y="1657350"/>
            <a:ext cx="3048000" cy="1562100"/>
          </a:xfrm>
          <a:prstGeom xmlns:a="http://schemas.openxmlformats.org/drawingml/2006/main" prst="roundRect">
            <a:avLst>
              <a:gd name="adj" fmla="val 6098"/>
            </a:avLst>
          </a:prstGeom>
          <a:solidFill xmlns:a="http://schemas.openxmlformats.org/drawingml/2006/main">
            <a:srgbClr val="151E29"/>
          </a:solidFill>
          <a:ln xmlns:a="http://schemas.openxmlformats.org/drawingml/2006/main" w="19050">
            <a:solidFill>
              <a:srgbClr val="B397F6"/>
            </a:solidFill>
            <a:prstDash val="dash"/>
          </a:ln>
        </p:spPr>
        <p:txBody>
          <a:bodyPr xmlns:a="http://schemas.openxmlformats.org/drawingml/2006/main" lIns="114300" tIns="114300" rIns="114300" bIns="114300" anchor="ctr">
            <a:noAutofit/>
          </a:bodyPr>
          <a:lstStyle xmlns:a="http://schemas.openxmlformats.org/drawingml/2006/main">
            <a:defPPr algn="ctr">
              <a:defRPr sz="2025" b="1">
                <a:solidFill>
                  <a:srgbClr val="F5F7FB"/>
                </a:solidFill>
                <a:latin typeface="Calibri"/>
                <a:ea typeface="Calibri"/>
                <a:cs typeface="Calibri"/>
              </a:defRPr>
            </a:defPPr>
          </a:lstStyle>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source</a:t>
            </a:r>
          </a:p>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PK source_id</a:t>
            </a:r>
          </a:p>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kind, backend, nombre</a:t>
            </a:r>
          </a:p>
        </p:txBody>
      </p:sp>
      <p:sp>
        <p:nvSpPr>
          <p:cNvPr id="5" name="session&#10;PK session_id&#10;FK source_id">
            <a:extLst xmlns:a="http://schemas.openxmlformats.org/drawingml/2006/main">
              <a:ext uri="{FF2B5EF4-FFF2-40B4-BE49-F238E27FC236}">
                <a16:creationId xmlns:a16="http://schemas.microsoft.com/office/drawing/2014/main" id="{FBA42381-4152-4943-9A58-98A101D7C56D}"/>
              </a:ext>
            </a:extLst>
          </p:cNvPr>
          <p:cNvSpPr>
            <a:spLocks xmlns:a="http://schemas.openxmlformats.org/drawingml/2006/main" noGrp="1"/>
          </p:cNvSpPr>
          <p:nvPr/>
        </p:nvSpPr>
        <p:spPr>
          <a:xfrm xmlns:a="http://schemas.openxmlformats.org/drawingml/2006/main">
            <a:off x="4600575" y="1657350"/>
            <a:ext cx="3048000" cy="1562100"/>
          </a:xfrm>
          <a:prstGeom xmlns:a="http://schemas.openxmlformats.org/drawingml/2006/main" prst="roundRect">
            <a:avLst>
              <a:gd name="adj" fmla="val 6098"/>
            </a:avLst>
          </a:prstGeom>
          <a:solidFill xmlns:a="http://schemas.openxmlformats.org/drawingml/2006/main">
            <a:srgbClr val="151E29"/>
          </a:solidFill>
          <a:ln xmlns:a="http://schemas.openxmlformats.org/drawingml/2006/main" w="19050">
            <a:solidFill>
              <a:srgbClr val="B397F6"/>
            </a:solidFill>
            <a:prstDash val="dash"/>
          </a:ln>
        </p:spPr>
        <p:txBody>
          <a:bodyPr xmlns:a="http://schemas.openxmlformats.org/drawingml/2006/main" lIns="114300" tIns="114300" rIns="114300" bIns="114300" anchor="ctr">
            <a:noAutofit/>
          </a:bodyPr>
          <a:lstStyle xmlns:a="http://schemas.openxmlformats.org/drawingml/2006/main">
            <a:defPPr algn="ctr">
              <a:defRPr sz="2025" b="1">
                <a:solidFill>
                  <a:srgbClr val="F5F7FB"/>
                </a:solidFill>
                <a:latin typeface="Calibri"/>
                <a:ea typeface="Calibri"/>
                <a:cs typeface="Calibri"/>
              </a:defRPr>
            </a:defPPr>
          </a:lstStyle>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session</a:t>
            </a:r>
          </a:p>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PK session_id</a:t>
            </a:r>
          </a:p>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FK source_id</a:t>
            </a:r>
          </a:p>
        </p:txBody>
      </p:sp>
      <p:sp>
        <p:nvSpPr>
          <p:cNvPr id="6" name="metric_sample&#10;PK sample_id&#10;FK session_id">
            <a:extLst xmlns:a="http://schemas.openxmlformats.org/drawingml/2006/main">
              <a:ext uri="{FF2B5EF4-FFF2-40B4-BE49-F238E27FC236}">
                <a16:creationId xmlns:a16="http://schemas.microsoft.com/office/drawing/2014/main" id="{82978CA6-9B3E-436B-8372-65EB86B13241}"/>
              </a:ext>
            </a:extLst>
          </p:cNvPr>
          <p:cNvSpPr>
            <a:spLocks xmlns:a="http://schemas.openxmlformats.org/drawingml/2006/main" noGrp="1"/>
          </p:cNvSpPr>
          <p:nvPr/>
        </p:nvSpPr>
        <p:spPr>
          <a:xfrm xmlns:a="http://schemas.openxmlformats.org/drawingml/2006/main">
            <a:off x="8696325" y="1657350"/>
            <a:ext cx="3048000" cy="1562100"/>
          </a:xfrm>
          <a:prstGeom xmlns:a="http://schemas.openxmlformats.org/drawingml/2006/main" prst="roundRect">
            <a:avLst>
              <a:gd name="adj" fmla="val 6098"/>
            </a:avLst>
          </a:prstGeom>
          <a:solidFill xmlns:a="http://schemas.openxmlformats.org/drawingml/2006/main">
            <a:srgbClr val="151E29"/>
          </a:solidFill>
          <a:ln xmlns:a="http://schemas.openxmlformats.org/drawingml/2006/main" w="19050">
            <a:solidFill>
              <a:srgbClr val="B397F6"/>
            </a:solidFill>
            <a:prstDash val="dash"/>
          </a:ln>
        </p:spPr>
        <p:txBody>
          <a:bodyPr xmlns:a="http://schemas.openxmlformats.org/drawingml/2006/main" lIns="114300" tIns="114300" rIns="114300" bIns="114300" anchor="ctr">
            <a:noAutofit/>
          </a:bodyPr>
          <a:lstStyle xmlns:a="http://schemas.openxmlformats.org/drawingml/2006/main">
            <a:defPPr algn="ctr">
              <a:defRPr sz="2025" b="1">
                <a:solidFill>
                  <a:srgbClr val="F5F7FB"/>
                </a:solidFill>
                <a:latin typeface="Calibri"/>
                <a:ea typeface="Calibri"/>
                <a:cs typeface="Calibri"/>
              </a:defRPr>
            </a:defPPr>
          </a:lstStyle>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metric_sample</a:t>
            </a:r>
          </a:p>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PK sample_id</a:t>
            </a:r>
          </a:p>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FK session_id</a:t>
            </a:r>
          </a:p>
        </p:txBody>
      </p:sp>
      <p:sp>
        <p:nvSpPr>
          <p:cNvPr id="7" name="diagnostic_event&#10;PK event_id&#10;FK session_id">
            <a:extLst xmlns:a="http://schemas.openxmlformats.org/drawingml/2006/main">
              <a:ext uri="{FF2B5EF4-FFF2-40B4-BE49-F238E27FC236}">
                <a16:creationId xmlns:a16="http://schemas.microsoft.com/office/drawing/2014/main" id="{5B0FDB69-A312-4F98-AAC7-2BC34EAE6050}"/>
              </a:ext>
            </a:extLst>
          </p:cNvPr>
          <p:cNvSpPr>
            <a:spLocks xmlns:a="http://schemas.openxmlformats.org/drawingml/2006/main" noGrp="1"/>
          </p:cNvSpPr>
          <p:nvPr/>
        </p:nvSpPr>
        <p:spPr>
          <a:xfrm xmlns:a="http://schemas.openxmlformats.org/drawingml/2006/main">
            <a:off x="4600575" y="3990975"/>
            <a:ext cx="3048000" cy="1524000"/>
          </a:xfrm>
          <a:prstGeom xmlns:a="http://schemas.openxmlformats.org/drawingml/2006/main" prst="roundRect">
            <a:avLst>
              <a:gd name="adj" fmla="val 6250"/>
            </a:avLst>
          </a:prstGeom>
          <a:solidFill xmlns:a="http://schemas.openxmlformats.org/drawingml/2006/main">
            <a:srgbClr val="151E29"/>
          </a:solidFill>
          <a:ln xmlns:a="http://schemas.openxmlformats.org/drawingml/2006/main" w="19050">
            <a:solidFill>
              <a:srgbClr val="B397F6"/>
            </a:solidFill>
            <a:prstDash val="dash"/>
          </a:ln>
        </p:spPr>
        <p:txBody>
          <a:bodyPr xmlns:a="http://schemas.openxmlformats.org/drawingml/2006/main" lIns="114300" tIns="114300" rIns="114300" bIns="114300" anchor="ctr">
            <a:noAutofit/>
          </a:bodyPr>
          <a:lstStyle xmlns:a="http://schemas.openxmlformats.org/drawingml/2006/main">
            <a:defPPr algn="ctr">
              <a:defRPr sz="2025" b="1">
                <a:solidFill>
                  <a:srgbClr val="F5F7FB"/>
                </a:solidFill>
                <a:latin typeface="Calibri"/>
                <a:ea typeface="Calibri"/>
                <a:cs typeface="Calibri"/>
              </a:defRPr>
            </a:defPPr>
          </a:lstStyle>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diagnostic_event</a:t>
            </a:r>
          </a:p>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PK event_id</a:t>
            </a:r>
          </a:p>
          <a:p xmlns:a="http://schemas.openxmlformats.org/drawingml/2006/main">
            <a:pPr algn="ctr">
              <a:defRPr sz="2025" b="1">
                <a:solidFill>
                  <a:srgbClr val="F5F7FB"/>
                </a:solidFill>
                <a:latin typeface="Calibri"/>
                <a:ea typeface="Calibri"/>
                <a:cs typeface="Calibri"/>
              </a:defRPr>
            </a:pPr>
            <a:r>
              <a:rPr sz="2025" b="1">
                <a:solidFill>
                  <a:srgbClr val="F5F7FB"/>
                </a:solidFill>
                <a:latin typeface="Calibri"/>
                <a:ea typeface="Calibri"/>
                <a:cs typeface="Calibri"/>
              </a:rPr>
              <a:t>FK session_id</a:t>
            </a:r>
          </a:p>
        </p:txBody>
      </p:sp>
      <p:sp>
        <p:nvSpPr>
          <p:cNvPr id="11" name="1     0..N">
            <a:extLst xmlns:a="http://schemas.openxmlformats.org/drawingml/2006/main">
              <a:ext uri="{FF2B5EF4-FFF2-40B4-BE49-F238E27FC236}">
                <a16:creationId xmlns:a16="http://schemas.microsoft.com/office/drawing/2014/main" id="{B8C7A2A7-D164-4C4D-B8FC-D5D21D9F67A6}"/>
              </a:ext>
            </a:extLst>
          </p:cNvPr>
          <p:cNvSpPr>
            <a:spLocks xmlns:a="http://schemas.openxmlformats.org/drawingml/2006/main" noGrp="1"/>
          </p:cNvSpPr>
          <p:nvPr/>
        </p:nvSpPr>
        <p:spPr>
          <a:xfrm xmlns:a="http://schemas.openxmlformats.org/drawingml/2006/main">
            <a:off x="3667125" y="1895475"/>
            <a:ext cx="85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0">
                <a:solidFill>
                  <a:srgbClr val="69E5BA"/>
                </a:solidFill>
                <a:latin typeface="Calibri"/>
                <a:ea typeface="Calibri"/>
                <a:cs typeface="Calibri"/>
              </a:defRPr>
            </a:defPPr>
          </a:lstStyle>
          <a:p xmlns:a="http://schemas.openxmlformats.org/drawingml/2006/main">
            <a:pPr algn="ctr">
              <a:defRPr sz="1800" b="0">
                <a:solidFill>
                  <a:srgbClr val="69E5BA"/>
                </a:solidFill>
                <a:latin typeface="Calibri"/>
                <a:ea typeface="Calibri"/>
                <a:cs typeface="Calibri"/>
              </a:defRPr>
            </a:pPr>
            <a:r>
              <a:rPr sz="1800" b="0">
                <a:solidFill>
                  <a:srgbClr val="69E5BA"/>
                </a:solidFill>
                <a:latin typeface="Calibri"/>
                <a:ea typeface="Calibri"/>
                <a:cs typeface="Calibri"/>
              </a:rPr>
              <a:t>1     0..N</a:t>
            </a:r>
          </a:p>
        </p:txBody>
      </p:sp>
      <p:sp>
        <p:nvSpPr>
          <p:cNvPr id="12" name="1     0..N">
            <a:extLst xmlns:a="http://schemas.openxmlformats.org/drawingml/2006/main">
              <a:ext uri="{FF2B5EF4-FFF2-40B4-BE49-F238E27FC236}">
                <a16:creationId xmlns:a16="http://schemas.microsoft.com/office/drawing/2014/main" id="{A41CF01B-4266-4C57-8635-ABF9A1F119C0}"/>
              </a:ext>
            </a:extLst>
          </p:cNvPr>
          <p:cNvSpPr>
            <a:spLocks xmlns:a="http://schemas.openxmlformats.org/drawingml/2006/main" noGrp="1"/>
          </p:cNvSpPr>
          <p:nvPr/>
        </p:nvSpPr>
        <p:spPr>
          <a:xfrm xmlns:a="http://schemas.openxmlformats.org/drawingml/2006/main">
            <a:off x="7734300" y="1895475"/>
            <a:ext cx="895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0">
                <a:solidFill>
                  <a:srgbClr val="69E5BA"/>
                </a:solidFill>
                <a:latin typeface="Calibri"/>
                <a:ea typeface="Calibri"/>
                <a:cs typeface="Calibri"/>
              </a:defRPr>
            </a:defPPr>
          </a:lstStyle>
          <a:p xmlns:a="http://schemas.openxmlformats.org/drawingml/2006/main">
            <a:pPr algn="ctr">
              <a:defRPr sz="1800" b="0">
                <a:solidFill>
                  <a:srgbClr val="69E5BA"/>
                </a:solidFill>
                <a:latin typeface="Calibri"/>
                <a:ea typeface="Calibri"/>
                <a:cs typeface="Calibri"/>
              </a:defRPr>
            </a:pPr>
            <a:r>
              <a:rPr sz="1800" b="0">
                <a:solidFill>
                  <a:srgbClr val="69E5BA"/>
                </a:solidFill>
                <a:latin typeface="Calibri"/>
                <a:ea typeface="Calibri"/>
                <a:cs typeface="Calibri"/>
              </a:rPr>
              <a:t>1     0..N</a:t>
            </a:r>
          </a:p>
        </p:txBody>
      </p:sp>
      <p:sp>
        <p:nvSpPr>
          <p:cNvPr id="13" name="1   0..N">
            <a:extLst xmlns:a="http://schemas.openxmlformats.org/drawingml/2006/main">
              <a:ext uri="{FF2B5EF4-FFF2-40B4-BE49-F238E27FC236}">
                <a16:creationId xmlns:a16="http://schemas.microsoft.com/office/drawing/2014/main" id="{C2759C81-646C-47CA-90A2-43E1573E57DB}"/>
              </a:ext>
            </a:extLst>
          </p:cNvPr>
          <p:cNvSpPr>
            <a:spLocks xmlns:a="http://schemas.openxmlformats.org/drawingml/2006/main" noGrp="1"/>
          </p:cNvSpPr>
          <p:nvPr/>
        </p:nvSpPr>
        <p:spPr>
          <a:xfrm xmlns:a="http://schemas.openxmlformats.org/drawingml/2006/main">
            <a:off x="7858125" y="34575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9E5BA"/>
                </a:solidFill>
                <a:latin typeface="Calibri"/>
                <a:ea typeface="Calibri"/>
                <a:cs typeface="Calibri"/>
              </a:defRPr>
            </a:defPPr>
          </a:lstStyle>
          <a:p xmlns:a="http://schemas.openxmlformats.org/drawingml/2006/main">
            <a:pPr algn="l">
              <a:defRPr sz="1800" b="0">
                <a:solidFill>
                  <a:srgbClr val="69E5BA"/>
                </a:solidFill>
                <a:latin typeface="Calibri"/>
                <a:ea typeface="Calibri"/>
                <a:cs typeface="Calibri"/>
              </a:defRPr>
            </a:pPr>
            <a:r>
              <a:rPr sz="1800" b="0">
                <a:solidFill>
                  <a:srgbClr val="69E5BA"/>
                </a:solidFill>
                <a:latin typeface="Calibri"/>
                <a:ea typeface="Calibri"/>
                <a:cs typeface="Calibri"/>
              </a:rPr>
              <a:t>1   0..N</a:t>
            </a:r>
          </a:p>
        </p:txBody>
      </p:sp>
      <p:sp>
        <p:nvSpPr>
          <p:cNvPr id="14" name="Telemetría local sin guardar fotogramas">
            <a:extLst xmlns:a="http://schemas.openxmlformats.org/drawingml/2006/main">
              <a:ext uri="{FF2B5EF4-FFF2-40B4-BE49-F238E27FC236}">
                <a16:creationId xmlns:a16="http://schemas.microsoft.com/office/drawing/2014/main" id="{FBF46F6A-B7B1-4347-A764-557D0C7AA79F}"/>
              </a:ext>
            </a:extLst>
          </p:cNvPr>
          <p:cNvSpPr>
            <a:spLocks xmlns:a="http://schemas.openxmlformats.org/drawingml/2006/main" noGrp="1"/>
          </p:cNvSpPr>
          <p:nvPr/>
        </p:nvSpPr>
        <p:spPr>
          <a:xfrm xmlns:a="http://schemas.openxmlformats.org/drawingml/2006/main">
            <a:off x="523875" y="570547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0">
                <a:solidFill>
                  <a:srgbClr val="B6C0D0"/>
                </a:solidFill>
                <a:latin typeface="Calibri"/>
                <a:ea typeface="Calibri"/>
                <a:cs typeface="Calibri"/>
              </a:defRPr>
            </a:defPPr>
          </a:lstStyle>
          <a:p xmlns:a="http://schemas.openxmlformats.org/drawingml/2006/main">
            <a:pPr algn="ctr">
              <a:defRPr sz="2100" b="0">
                <a:solidFill>
                  <a:srgbClr val="B6C0D0"/>
                </a:solidFill>
                <a:latin typeface="Calibri"/>
                <a:ea typeface="Calibri"/>
                <a:cs typeface="Calibri"/>
              </a:defRPr>
            </a:pPr>
            <a:r>
              <a:rPr sz="2100" b="0">
                <a:solidFill>
                  <a:srgbClr val="B6C0D0"/>
                </a:solidFill>
                <a:latin typeface="Calibri"/>
                <a:ea typeface="Calibri"/>
                <a:cs typeface="Calibri"/>
              </a:rPr>
              <a:t>Telemetría local sin guardar fotogramas</a:t>
            </a:r>
          </a:p>
        </p:txBody>
      </p:sp>
    </p:spTree>
    <p:extLst>
      <p:ext uri="{BB962C8B-B14F-4D97-AF65-F5344CB8AC3E}">
        <p14:creationId xmlns:p14="http://schemas.microsoft.com/office/powerpoint/2010/main" val="1974211760"/>
      </p:ext>
    </p:extLst>
  </p:cSld>
</p:sld>
</file>

<file path=ppt/slides/slide13.xml><?xml version="1.0" encoding="utf-8"?>
<p:sld xmlns:p="http://schemas.openxmlformats.org/presentationml/2006/main">
  <p:cSld>
    <p:bg>
      <p:bgPr>
        <a:solidFill xmlns:a="http://schemas.openxmlformats.org/drawingml/2006/main">
          <a:srgbClr val="0D1118"/>
        </a:solidFill>
      </p:bgPr>
    </p:bg>
    <p:spTree>
      <p:nvGrpSpPr>
        <p:cNvPr id="1" name=""/>
        <p:cNvGrpSpPr/>
        <p:nvPr/>
      </p:nvGrpSpPr>
      <p:grpSpPr>
        <a:xfrm xmlns:a="http://schemas.openxmlformats.org/drawingml/2006/main"/>
      </p:grpSpPr>
      <p:sp>
        <p:nvSpPr>
          <p:cNvPr id="6" name="Planning general y sprints">
            <a:extLst xmlns:a="http://schemas.openxmlformats.org/drawingml/2006/main">
              <a:ext uri="{FF2B5EF4-FFF2-40B4-BE49-F238E27FC236}">
                <a16:creationId xmlns:a16="http://schemas.microsoft.com/office/drawing/2014/main" id="{EDDBB793-002B-4CBC-84A1-E45D2D2AD7EB}"/>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5F7FB"/>
                </a:solidFill>
                <a:latin typeface="Calibri"/>
                <a:ea typeface="Calibri"/>
                <a:cs typeface="Calibri"/>
              </a:defRPr>
            </a:defPPr>
          </a:lstStyle>
          <a:p xmlns:a="http://schemas.openxmlformats.org/drawingml/2006/main">
            <a:pPr algn="l">
              <a:defRPr sz="3300" b="1">
                <a:solidFill>
                  <a:srgbClr val="F5F7FB"/>
                </a:solidFill>
                <a:latin typeface="Calibri"/>
                <a:ea typeface="Calibri"/>
                <a:cs typeface="Calibri"/>
              </a:defRPr>
            </a:pPr>
            <a:r>
              <a:rPr sz="3300" b="1">
                <a:solidFill>
                  <a:srgbClr val="F5F7FB"/>
                </a:solidFill>
                <a:latin typeface="Calibri"/>
                <a:ea typeface="Calibri"/>
                <a:cs typeface="Calibri"/>
              </a:rPr>
              <a:t>Planning general y sprints</a:t>
            </a:r>
          </a:p>
        </p:txBody>
      </p:sp>
      <p:sp>
        <p:nvSpPr>
          <p:cNvPr id="2" name="Plan propuesto con duración a ajustar por el equipo">
            <a:extLst xmlns:a="http://schemas.openxmlformats.org/drawingml/2006/main">
              <a:ext uri="{FF2B5EF4-FFF2-40B4-BE49-F238E27FC236}">
                <a16:creationId xmlns:a16="http://schemas.microsoft.com/office/drawing/2014/main" id="{8C10EF3A-D544-4139-9347-437C1D88E46D}"/>
              </a:ext>
            </a:extLst>
          </p:cNvPr>
          <p:cNvSpPr>
            <a:spLocks xmlns:a="http://schemas.openxmlformats.org/drawingml/2006/main" noGrp="1"/>
          </p:cNvSpPr>
          <p:nvPr/>
        </p:nvSpPr>
        <p:spPr>
          <a:xfrm xmlns:a="http://schemas.openxmlformats.org/drawingml/2006/main">
            <a:off x="609600" y="6229350"/>
            <a:ext cx="1019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6C0D0"/>
                </a:solidFill>
                <a:latin typeface="Calibri"/>
                <a:ea typeface="Calibri"/>
                <a:cs typeface="Calibri"/>
              </a:defRPr>
            </a:defPPr>
          </a:lstStyle>
          <a:p xmlns:a="http://schemas.openxmlformats.org/drawingml/2006/main">
            <a:pPr algn="l">
              <a:defRPr sz="1500" b="0">
                <a:solidFill>
                  <a:srgbClr val="B6C0D0"/>
                </a:solidFill>
                <a:latin typeface="Calibri"/>
                <a:ea typeface="Calibri"/>
                <a:cs typeface="Calibri"/>
              </a:defRPr>
            </a:pPr>
            <a:r>
              <a:rPr sz="1500" b="0">
                <a:solidFill>
                  <a:srgbClr val="B6C0D0"/>
                </a:solidFill>
                <a:latin typeface="Calibri"/>
                <a:ea typeface="Calibri"/>
                <a:cs typeface="Calibri"/>
              </a:rPr>
              <a:t>Plan propuesto con duración a ajustar por el equipo</a:t>
            </a:r>
          </a:p>
        </p:txBody>
      </p:sp>
      <p:sp>
        <p:nvSpPr>
          <p:cNvPr id="3" name="13">
            <a:extLst xmlns:a="http://schemas.openxmlformats.org/drawingml/2006/main">
              <a:ext uri="{FF2B5EF4-FFF2-40B4-BE49-F238E27FC236}">
                <a16:creationId xmlns:a16="http://schemas.microsoft.com/office/drawing/2014/main" id="{07650044-DB0F-42A5-9D30-794E4C4760BD}"/>
              </a:ext>
            </a:extLst>
          </p:cNvPr>
          <p:cNvSpPr>
            <a:spLocks xmlns:a="http://schemas.openxmlformats.org/drawingml/2006/main" noGrp="1"/>
          </p:cNvSpPr>
          <p:nvPr/>
        </p:nvSpPr>
        <p:spPr>
          <a:xfrm xmlns:a="http://schemas.openxmlformats.org/drawingml/2006/main">
            <a:off x="11125200" y="62293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6C0D0"/>
                </a:solidFill>
                <a:latin typeface="Calibri"/>
                <a:ea typeface="Calibri"/>
                <a:cs typeface="Calibri"/>
              </a:defRPr>
            </a:defPPr>
          </a:lstStyle>
          <a:p xmlns:a="http://schemas.openxmlformats.org/drawingml/2006/main">
            <a:pPr algn="r">
              <a:defRPr sz="1500" b="0">
                <a:solidFill>
                  <a:srgbClr val="B6C0D0"/>
                </a:solidFill>
                <a:latin typeface="Calibri"/>
                <a:ea typeface="Calibri"/>
                <a:cs typeface="Calibri"/>
              </a:defRPr>
            </a:pPr>
            <a:r>
              <a:rPr sz="1500" b="0">
                <a:solidFill>
                  <a:srgbClr val="B6C0D0"/>
                </a:solidFill>
                <a:latin typeface="Calibri"/>
                <a:ea typeface="Calibri"/>
                <a:cs typeface="Calibri"/>
              </a:rPr>
              <a:t>13</a:t>
            </a:r>
          </a:p>
        </p:txBody>
      </p:sp>
      <p:graphicFrame>
        <p:nvGraphicFramePr>
          <p:cNvPr id="4" name="">
            <a:extLst xmlns:a="http://schemas.openxmlformats.org/drawingml/2006/main">
              <a:ext uri="{FF2B5EF4-FFF2-40B4-BE49-F238E27FC236}">
                <a16:creationId xmlns:a16="http://schemas.microsoft.com/office/drawing/2014/main" id="{1CC33B06-66F3-472F-B031-06A699A15BDE}"/>
              </a:ext>
            </a:extLst>
          </p:cNvPr>
          <p:cNvGraphicFramePr/>
          <p:nvPr/>
        </p:nvGraphicFramePr>
        <p:xfrm>
          <a:off xmlns:a="http://schemas.openxmlformats.org/drawingml/2006/main" x="609600" y="1752600"/>
          <a:ext xmlns:a="http://schemas.openxmlformats.org/drawingml/2006/main" cx="10972800" cy="3581400"/>
        </p:xfrm>
        <a:graphic xmlns:a="http://schemas.openxmlformats.org/drawingml/2006/main">
          <a:graphicData uri="http://schemas.openxmlformats.org/drawingml/2006/table">
            <a:tbl>
              <a:tblPr/>
              <a:tblGrid>
                <a:gridCol w="1381125"/>
                <a:gridCol w="4476750"/>
                <a:gridCol w="5114925"/>
              </a:tblGrid>
              <a:tr h="716280">
                <a:tc>
                  <a:txBody>
                    <a:bodyPr lIns="114300" tIns="114300" rIns="114300" bIns="114300">
                      <a:noAutofit/>
                    </a:bodyPr>
                    <a:lstStyle/>
                    <a:p>
                      <a:r>
                        <a:rPr sz="1800" b="1">
                          <a:solidFill>
                            <a:srgbClr val="69E5BA"/>
                          </a:solidFill>
                          <a:latin typeface="Calibri"/>
                          <a:ea typeface="Calibri"/>
                          <a:cs typeface="Calibri"/>
                        </a:rPr>
                        <a:t>Sprint</a:t>
                      </a:r>
                    </a:p>
                  </a:txBody>
                  <a:tcPr marL="91440" marR="91440" marT="45720" marB="45720" anchor="ctr">
                    <a:solidFill>
                      <a:srgbClr val="28364A"/>
                    </a:solidFill>
                  </a:tcPr>
                </a:tc>
                <a:tc>
                  <a:txBody>
                    <a:bodyPr lIns="114300" tIns="114300" rIns="114300" bIns="114300">
                      <a:noAutofit/>
                    </a:bodyPr>
                    <a:lstStyle/>
                    <a:p>
                      <a:r>
                        <a:rPr sz="1800" b="1">
                          <a:solidFill>
                            <a:srgbClr val="69E5BA"/>
                          </a:solidFill>
                          <a:latin typeface="Calibri"/>
                          <a:ea typeface="Calibri"/>
                          <a:cs typeface="Calibri"/>
                        </a:rPr>
                        <a:t>Objetivo</a:t>
                      </a:r>
                    </a:p>
                  </a:txBody>
                  <a:tcPr marL="91440" marR="91440" marT="45720" marB="45720" anchor="ctr">
                    <a:solidFill>
                      <a:srgbClr val="28364A"/>
                    </a:solidFill>
                  </a:tcPr>
                </a:tc>
                <a:tc>
                  <a:txBody>
                    <a:bodyPr lIns="114300" tIns="114300" rIns="114300" bIns="114300">
                      <a:noAutofit/>
                    </a:bodyPr>
                    <a:lstStyle/>
                    <a:p>
                      <a:r>
                        <a:rPr sz="1800" b="1">
                          <a:solidFill>
                            <a:srgbClr val="69E5BA"/>
                          </a:solidFill>
                          <a:latin typeface="Calibri"/>
                          <a:ea typeface="Calibri"/>
                          <a:cs typeface="Calibri"/>
                        </a:rPr>
                        <a:t>Resultado</a:t>
                      </a:r>
                    </a:p>
                  </a:txBody>
                  <a:tcPr marL="91440" marR="91440" marT="45720" marB="45720" anchor="ctr">
                    <a:solidFill>
                      <a:srgbClr val="28364A"/>
                    </a:solidFill>
                  </a:tcPr>
                </a:tc>
              </a:tr>
              <a:tr h="716280">
                <a:tc>
                  <a:txBody>
                    <a:bodyPr lIns="114300" tIns="114300" rIns="114300" bIns="114300">
                      <a:noAutofit/>
                    </a:bodyPr>
                    <a:lstStyle/>
                    <a:p>
                      <a:r>
                        <a:rPr sz="1800" b="0">
                          <a:solidFill>
                            <a:srgbClr val="F5F7FB"/>
                          </a:solidFill>
                          <a:latin typeface="Calibri"/>
                          <a:ea typeface="Calibri"/>
                          <a:cs typeface="Calibri"/>
                        </a:rPr>
                        <a:t>S1</a:t>
                      </a:r>
                    </a:p>
                  </a:txBody>
                  <a:tcPr marL="91440" marR="91440" marT="45720" marB="45720" anchor="ctr">
                    <a:solidFill>
                      <a:srgbClr val="151D28"/>
                    </a:solidFill>
                  </a:tcPr>
                </a:tc>
                <a:tc>
                  <a:txBody>
                    <a:bodyPr lIns="114300" tIns="114300" rIns="114300" bIns="114300">
                      <a:noAutofit/>
                    </a:bodyPr>
                    <a:lstStyle/>
                    <a:p>
                      <a:r>
                        <a:rPr sz="1800" b="0">
                          <a:solidFill>
                            <a:srgbClr val="F5F7FB"/>
                          </a:solidFill>
                          <a:latin typeface="Calibri"/>
                          <a:ea typeface="Calibri"/>
                          <a:cs typeface="Calibri"/>
                        </a:rPr>
                        <a:t>Cierre académico y estabilidad</a:t>
                      </a:r>
                    </a:p>
                  </a:txBody>
                  <a:tcPr marL="91440" marR="91440" marT="45720" marB="45720" anchor="ctr">
                    <a:solidFill>
                      <a:srgbClr val="151D28"/>
                    </a:solidFill>
                  </a:tcPr>
                </a:tc>
                <a:tc>
                  <a:txBody>
                    <a:bodyPr lIns="114300" tIns="114300" rIns="114300" bIns="114300">
                      <a:noAutofit/>
                    </a:bodyPr>
                    <a:lstStyle/>
                    <a:p>
                      <a:r>
                        <a:rPr sz="1800" b="0">
                          <a:solidFill>
                            <a:srgbClr val="F5F7FB"/>
                          </a:solidFill>
                          <a:latin typeface="Calibri"/>
                          <a:ea typeface="Calibri"/>
                          <a:cs typeface="Calibri"/>
                        </a:rPr>
                        <a:t>Documentos y pruebas de fallos</a:t>
                      </a:r>
                    </a:p>
                  </a:txBody>
                  <a:tcPr marL="91440" marR="91440" marT="45720" marB="45720" anchor="ctr">
                    <a:solidFill>
                      <a:srgbClr val="151D28"/>
                    </a:solidFill>
                  </a:tcPr>
                </a:tc>
              </a:tr>
              <a:tr h="716280">
                <a:tc>
                  <a:txBody>
                    <a:bodyPr lIns="114300" tIns="114300" rIns="114300" bIns="114300">
                      <a:noAutofit/>
                    </a:bodyPr>
                    <a:lstStyle/>
                    <a:p>
                      <a:r>
                        <a:rPr sz="1800" b="0">
                          <a:solidFill>
                            <a:srgbClr val="F5F7FB"/>
                          </a:solidFill>
                          <a:latin typeface="Calibri"/>
                          <a:ea typeface="Calibri"/>
                          <a:cs typeface="Calibri"/>
                        </a:rPr>
                        <a:t>S2</a:t>
                      </a:r>
                    </a:p>
                  </a:txBody>
                  <a:tcPr marL="91440" marR="91440" marT="45720" marB="45720" anchor="ctr">
                    <a:solidFill>
                      <a:srgbClr val="1A2532"/>
                    </a:solidFill>
                  </a:tcPr>
                </a:tc>
                <a:tc>
                  <a:txBody>
                    <a:bodyPr lIns="114300" tIns="114300" rIns="114300" bIns="114300">
                      <a:noAutofit/>
                    </a:bodyPr>
                    <a:lstStyle/>
                    <a:p>
                      <a:r>
                        <a:rPr sz="1800" b="0">
                          <a:solidFill>
                            <a:srgbClr val="F5F7FB"/>
                          </a:solidFill>
                          <a:latin typeface="Calibri"/>
                          <a:ea typeface="Calibri"/>
                          <a:cs typeface="Calibri"/>
                        </a:rPr>
                        <a:t>Aplicación de escritorio</a:t>
                      </a:r>
                    </a:p>
                  </a:txBody>
                  <a:tcPr marL="91440" marR="91440" marT="45720" marB="45720" anchor="ctr">
                    <a:solidFill>
                      <a:srgbClr val="1A2532"/>
                    </a:solidFill>
                  </a:tcPr>
                </a:tc>
                <a:tc>
                  <a:txBody>
                    <a:bodyPr lIns="114300" tIns="114300" rIns="114300" bIns="114300">
                      <a:noAutofit/>
                    </a:bodyPr>
                    <a:lstStyle/>
                    <a:p>
                      <a:r>
                        <a:rPr sz="1800" b="0">
                          <a:solidFill>
                            <a:srgbClr val="F5F7FB"/>
                          </a:solidFill>
                          <a:latin typeface="Calibri"/>
                          <a:ea typeface="Calibri"/>
                          <a:cs typeface="Calibri"/>
                        </a:rPr>
                        <a:t>Fuente, sesión, video y estados</a:t>
                      </a:r>
                    </a:p>
                  </a:txBody>
                  <a:tcPr marL="91440" marR="91440" marT="45720" marB="45720" anchor="ctr">
                    <a:solidFill>
                      <a:srgbClr val="1A2532"/>
                    </a:solidFill>
                  </a:tcPr>
                </a:tc>
              </a:tr>
              <a:tr h="716280">
                <a:tc>
                  <a:txBody>
                    <a:bodyPr lIns="114300" tIns="114300" rIns="114300" bIns="114300">
                      <a:noAutofit/>
                    </a:bodyPr>
                    <a:lstStyle/>
                    <a:p>
                      <a:r>
                        <a:rPr sz="1800" b="0">
                          <a:solidFill>
                            <a:srgbClr val="F5F7FB"/>
                          </a:solidFill>
                          <a:latin typeface="Calibri"/>
                          <a:ea typeface="Calibri"/>
                          <a:cs typeface="Calibri"/>
                        </a:rPr>
                        <a:t>S3</a:t>
                      </a:r>
                    </a:p>
                  </a:txBody>
                  <a:tcPr marL="91440" marR="91440" marT="45720" marB="45720" anchor="ctr">
                    <a:solidFill>
                      <a:srgbClr val="151D28"/>
                    </a:solidFill>
                  </a:tcPr>
                </a:tc>
                <a:tc>
                  <a:txBody>
                    <a:bodyPr lIns="114300" tIns="114300" rIns="114300" bIns="114300">
                      <a:noAutofit/>
                    </a:bodyPr>
                    <a:lstStyle/>
                    <a:p>
                      <a:r>
                        <a:rPr sz="1800" b="0">
                          <a:solidFill>
                            <a:srgbClr val="F5F7FB"/>
                          </a:solidFill>
                          <a:latin typeface="Calibri"/>
                          <a:ea typeface="Calibri"/>
                          <a:cs typeface="Calibri"/>
                        </a:rPr>
                        <a:t>Visión y persistencia</a:t>
                      </a:r>
                    </a:p>
                  </a:txBody>
                  <a:tcPr marL="91440" marR="91440" marT="45720" marB="45720" anchor="ctr">
                    <a:solidFill>
                      <a:srgbClr val="151D28"/>
                    </a:solidFill>
                  </a:tcPr>
                </a:tc>
                <a:tc>
                  <a:txBody>
                    <a:bodyPr lIns="114300" tIns="114300" rIns="114300" bIns="114300">
                      <a:noAutofit/>
                    </a:bodyPr>
                    <a:lstStyle/>
                    <a:p>
                      <a:r>
                        <a:rPr sz="1800" b="0">
                          <a:solidFill>
                            <a:srgbClr val="F5F7FB"/>
                          </a:solidFill>
                          <a:latin typeface="Calibri"/>
                          <a:ea typeface="Calibri"/>
                          <a:cs typeface="Calibri"/>
                        </a:rPr>
                        <a:t>Filtros, detector y SQLite</a:t>
                      </a:r>
                    </a:p>
                  </a:txBody>
                  <a:tcPr marL="91440" marR="91440" marT="45720" marB="45720" anchor="ctr">
                    <a:solidFill>
                      <a:srgbClr val="151D28"/>
                    </a:solidFill>
                  </a:tcPr>
                </a:tc>
              </a:tr>
              <a:tr h="716280">
                <a:tc>
                  <a:txBody>
                    <a:bodyPr lIns="114300" tIns="114300" rIns="114300" bIns="114300">
                      <a:noAutofit/>
                    </a:bodyPr>
                    <a:lstStyle/>
                    <a:p>
                      <a:r>
                        <a:rPr sz="1800" b="0">
                          <a:solidFill>
                            <a:srgbClr val="F5F7FB"/>
                          </a:solidFill>
                          <a:latin typeface="Calibri"/>
                          <a:ea typeface="Calibri"/>
                          <a:cs typeface="Calibri"/>
                        </a:rPr>
                        <a:t>S4</a:t>
                      </a:r>
                    </a:p>
                  </a:txBody>
                  <a:tcPr marL="91440" marR="91440" marT="45720" marB="45720" anchor="ctr">
                    <a:solidFill>
                      <a:srgbClr val="1A2532"/>
                    </a:solidFill>
                  </a:tcPr>
                </a:tc>
                <a:tc>
                  <a:txBody>
                    <a:bodyPr lIns="114300" tIns="114300" rIns="114300" bIns="114300">
                      <a:noAutofit/>
                    </a:bodyPr>
                    <a:lstStyle/>
                    <a:p>
                      <a:r>
                        <a:rPr sz="1800" b="0">
                          <a:solidFill>
                            <a:srgbClr val="F5F7FB"/>
                          </a:solidFill>
                          <a:latin typeface="Calibri"/>
                          <a:ea typeface="Calibri"/>
                          <a:cs typeface="Calibri"/>
                        </a:rPr>
                        <a:t>Validación y distribución</a:t>
                      </a:r>
                    </a:p>
                  </a:txBody>
                  <a:tcPr marL="91440" marR="91440" marT="45720" marB="45720" anchor="ctr">
                    <a:solidFill>
                      <a:srgbClr val="1A2532"/>
                    </a:solidFill>
                  </a:tcPr>
                </a:tc>
                <a:tc>
                  <a:txBody>
                    <a:bodyPr lIns="114300" tIns="114300" rIns="114300" bIns="114300">
                      <a:noAutofit/>
                    </a:bodyPr>
                    <a:lstStyle/>
                    <a:p>
                      <a:r>
                        <a:rPr sz="1800" b="0">
                          <a:solidFill>
                            <a:srgbClr val="F5F7FB"/>
                          </a:solidFill>
                          <a:latin typeface="Calibri"/>
                          <a:ea typeface="Calibri"/>
                          <a:cs typeface="Calibri"/>
                        </a:rPr>
                        <a:t>Recuperación y empaquetado</a:t>
                      </a:r>
                    </a:p>
                  </a:txBody>
                  <a:tcPr marL="91440" marR="91440" marT="45720" marB="45720" anchor="ctr">
                    <a:solidFill>
                      <a:srgbClr val="1A2532"/>
                    </a:solidFill>
                  </a:tcPr>
                </a:tc>
              </a:tr>
            </a:tbl>
          </a:graphicData>
        </a:graphic>
      </p:graphicFrame>
      <p:sp>
        <p:nvSpPr>
          <p:cNvPr id="5" name="Cada historia vincula requisito, aceptación y evidencia">
            <a:extLst xmlns:a="http://schemas.openxmlformats.org/drawingml/2006/main">
              <a:ext uri="{FF2B5EF4-FFF2-40B4-BE49-F238E27FC236}">
                <a16:creationId xmlns:a16="http://schemas.microsoft.com/office/drawing/2014/main" id="{52A9040E-BA10-4368-A359-1E055ECA9E62}"/>
              </a:ext>
            </a:extLst>
          </p:cNvPr>
          <p:cNvSpPr>
            <a:spLocks xmlns:a="http://schemas.openxmlformats.org/drawingml/2006/main" noGrp="1"/>
          </p:cNvSpPr>
          <p:nvPr/>
        </p:nvSpPr>
        <p:spPr>
          <a:xfrm xmlns:a="http://schemas.openxmlformats.org/drawingml/2006/main">
            <a:off x="609600" y="56007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69E5BA"/>
                </a:solidFill>
                <a:latin typeface="Calibri"/>
                <a:ea typeface="Calibri"/>
                <a:cs typeface="Calibri"/>
              </a:defRPr>
            </a:defPPr>
          </a:lstStyle>
          <a:p xmlns:a="http://schemas.openxmlformats.org/drawingml/2006/main">
            <a:pPr algn="l">
              <a:defRPr sz="2250" b="1">
                <a:solidFill>
                  <a:srgbClr val="69E5BA"/>
                </a:solidFill>
                <a:latin typeface="Calibri"/>
                <a:ea typeface="Calibri"/>
                <a:cs typeface="Calibri"/>
              </a:defRPr>
            </a:pPr>
            <a:r>
              <a:rPr sz="2250" b="1">
                <a:solidFill>
                  <a:srgbClr val="69E5BA"/>
                </a:solidFill>
                <a:latin typeface="Calibri"/>
                <a:ea typeface="Calibri"/>
                <a:cs typeface="Calibri"/>
              </a:rPr>
              <a:t>Cada historia vincula requisito, aceptación y evidencia</a:t>
            </a:r>
          </a:p>
        </p:txBody>
      </p:sp>
    </p:spTree>
    <p:extLst>
      <p:ext uri="{BB962C8B-B14F-4D97-AF65-F5344CB8AC3E}">
        <p14:creationId xmlns:p14="http://schemas.microsoft.com/office/powerpoint/2010/main" val="2128379304"/>
      </p:ext>
    </p:extLst>
  </p:cSld>
</p:sld>
</file>

<file path=ppt/slides/slide14.xml><?xml version="1.0" encoding="utf-8"?>
<p:sld xmlns:p="http://schemas.openxmlformats.org/presentationml/2006/main">
  <p:cSld>
    <p:bg>
      <p:bgPr>
        <a:solidFill xmlns:a="http://schemas.openxmlformats.org/drawingml/2006/main">
          <a:srgbClr val="0D1118"/>
        </a:solidFill>
      </p:bgPr>
    </p:bg>
    <p:spTree>
      <p:nvGrpSpPr>
        <p:cNvPr id="1" name=""/>
        <p:cNvGrpSpPr/>
        <p:nvPr/>
      </p:nvGrpSpPr>
      <p:grpSpPr>
        <a:xfrm xmlns:a="http://schemas.openxmlformats.org/drawingml/2006/main"/>
      </p:grpSpPr>
      <p:sp>
        <p:nvSpPr>
          <p:cNvPr id="12" name="Evidencia de la base técnica">
            <a:extLst xmlns:a="http://schemas.openxmlformats.org/drawingml/2006/main">
              <a:ext uri="{FF2B5EF4-FFF2-40B4-BE49-F238E27FC236}">
                <a16:creationId xmlns:a16="http://schemas.microsoft.com/office/drawing/2014/main" id="{703F06F0-7E77-467B-917D-4DF59CF06EDC}"/>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5F7FB"/>
                </a:solidFill>
                <a:latin typeface="Calibri"/>
                <a:ea typeface="Calibri"/>
                <a:cs typeface="Calibri"/>
              </a:defRPr>
            </a:defPPr>
          </a:lstStyle>
          <a:p xmlns:a="http://schemas.openxmlformats.org/drawingml/2006/main">
            <a:pPr algn="l">
              <a:defRPr sz="3300" b="1">
                <a:solidFill>
                  <a:srgbClr val="F5F7FB"/>
                </a:solidFill>
                <a:latin typeface="Calibri"/>
                <a:ea typeface="Calibri"/>
                <a:cs typeface="Calibri"/>
              </a:defRPr>
            </a:pPr>
            <a:r>
              <a:rPr sz="3300" b="1">
                <a:solidFill>
                  <a:srgbClr val="F5F7FB"/>
                </a:solidFill>
                <a:latin typeface="Calibri"/>
                <a:ea typeface="Calibri"/>
                <a:cs typeface="Calibri"/>
              </a:rPr>
              <a:t>Evidencia de la base técnica</a:t>
            </a:r>
          </a:p>
        </p:txBody>
      </p:sp>
      <p:sp>
        <p:nvSpPr>
          <p:cNvPr id="2" name="Revisión local en Windows del 11 de octubre de 2026">
            <a:extLst xmlns:a="http://schemas.openxmlformats.org/drawingml/2006/main">
              <a:ext uri="{FF2B5EF4-FFF2-40B4-BE49-F238E27FC236}">
                <a16:creationId xmlns:a16="http://schemas.microsoft.com/office/drawing/2014/main" id="{F9C1A6B7-7EFE-4BD0-A0EB-5FEE160682BB}"/>
              </a:ext>
            </a:extLst>
          </p:cNvPr>
          <p:cNvSpPr>
            <a:spLocks xmlns:a="http://schemas.openxmlformats.org/drawingml/2006/main" noGrp="1"/>
          </p:cNvSpPr>
          <p:nvPr/>
        </p:nvSpPr>
        <p:spPr>
          <a:xfrm xmlns:a="http://schemas.openxmlformats.org/drawingml/2006/main">
            <a:off x="609600" y="6229350"/>
            <a:ext cx="1019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6C0D0"/>
                </a:solidFill>
                <a:latin typeface="Calibri"/>
                <a:ea typeface="Calibri"/>
                <a:cs typeface="Calibri"/>
              </a:defRPr>
            </a:defPPr>
          </a:lstStyle>
          <a:p xmlns:a="http://schemas.openxmlformats.org/drawingml/2006/main">
            <a:pPr algn="l">
              <a:defRPr sz="1500" b="0">
                <a:solidFill>
                  <a:srgbClr val="B6C0D0"/>
                </a:solidFill>
                <a:latin typeface="Calibri"/>
                <a:ea typeface="Calibri"/>
                <a:cs typeface="Calibri"/>
              </a:defRPr>
            </a:pPr>
            <a:r>
              <a:rPr sz="1500" b="0">
                <a:solidFill>
                  <a:srgbClr val="B6C0D0"/>
                </a:solidFill>
                <a:latin typeface="Calibri"/>
                <a:ea typeface="Calibri"/>
                <a:cs typeface="Calibri"/>
              </a:rPr>
              <a:t>Revisión local en Windows del 11 de octubre de 2026</a:t>
            </a:r>
          </a:p>
        </p:txBody>
      </p:sp>
      <p:sp>
        <p:nvSpPr>
          <p:cNvPr id="3" name="14">
            <a:extLst xmlns:a="http://schemas.openxmlformats.org/drawingml/2006/main">
              <a:ext uri="{FF2B5EF4-FFF2-40B4-BE49-F238E27FC236}">
                <a16:creationId xmlns:a16="http://schemas.microsoft.com/office/drawing/2014/main" id="{49175B80-1CED-4321-A71C-52A06DFC3377}"/>
              </a:ext>
            </a:extLst>
          </p:cNvPr>
          <p:cNvSpPr>
            <a:spLocks xmlns:a="http://schemas.openxmlformats.org/drawingml/2006/main" noGrp="1"/>
          </p:cNvSpPr>
          <p:nvPr/>
        </p:nvSpPr>
        <p:spPr>
          <a:xfrm xmlns:a="http://schemas.openxmlformats.org/drawingml/2006/main">
            <a:off x="11125200" y="62293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6C0D0"/>
                </a:solidFill>
                <a:latin typeface="Calibri"/>
                <a:ea typeface="Calibri"/>
                <a:cs typeface="Calibri"/>
              </a:defRPr>
            </a:defPPr>
          </a:lstStyle>
          <a:p xmlns:a="http://schemas.openxmlformats.org/drawingml/2006/main">
            <a:pPr algn="r">
              <a:defRPr sz="1500" b="0">
                <a:solidFill>
                  <a:srgbClr val="B6C0D0"/>
                </a:solidFill>
                <a:latin typeface="Calibri"/>
                <a:ea typeface="Calibri"/>
                <a:cs typeface="Calibri"/>
              </a:defRPr>
            </a:pPr>
            <a:r>
              <a:rPr sz="1500" b="0">
                <a:solidFill>
                  <a:srgbClr val="B6C0D0"/>
                </a:solidFill>
                <a:latin typeface="Calibri"/>
                <a:ea typeface="Calibri"/>
                <a:cs typeface="Calibri"/>
              </a:rPr>
              <a:t>14</a:t>
            </a:r>
          </a:p>
        </p:txBody>
      </p:sp>
      <p:sp>
        <p:nvSpPr>
          <p:cNvPr id="4" name="16/16">
            <a:extLst xmlns:a="http://schemas.openxmlformats.org/drawingml/2006/main">
              <a:ext uri="{FF2B5EF4-FFF2-40B4-BE49-F238E27FC236}">
                <a16:creationId xmlns:a16="http://schemas.microsoft.com/office/drawing/2014/main" id="{803D0FE2-D218-4808-A151-160A799845F0}"/>
              </a:ext>
            </a:extLst>
          </p:cNvPr>
          <p:cNvSpPr>
            <a:spLocks xmlns:a="http://schemas.openxmlformats.org/drawingml/2006/main" noGrp="1"/>
          </p:cNvSpPr>
          <p:nvPr/>
        </p:nvSpPr>
        <p:spPr>
          <a:xfrm xmlns:a="http://schemas.openxmlformats.org/drawingml/2006/main">
            <a:off x="666750" y="2219325"/>
            <a:ext cx="3409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5775" b="1">
                <a:solidFill>
                  <a:srgbClr val="69E5BA"/>
                </a:solidFill>
                <a:latin typeface="Calibri"/>
                <a:ea typeface="Calibri"/>
                <a:cs typeface="Calibri"/>
              </a:defRPr>
            </a:defPPr>
          </a:lstStyle>
          <a:p xmlns:a="http://schemas.openxmlformats.org/drawingml/2006/main">
            <a:pPr algn="ctr">
              <a:defRPr sz="5775" b="1">
                <a:solidFill>
                  <a:srgbClr val="69E5BA"/>
                </a:solidFill>
                <a:latin typeface="Calibri"/>
                <a:ea typeface="Calibri"/>
                <a:cs typeface="Calibri"/>
              </a:defRPr>
            </a:pPr>
            <a:r>
              <a:rPr sz="5775" b="1">
                <a:solidFill>
                  <a:srgbClr val="69E5BA"/>
                </a:solidFill>
                <a:latin typeface="Calibri"/>
                <a:ea typeface="Calibri"/>
                <a:cs typeface="Calibri"/>
              </a:rPr>
              <a:t>16/16</a:t>
            </a:r>
          </a:p>
        </p:txBody>
      </p:sp>
      <p:sp>
        <p:nvSpPr>
          <p:cNvPr id="5" name="Pruebas nativas">
            <a:extLst xmlns:a="http://schemas.openxmlformats.org/drawingml/2006/main">
              <a:ext uri="{FF2B5EF4-FFF2-40B4-BE49-F238E27FC236}">
                <a16:creationId xmlns:a16="http://schemas.microsoft.com/office/drawing/2014/main" id="{5FD4D59A-AC62-448B-84CC-C61F742660CE}"/>
              </a:ext>
            </a:extLst>
          </p:cNvPr>
          <p:cNvSpPr>
            <a:spLocks xmlns:a="http://schemas.openxmlformats.org/drawingml/2006/main" noGrp="1"/>
          </p:cNvSpPr>
          <p:nvPr/>
        </p:nvSpPr>
        <p:spPr>
          <a:xfrm xmlns:a="http://schemas.openxmlformats.org/drawingml/2006/main">
            <a:off x="666750" y="3409950"/>
            <a:ext cx="3409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F5F7FB"/>
                </a:solidFill>
                <a:latin typeface="Calibri"/>
                <a:ea typeface="Calibri"/>
                <a:cs typeface="Calibri"/>
              </a:defRPr>
            </a:defPPr>
          </a:lstStyle>
          <a:p xmlns:a="http://schemas.openxmlformats.org/drawingml/2006/main">
            <a:pPr algn="ctr">
              <a:defRPr sz="2250" b="0">
                <a:solidFill>
                  <a:srgbClr val="F5F7FB"/>
                </a:solidFill>
                <a:latin typeface="Calibri"/>
                <a:ea typeface="Calibri"/>
                <a:cs typeface="Calibri"/>
              </a:defRPr>
            </a:pPr>
            <a:r>
              <a:rPr sz="2250" b="0">
                <a:solidFill>
                  <a:srgbClr val="F5F7FB"/>
                </a:solidFill>
                <a:latin typeface="Calibri"/>
                <a:ea typeface="Calibri"/>
                <a:cs typeface="Calibri"/>
              </a:rPr>
              <a:t>Pruebas nativas</a:t>
            </a:r>
          </a:p>
        </p:txBody>
      </p:sp>
      <p:sp>
        <p:nvSpPr>
          <p:cNvPr id="6" name="6/6">
            <a:extLst xmlns:a="http://schemas.openxmlformats.org/drawingml/2006/main">
              <a:ext uri="{FF2B5EF4-FFF2-40B4-BE49-F238E27FC236}">
                <a16:creationId xmlns:a16="http://schemas.microsoft.com/office/drawing/2014/main" id="{3819828E-ABC7-4D4D-B4C7-9FCEFD96773A}"/>
              </a:ext>
            </a:extLst>
          </p:cNvPr>
          <p:cNvSpPr>
            <a:spLocks xmlns:a="http://schemas.openxmlformats.org/drawingml/2006/main" noGrp="1"/>
          </p:cNvSpPr>
          <p:nvPr/>
        </p:nvSpPr>
        <p:spPr>
          <a:xfrm xmlns:a="http://schemas.openxmlformats.org/drawingml/2006/main">
            <a:off x="4457700" y="2219325"/>
            <a:ext cx="3409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5775" b="1">
                <a:solidFill>
                  <a:srgbClr val="69E5BA"/>
                </a:solidFill>
                <a:latin typeface="Calibri"/>
                <a:ea typeface="Calibri"/>
                <a:cs typeface="Calibri"/>
              </a:defRPr>
            </a:defPPr>
          </a:lstStyle>
          <a:p xmlns:a="http://schemas.openxmlformats.org/drawingml/2006/main">
            <a:pPr algn="ctr">
              <a:defRPr sz="5775" b="1">
                <a:solidFill>
                  <a:srgbClr val="69E5BA"/>
                </a:solidFill>
                <a:latin typeface="Calibri"/>
                <a:ea typeface="Calibri"/>
                <a:cs typeface="Calibri"/>
              </a:defRPr>
            </a:pPr>
            <a:r>
              <a:rPr sz="5775" b="1">
                <a:solidFill>
                  <a:srgbClr val="69E5BA"/>
                </a:solidFill>
                <a:latin typeface="Calibri"/>
                <a:ea typeface="Calibri"/>
                <a:cs typeface="Calibri"/>
              </a:rPr>
              <a:t>6/6</a:t>
            </a:r>
          </a:p>
        </p:txBody>
      </p:sp>
      <p:sp>
        <p:nvSpPr>
          <p:cNvPr id="7" name="Pruebas Python">
            <a:extLst xmlns:a="http://schemas.openxmlformats.org/drawingml/2006/main">
              <a:ext uri="{FF2B5EF4-FFF2-40B4-BE49-F238E27FC236}">
                <a16:creationId xmlns:a16="http://schemas.microsoft.com/office/drawing/2014/main" id="{20ABE583-9F4E-48FC-86F3-2CF8B656559F}"/>
              </a:ext>
            </a:extLst>
          </p:cNvPr>
          <p:cNvSpPr>
            <a:spLocks xmlns:a="http://schemas.openxmlformats.org/drawingml/2006/main" noGrp="1"/>
          </p:cNvSpPr>
          <p:nvPr/>
        </p:nvSpPr>
        <p:spPr>
          <a:xfrm xmlns:a="http://schemas.openxmlformats.org/drawingml/2006/main">
            <a:off x="4457700" y="3409950"/>
            <a:ext cx="3409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F5F7FB"/>
                </a:solidFill>
                <a:latin typeface="Calibri"/>
                <a:ea typeface="Calibri"/>
                <a:cs typeface="Calibri"/>
              </a:defRPr>
            </a:defPPr>
          </a:lstStyle>
          <a:p xmlns:a="http://schemas.openxmlformats.org/drawingml/2006/main">
            <a:pPr algn="ctr">
              <a:defRPr sz="2250" b="0">
                <a:solidFill>
                  <a:srgbClr val="F5F7FB"/>
                </a:solidFill>
                <a:latin typeface="Calibri"/>
                <a:ea typeface="Calibri"/>
                <a:cs typeface="Calibri"/>
              </a:defRPr>
            </a:pPr>
            <a:r>
              <a:rPr sz="2250" b="0">
                <a:solidFill>
                  <a:srgbClr val="F5F7FB"/>
                </a:solidFill>
                <a:latin typeface="Calibri"/>
                <a:ea typeface="Calibri"/>
                <a:cs typeface="Calibri"/>
              </a:rPr>
              <a:t>Pruebas Python</a:t>
            </a:r>
          </a:p>
        </p:txBody>
      </p:sp>
      <p:sp>
        <p:nvSpPr>
          <p:cNvPr id="8" name="1/1">
            <a:extLst xmlns:a="http://schemas.openxmlformats.org/drawingml/2006/main">
              <a:ext uri="{FF2B5EF4-FFF2-40B4-BE49-F238E27FC236}">
                <a16:creationId xmlns:a16="http://schemas.microsoft.com/office/drawing/2014/main" id="{E6C0DE19-DCAC-46B2-9FD2-649F5BDFE94E}"/>
              </a:ext>
            </a:extLst>
          </p:cNvPr>
          <p:cNvSpPr>
            <a:spLocks xmlns:a="http://schemas.openxmlformats.org/drawingml/2006/main" noGrp="1"/>
          </p:cNvSpPr>
          <p:nvPr/>
        </p:nvSpPr>
        <p:spPr>
          <a:xfrm xmlns:a="http://schemas.openxmlformats.org/drawingml/2006/main">
            <a:off x="8248650" y="2219325"/>
            <a:ext cx="3409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5775" b="1">
                <a:solidFill>
                  <a:srgbClr val="69E5BA"/>
                </a:solidFill>
                <a:latin typeface="Calibri"/>
                <a:ea typeface="Calibri"/>
                <a:cs typeface="Calibri"/>
              </a:defRPr>
            </a:defPPr>
          </a:lstStyle>
          <a:p xmlns:a="http://schemas.openxmlformats.org/drawingml/2006/main">
            <a:pPr algn="ctr">
              <a:defRPr sz="5775" b="1">
                <a:solidFill>
                  <a:srgbClr val="69E5BA"/>
                </a:solidFill>
                <a:latin typeface="Calibri"/>
                <a:ea typeface="Calibri"/>
                <a:cs typeface="Calibri"/>
              </a:defRPr>
            </a:pPr>
            <a:r>
              <a:rPr sz="5775" b="1">
                <a:solidFill>
                  <a:srgbClr val="69E5BA"/>
                </a:solidFill>
                <a:latin typeface="Calibri"/>
                <a:ea typeface="Calibri"/>
                <a:cs typeface="Calibri"/>
              </a:rPr>
              <a:t>1/1</a:t>
            </a:r>
          </a:p>
        </p:txBody>
      </p:sp>
      <p:sp>
        <p:nvSpPr>
          <p:cNvPr id="9" name="Integración sintética">
            <a:extLst xmlns:a="http://schemas.openxmlformats.org/drawingml/2006/main">
              <a:ext uri="{FF2B5EF4-FFF2-40B4-BE49-F238E27FC236}">
                <a16:creationId xmlns:a16="http://schemas.microsoft.com/office/drawing/2014/main" id="{EA216896-00F8-4DCD-8736-B260103C5574}"/>
              </a:ext>
            </a:extLst>
          </p:cNvPr>
          <p:cNvSpPr>
            <a:spLocks xmlns:a="http://schemas.openxmlformats.org/drawingml/2006/main" noGrp="1"/>
          </p:cNvSpPr>
          <p:nvPr/>
        </p:nvSpPr>
        <p:spPr>
          <a:xfrm xmlns:a="http://schemas.openxmlformats.org/drawingml/2006/main">
            <a:off x="8248650" y="3409950"/>
            <a:ext cx="3409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F5F7FB"/>
                </a:solidFill>
                <a:latin typeface="Calibri"/>
                <a:ea typeface="Calibri"/>
                <a:cs typeface="Calibri"/>
              </a:defRPr>
            </a:defPPr>
          </a:lstStyle>
          <a:p xmlns:a="http://schemas.openxmlformats.org/drawingml/2006/main">
            <a:pPr algn="ctr">
              <a:defRPr sz="2250" b="0">
                <a:solidFill>
                  <a:srgbClr val="F5F7FB"/>
                </a:solidFill>
                <a:latin typeface="Calibri"/>
                <a:ea typeface="Calibri"/>
                <a:cs typeface="Calibri"/>
              </a:defRPr>
            </a:pPr>
            <a:r>
              <a:rPr sz="2250" b="0">
                <a:solidFill>
                  <a:srgbClr val="F5F7FB"/>
                </a:solidFill>
                <a:latin typeface="Calibri"/>
                <a:ea typeface="Calibri"/>
                <a:cs typeface="Calibri"/>
              </a:rPr>
              <a:t>Integración sintética</a:t>
            </a:r>
          </a:p>
        </p:txBody>
      </p:sp>
      <p:sp>
        <p:nvSpPr>
          <p:cNvPr id="10" name="19.46 FPS">
            <a:extLst xmlns:a="http://schemas.openxmlformats.org/drawingml/2006/main">
              <a:ext uri="{FF2B5EF4-FFF2-40B4-BE49-F238E27FC236}">
                <a16:creationId xmlns:a16="http://schemas.microsoft.com/office/drawing/2014/main" id="{5E537695-11CA-4093-AC7C-95BF599EAA17}"/>
              </a:ext>
            </a:extLst>
          </p:cNvPr>
          <p:cNvSpPr>
            <a:spLocks xmlns:a="http://schemas.openxmlformats.org/drawingml/2006/main" noGrp="1"/>
          </p:cNvSpPr>
          <p:nvPr/>
        </p:nvSpPr>
        <p:spPr>
          <a:xfrm xmlns:a="http://schemas.openxmlformats.org/drawingml/2006/main">
            <a:off x="704850" y="4619625"/>
            <a:ext cx="4057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B397F6"/>
                </a:solidFill>
                <a:latin typeface="Calibri"/>
                <a:ea typeface="Calibri"/>
                <a:cs typeface="Calibri"/>
              </a:defRPr>
            </a:defPPr>
          </a:lstStyle>
          <a:p xmlns:a="http://schemas.openxmlformats.org/drawingml/2006/main">
            <a:pPr algn="l">
              <a:defRPr sz="3900" b="1">
                <a:solidFill>
                  <a:srgbClr val="B397F6"/>
                </a:solidFill>
                <a:latin typeface="Calibri"/>
                <a:ea typeface="Calibri"/>
                <a:cs typeface="Calibri"/>
              </a:defRPr>
            </a:pPr>
            <a:r>
              <a:rPr sz="3900" b="1">
                <a:solidFill>
                  <a:srgbClr val="B397F6"/>
                </a:solidFill>
                <a:latin typeface="Calibri"/>
                <a:ea typeface="Calibri"/>
                <a:cs typeface="Calibri"/>
              </a:rPr>
              <a:t>19.46 FPS</a:t>
            </a:r>
          </a:p>
        </p:txBody>
      </p:sp>
      <p:sp>
        <p:nvSpPr>
          <p:cNvPr id="11" name="Medición física documentada en septiembre&#10;Formato nomin">
            <a:extLst xmlns:a="http://schemas.openxmlformats.org/drawingml/2006/main">
              <a:ext uri="{FF2B5EF4-FFF2-40B4-BE49-F238E27FC236}">
                <a16:creationId xmlns:a16="http://schemas.microsoft.com/office/drawing/2014/main" id="{087C8914-C9E1-48AA-B5CD-0EA463C12498}"/>
              </a:ext>
            </a:extLst>
          </p:cNvPr>
          <p:cNvSpPr>
            <a:spLocks xmlns:a="http://schemas.openxmlformats.org/drawingml/2006/main" noGrp="1"/>
          </p:cNvSpPr>
          <p:nvPr/>
        </p:nvSpPr>
        <p:spPr>
          <a:xfrm xmlns:a="http://schemas.openxmlformats.org/drawingml/2006/main">
            <a:off x="5048250" y="4657725"/>
            <a:ext cx="65341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B6C0D0"/>
                </a:solidFill>
                <a:latin typeface="Calibri"/>
                <a:ea typeface="Calibri"/>
                <a:cs typeface="Calibri"/>
              </a:defRPr>
            </a:defPPr>
          </a:lstStyle>
          <a:p xmlns:a="http://schemas.openxmlformats.org/drawingml/2006/main">
            <a:pPr algn="l">
              <a:defRPr sz="2175" b="0">
                <a:solidFill>
                  <a:srgbClr val="B6C0D0"/>
                </a:solidFill>
                <a:latin typeface="Calibri"/>
                <a:ea typeface="Calibri"/>
                <a:cs typeface="Calibri"/>
              </a:defRPr>
            </a:pPr>
            <a:r>
              <a:rPr sz="2175" b="0">
                <a:solidFill>
                  <a:srgbClr val="B6C0D0"/>
                </a:solidFill>
                <a:latin typeface="Calibri"/>
                <a:ea typeface="Calibri"/>
                <a:cs typeface="Calibri"/>
              </a:rPr>
              <a:t>Medición física documentada en septiembre</a:t>
            </a:r>
          </a:p>
          <a:p xmlns:a="http://schemas.openxmlformats.org/drawingml/2006/main">
            <a:pPr algn="l">
              <a:defRPr sz="2175" b="0">
                <a:solidFill>
                  <a:srgbClr val="B6C0D0"/>
                </a:solidFill>
                <a:latin typeface="Calibri"/>
                <a:ea typeface="Calibri"/>
                <a:cs typeface="Calibri"/>
              </a:defRPr>
            </a:pPr>
            <a:r>
              <a:rPr sz="2175" b="0">
                <a:solidFill>
                  <a:srgbClr val="B6C0D0"/>
                </a:solidFill>
                <a:latin typeface="Calibri"/>
                <a:ea typeface="Calibri"/>
                <a:cs typeface="Calibri"/>
              </a:rPr>
              <a:t>Formato nominal de 1280 × 720 a 30 FPS</a:t>
            </a:r>
          </a:p>
        </p:txBody>
      </p:sp>
    </p:spTree>
    <p:extLst>
      <p:ext uri="{BB962C8B-B14F-4D97-AF65-F5344CB8AC3E}">
        <p14:creationId xmlns:p14="http://schemas.microsoft.com/office/powerpoint/2010/main" val="1214985349"/>
      </p:ext>
    </p:extLst>
  </p:cSld>
</p:sld>
</file>

<file path=ppt/slides/slide15.xml><?xml version="1.0" encoding="utf-8"?>
<p:sld xmlns:p="http://schemas.openxmlformats.org/presentationml/2006/main">
  <p:cSld>
    <p:bg>
      <p:bgPr>
        <a:solidFill xmlns:a="http://schemas.openxmlformats.org/drawingml/2006/main">
          <a:srgbClr val="0D1118"/>
        </a:solidFill>
      </p:bgPr>
    </p:bg>
    <p:spTree>
      <p:nvGrpSpPr>
        <p:cNvPr id="1" name=""/>
        <p:cNvGrpSpPr/>
        <p:nvPr/>
      </p:nvGrpSpPr>
      <p:grpSpPr>
        <a:xfrm xmlns:a="http://schemas.openxmlformats.org/drawingml/2006/main"/>
      </p:grpSpPr>
      <p:sp>
        <p:nvSpPr>
          <p:cNvPr id="8" name="Trabajo necesario para cerrar el avance">
            <a:extLst xmlns:a="http://schemas.openxmlformats.org/drawingml/2006/main">
              <a:ext uri="{FF2B5EF4-FFF2-40B4-BE49-F238E27FC236}">
                <a16:creationId xmlns:a16="http://schemas.microsoft.com/office/drawing/2014/main" id="{EF24F2A8-8B74-4667-9F20-1371A123E487}"/>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5F7FB"/>
                </a:solidFill>
                <a:latin typeface="Calibri"/>
                <a:ea typeface="Calibri"/>
                <a:cs typeface="Calibri"/>
              </a:defRPr>
            </a:defPPr>
          </a:lstStyle>
          <a:p xmlns:a="http://schemas.openxmlformats.org/drawingml/2006/main">
            <a:pPr algn="l">
              <a:defRPr sz="3300" b="1">
                <a:solidFill>
                  <a:srgbClr val="F5F7FB"/>
                </a:solidFill>
                <a:latin typeface="Calibri"/>
                <a:ea typeface="Calibri"/>
                <a:cs typeface="Calibri"/>
              </a:defRPr>
            </a:pPr>
            <a:r>
              <a:rPr sz="3300" b="1">
                <a:solidFill>
                  <a:srgbClr val="F5F7FB"/>
                </a:solidFill>
                <a:latin typeface="Calibri"/>
                <a:ea typeface="Calibri"/>
                <a:cs typeface="Calibri"/>
              </a:rPr>
              <a:t>Trabajo necesario para cerrar el avance</a:t>
            </a:r>
          </a:p>
        </p:txBody>
      </p:sp>
      <p:sp>
        <p:nvSpPr>
          <p:cNvPr id="2" name="15">
            <a:extLst xmlns:a="http://schemas.openxmlformats.org/drawingml/2006/main">
              <a:ext uri="{FF2B5EF4-FFF2-40B4-BE49-F238E27FC236}">
                <a16:creationId xmlns:a16="http://schemas.microsoft.com/office/drawing/2014/main" id="{79D43BDF-7344-4B09-95EE-A305BFEE8E31}"/>
              </a:ext>
            </a:extLst>
          </p:cNvPr>
          <p:cNvSpPr>
            <a:spLocks xmlns:a="http://schemas.openxmlformats.org/drawingml/2006/main" noGrp="1"/>
          </p:cNvSpPr>
          <p:nvPr/>
        </p:nvSpPr>
        <p:spPr>
          <a:xfrm xmlns:a="http://schemas.openxmlformats.org/drawingml/2006/main">
            <a:off x="11125200" y="62293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6C0D0"/>
                </a:solidFill>
                <a:latin typeface="Calibri"/>
                <a:ea typeface="Calibri"/>
                <a:cs typeface="Calibri"/>
              </a:defRPr>
            </a:defPPr>
          </a:lstStyle>
          <a:p xmlns:a="http://schemas.openxmlformats.org/drawingml/2006/main">
            <a:pPr algn="r">
              <a:defRPr sz="1500" b="0">
                <a:solidFill>
                  <a:srgbClr val="B6C0D0"/>
                </a:solidFill>
                <a:latin typeface="Calibri"/>
                <a:ea typeface="Calibri"/>
                <a:cs typeface="Calibri"/>
              </a:defRPr>
            </a:pPr>
            <a:r>
              <a:rPr sz="1500" b="0">
                <a:solidFill>
                  <a:srgbClr val="B6C0D0"/>
                </a:solidFill>
                <a:latin typeface="Calibri"/>
                <a:ea typeface="Calibri"/>
                <a:cs typeface="Calibri"/>
              </a:rPr>
              <a:t>15</a:t>
            </a:r>
          </a:p>
        </p:txBody>
      </p:sp>
      <p:sp>
        <p:nvSpPr>
          <p:cNvPr id="3" name="Robustez">
            <a:extLst xmlns:a="http://schemas.openxmlformats.org/drawingml/2006/main">
              <a:ext uri="{FF2B5EF4-FFF2-40B4-BE49-F238E27FC236}">
                <a16:creationId xmlns:a16="http://schemas.microsoft.com/office/drawing/2014/main" id="{57E7A389-D43E-4D0A-B801-0B30A0A4D53C}"/>
              </a:ext>
            </a:extLst>
          </p:cNvPr>
          <p:cNvSpPr>
            <a:spLocks xmlns:a="http://schemas.openxmlformats.org/drawingml/2006/main" noGrp="1"/>
          </p:cNvSpPr>
          <p:nvPr/>
        </p:nvSpPr>
        <p:spPr>
          <a:xfrm xmlns:a="http://schemas.openxmlformats.org/drawingml/2006/main">
            <a:off x="704850" y="1809750"/>
            <a:ext cx="4895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B397F6"/>
                </a:solidFill>
                <a:latin typeface="Calibri"/>
                <a:ea typeface="Calibri"/>
                <a:cs typeface="Calibri"/>
              </a:defRPr>
            </a:defPPr>
          </a:lstStyle>
          <a:p xmlns:a="http://schemas.openxmlformats.org/drawingml/2006/main">
            <a:pPr algn="l">
              <a:defRPr sz="2775" b="1">
                <a:solidFill>
                  <a:srgbClr val="B397F6"/>
                </a:solidFill>
                <a:latin typeface="Calibri"/>
                <a:ea typeface="Calibri"/>
                <a:cs typeface="Calibri"/>
              </a:defRPr>
            </a:pPr>
            <a:r>
              <a:rPr sz="2775" b="1">
                <a:solidFill>
                  <a:srgbClr val="B397F6"/>
                </a:solidFill>
                <a:latin typeface="Calibri"/>
                <a:ea typeface="Calibri"/>
                <a:cs typeface="Calibri"/>
              </a:rPr>
              <a:t>Robustez</a:t>
            </a:r>
          </a:p>
        </p:txBody>
      </p:sp>
      <p:sp>
        <p:nvSpPr>
          <p:cNvPr id="4" name="Detectar caída del productor&#10;Atender teclado sin nuevos">
            <a:extLst xmlns:a="http://schemas.openxmlformats.org/drawingml/2006/main">
              <a:ext uri="{FF2B5EF4-FFF2-40B4-BE49-F238E27FC236}">
                <a16:creationId xmlns:a16="http://schemas.microsoft.com/office/drawing/2014/main" id="{1211667C-C08D-4C47-A3EC-45AB62057FFA}"/>
              </a:ext>
            </a:extLst>
          </p:cNvPr>
          <p:cNvSpPr>
            <a:spLocks xmlns:a="http://schemas.openxmlformats.org/drawingml/2006/main" noGrp="1"/>
          </p:cNvSpPr>
          <p:nvPr/>
        </p:nvSpPr>
        <p:spPr>
          <a:xfrm xmlns:a="http://schemas.openxmlformats.org/drawingml/2006/main">
            <a:off x="704850" y="2638425"/>
            <a:ext cx="5334000"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5F7FB"/>
                </a:solidFill>
                <a:latin typeface="Calibri"/>
                <a:ea typeface="Calibri"/>
                <a:cs typeface="Calibri"/>
              </a:defRPr>
            </a:defPPr>
          </a:lstStyle>
          <a:p xmlns:a="http://schemas.openxmlformats.org/drawingml/2006/main">
            <a:pPr algn="l">
              <a:defRPr sz="2325" b="0">
                <a:solidFill>
                  <a:srgbClr val="F5F7FB"/>
                </a:solidFill>
                <a:latin typeface="Calibri"/>
                <a:ea typeface="Calibri"/>
                <a:cs typeface="Calibri"/>
              </a:defRPr>
            </a:pPr>
            <a:r>
              <a:rPr sz="2325" b="0">
                <a:solidFill>
                  <a:srgbClr val="F5F7FB"/>
                </a:solidFill>
                <a:latin typeface="Calibri"/>
                <a:ea typeface="Calibri"/>
                <a:cs typeface="Calibri"/>
              </a:rPr>
              <a:t>Detectar caída del productor</a:t>
            </a:r>
          </a:p>
          <a:p xmlns:a="http://schemas.openxmlformats.org/drawingml/2006/main">
            <a:pPr algn="l">
              <a:defRPr sz="2325" b="0">
                <a:solidFill>
                  <a:srgbClr val="F5F7FB"/>
                </a:solidFill>
                <a:latin typeface="Calibri"/>
                <a:ea typeface="Calibri"/>
                <a:cs typeface="Calibri"/>
              </a:defRPr>
            </a:pPr>
            <a:r>
              <a:rPr sz="2325" b="0">
                <a:solidFill>
                  <a:srgbClr val="F5F7FB"/>
                </a:solidFill>
                <a:latin typeface="Calibri"/>
                <a:ea typeface="Calibri"/>
                <a:cs typeface="Calibri"/>
              </a:rPr>
              <a:t>Atender teclado sin nuevos frames</a:t>
            </a:r>
          </a:p>
          <a:p xmlns:a="http://schemas.openxmlformats.org/drawingml/2006/main">
            <a:pPr algn="l">
              <a:defRPr sz="2325" b="0">
                <a:solidFill>
                  <a:srgbClr val="F5F7FB"/>
                </a:solidFill>
                <a:latin typeface="Calibri"/>
                <a:ea typeface="Calibri"/>
                <a:cs typeface="Calibri"/>
              </a:defRPr>
            </a:pPr>
            <a:r>
              <a:rPr sz="2325" b="0">
                <a:solidFill>
                  <a:srgbClr val="F5F7FB"/>
                </a:solidFill>
                <a:latin typeface="Calibri"/>
                <a:ea typeface="Calibri"/>
                <a:cs typeface="Calibri"/>
              </a:rPr>
              <a:t>Propagar fallos de PowerShell</a:t>
            </a:r>
          </a:p>
        </p:txBody>
      </p:sp>
      <p:sp>
        <p:nvSpPr>
          <p:cNvPr id="5" name="Cierre académico">
            <a:extLst xmlns:a="http://schemas.openxmlformats.org/drawingml/2006/main">
              <a:ext uri="{FF2B5EF4-FFF2-40B4-BE49-F238E27FC236}">
                <a16:creationId xmlns:a16="http://schemas.microsoft.com/office/drawing/2014/main" id="{83512519-C7ED-48A6-973F-24F5F3215052}"/>
              </a:ext>
            </a:extLst>
          </p:cNvPr>
          <p:cNvSpPr>
            <a:spLocks xmlns:a="http://schemas.openxmlformats.org/drawingml/2006/main" noGrp="1"/>
          </p:cNvSpPr>
          <p:nvPr/>
        </p:nvSpPr>
        <p:spPr>
          <a:xfrm xmlns:a="http://schemas.openxmlformats.org/drawingml/2006/main">
            <a:off x="6867525" y="18097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69E5BA"/>
                </a:solidFill>
                <a:latin typeface="Calibri"/>
                <a:ea typeface="Calibri"/>
                <a:cs typeface="Calibri"/>
              </a:defRPr>
            </a:defPPr>
          </a:lstStyle>
          <a:p xmlns:a="http://schemas.openxmlformats.org/drawingml/2006/main">
            <a:pPr algn="l">
              <a:defRPr sz="2775" b="1">
                <a:solidFill>
                  <a:srgbClr val="69E5BA"/>
                </a:solidFill>
                <a:latin typeface="Calibri"/>
                <a:ea typeface="Calibri"/>
                <a:cs typeface="Calibri"/>
              </a:defRPr>
            </a:pPr>
            <a:r>
              <a:rPr sz="2775" b="1">
                <a:solidFill>
                  <a:srgbClr val="69E5BA"/>
                </a:solidFill>
                <a:latin typeface="Calibri"/>
                <a:ea typeface="Calibri"/>
                <a:cs typeface="Calibri"/>
              </a:rPr>
              <a:t>Cierre académico</a:t>
            </a:r>
          </a:p>
        </p:txBody>
      </p:sp>
      <p:sp>
        <p:nvSpPr>
          <p:cNvPr id="6" name="Actualizar trazabilidad&#10;Revisar los siete apartados&#10;Val">
            <a:extLst xmlns:a="http://schemas.openxmlformats.org/drawingml/2006/main">
              <a:ext uri="{FF2B5EF4-FFF2-40B4-BE49-F238E27FC236}">
                <a16:creationId xmlns:a16="http://schemas.microsoft.com/office/drawing/2014/main" id="{E7572C41-CE18-40C5-B1BB-0771C57328E7}"/>
              </a:ext>
            </a:extLst>
          </p:cNvPr>
          <p:cNvSpPr>
            <a:spLocks xmlns:a="http://schemas.openxmlformats.org/drawingml/2006/main" noGrp="1"/>
          </p:cNvSpPr>
          <p:nvPr/>
        </p:nvSpPr>
        <p:spPr>
          <a:xfrm xmlns:a="http://schemas.openxmlformats.org/drawingml/2006/main">
            <a:off x="6867525" y="2638425"/>
            <a:ext cx="4857750"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5F7FB"/>
                </a:solidFill>
                <a:latin typeface="Calibri"/>
                <a:ea typeface="Calibri"/>
                <a:cs typeface="Calibri"/>
              </a:defRPr>
            </a:defPPr>
          </a:lstStyle>
          <a:p xmlns:a="http://schemas.openxmlformats.org/drawingml/2006/main">
            <a:pPr algn="l">
              <a:defRPr sz="2325" b="0">
                <a:solidFill>
                  <a:srgbClr val="F5F7FB"/>
                </a:solidFill>
                <a:latin typeface="Calibri"/>
                <a:ea typeface="Calibri"/>
                <a:cs typeface="Calibri"/>
              </a:defRPr>
            </a:pPr>
            <a:r>
              <a:rPr sz="2325" b="0">
                <a:solidFill>
                  <a:srgbClr val="F5F7FB"/>
                </a:solidFill>
                <a:latin typeface="Calibri"/>
                <a:ea typeface="Calibri"/>
                <a:cs typeface="Calibri"/>
              </a:rPr>
              <a:t>Actualizar trazabilidad</a:t>
            </a:r>
          </a:p>
          <a:p xmlns:a="http://schemas.openxmlformats.org/drawingml/2006/main">
            <a:pPr algn="l">
              <a:defRPr sz="2325" b="0">
                <a:solidFill>
                  <a:srgbClr val="F5F7FB"/>
                </a:solidFill>
                <a:latin typeface="Calibri"/>
                <a:ea typeface="Calibri"/>
                <a:cs typeface="Calibri"/>
              </a:defRPr>
            </a:pPr>
            <a:r>
              <a:rPr sz="2325" b="0">
                <a:solidFill>
                  <a:srgbClr val="F5F7FB"/>
                </a:solidFill>
                <a:latin typeface="Calibri"/>
                <a:ea typeface="Calibri"/>
                <a:cs typeface="Calibri"/>
              </a:rPr>
              <a:t>Revisar los siete apartados</a:t>
            </a:r>
          </a:p>
          <a:p xmlns:a="http://schemas.openxmlformats.org/drawingml/2006/main">
            <a:pPr algn="l">
              <a:defRPr sz="2325" b="0">
                <a:solidFill>
                  <a:srgbClr val="F5F7FB"/>
                </a:solidFill>
                <a:latin typeface="Calibri"/>
                <a:ea typeface="Calibri"/>
                <a:cs typeface="Calibri"/>
              </a:defRPr>
            </a:pPr>
            <a:r>
              <a:rPr sz="2325" b="0">
                <a:solidFill>
                  <a:srgbClr val="F5F7FB"/>
                </a:solidFill>
                <a:latin typeface="Calibri"/>
                <a:ea typeface="Calibri"/>
                <a:cs typeface="Calibri"/>
              </a:rPr>
              <a:t>Validar cámara y ensayar demo</a:t>
            </a:r>
          </a:p>
        </p:txBody>
      </p:sp>
      <p:sp>
        <p:nvSpPr>
          <p:cNvPr id="7" name="Correcciones técnicas pendientes">
            <a:extLst xmlns:a="http://schemas.openxmlformats.org/drawingml/2006/main">
              <a:ext uri="{FF2B5EF4-FFF2-40B4-BE49-F238E27FC236}">
                <a16:creationId xmlns:a16="http://schemas.microsoft.com/office/drawing/2014/main" id="{61D81212-CAA8-4DD5-975C-0992562E6306}"/>
              </a:ext>
            </a:extLst>
          </p:cNvPr>
          <p:cNvSpPr>
            <a:spLocks xmlns:a="http://schemas.openxmlformats.org/drawingml/2006/main" noGrp="1"/>
          </p:cNvSpPr>
          <p:nvPr/>
        </p:nvSpPr>
        <p:spPr>
          <a:xfrm xmlns:a="http://schemas.openxmlformats.org/drawingml/2006/main">
            <a:off x="704850" y="5343525"/>
            <a:ext cx="10877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B6C0D0"/>
                </a:solidFill>
                <a:latin typeface="Calibri"/>
                <a:ea typeface="Calibri"/>
                <a:cs typeface="Calibri"/>
              </a:defRPr>
            </a:defPPr>
          </a:lstStyle>
          <a:p xmlns:a="http://schemas.openxmlformats.org/drawingml/2006/main">
            <a:pPr algn="l">
              <a:defRPr sz="2250" b="0">
                <a:solidFill>
                  <a:srgbClr val="B6C0D0"/>
                </a:solidFill>
                <a:latin typeface="Calibri"/>
                <a:ea typeface="Calibri"/>
                <a:cs typeface="Calibri"/>
              </a:defRPr>
            </a:pPr>
            <a:r>
              <a:rPr sz="2250" b="0">
                <a:solidFill>
                  <a:srgbClr val="B6C0D0"/>
                </a:solidFill>
                <a:latin typeface="Calibri"/>
                <a:ea typeface="Calibri"/>
                <a:cs typeface="Calibri"/>
              </a:rPr>
              <a:t>Correcciones técnicas pendientes</a:t>
            </a:r>
          </a:p>
        </p:txBody>
      </p:sp>
    </p:spTree>
    <p:extLst>
      <p:ext uri="{BB962C8B-B14F-4D97-AF65-F5344CB8AC3E}">
        <p14:creationId xmlns:p14="http://schemas.microsoft.com/office/powerpoint/2010/main" val="1090682094"/>
      </p:ext>
    </p:extLst>
  </p:cSld>
</p:sld>
</file>

<file path=ppt/slides/slide16.xml><?xml version="1.0" encoding="utf-8"?>
<p:sld xmlns:p="http://schemas.openxmlformats.org/presentationml/2006/main">
  <p:cSld>
    <p:bg>
      <p:bgPr>
        <a:solidFill xmlns:a="http://schemas.openxmlformats.org/drawingml/2006/main">
          <a:srgbClr val="0D1118"/>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7BC1DA6-2E41-4E3A-BA35-37F12156268A}"/>
              </a:ext>
            </a:extLst>
          </p:cNvPr>
          <p:cNvPicPr>
            <a:picLocks xmlns:a="http://schemas.openxmlformats.org/drawingml/2006/main" noChangeAspect="1"/>
          </p:cNvPicPr>
          <p:nvPr/>
        </p:nvPicPr>
        <p:blipFill>
          <a:blip xmlns:r="http://schemas.openxmlformats.org/officeDocument/2006/relationships" xmlns:a="http://schemas.openxmlformats.org/drawingml/2006/main" r:embed="R686cd0d4d3ac4d2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ORVIX">
            <a:extLst xmlns:a="http://schemas.openxmlformats.org/drawingml/2006/main">
              <a:ext uri="{FF2B5EF4-FFF2-40B4-BE49-F238E27FC236}">
                <a16:creationId xmlns:a16="http://schemas.microsoft.com/office/drawing/2014/main" id="{46FB9E6C-5BC5-4F84-AFFC-0A79731403B9}"/>
              </a:ext>
            </a:extLst>
          </p:cNvPr>
          <p:cNvSpPr>
            <a:spLocks xmlns:a="http://schemas.openxmlformats.org/drawingml/2006/main" noGrp="1"/>
          </p:cNvSpPr>
          <p:nvPr/>
        </p:nvSpPr>
        <p:spPr>
          <a:xfrm xmlns:a="http://schemas.openxmlformats.org/drawingml/2006/main">
            <a:off x="609600" y="1219200"/>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750" b="1">
                <a:solidFill>
                  <a:srgbClr val="F5F7FB"/>
                </a:solidFill>
                <a:latin typeface="Calibri"/>
                <a:ea typeface="Calibri"/>
                <a:cs typeface="Calibri"/>
              </a:defRPr>
            </a:defPPr>
          </a:lstStyle>
          <a:p xmlns:a="http://schemas.openxmlformats.org/drawingml/2006/main">
            <a:pPr algn="l">
              <a:defRPr sz="6750" b="1">
                <a:solidFill>
                  <a:srgbClr val="F5F7FB"/>
                </a:solidFill>
                <a:latin typeface="Calibri"/>
                <a:ea typeface="Calibri"/>
                <a:cs typeface="Calibri"/>
              </a:defRPr>
            </a:pPr>
            <a:r>
              <a:rPr sz="6750" b="1">
                <a:solidFill>
                  <a:srgbClr val="F5F7FB"/>
                </a:solidFill>
                <a:latin typeface="Calibri"/>
                <a:ea typeface="Calibri"/>
                <a:cs typeface="Calibri"/>
              </a:rPr>
              <a:t>ORVIX</a:t>
            </a:r>
          </a:p>
        </p:txBody>
      </p:sp>
      <p:sp>
        <p:nvSpPr>
          <p:cNvPr id="3" name="Captura nativa validada&#10;Interfaz y SQLite en diseño">
            <a:extLst xmlns:a="http://schemas.openxmlformats.org/drawingml/2006/main">
              <a:ext uri="{FF2B5EF4-FFF2-40B4-BE49-F238E27FC236}">
                <a16:creationId xmlns:a16="http://schemas.microsoft.com/office/drawing/2014/main" id="{05B405FF-C5DE-4ABA-AD43-76DBAB6E2B85}"/>
              </a:ext>
            </a:extLst>
          </p:cNvPr>
          <p:cNvSpPr>
            <a:spLocks xmlns:a="http://schemas.openxmlformats.org/drawingml/2006/main" noGrp="1"/>
          </p:cNvSpPr>
          <p:nvPr/>
        </p:nvSpPr>
        <p:spPr>
          <a:xfrm xmlns:a="http://schemas.openxmlformats.org/drawingml/2006/main">
            <a:off x="657225" y="2724150"/>
            <a:ext cx="6477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69E5BA"/>
                </a:solidFill>
                <a:latin typeface="Calibri"/>
                <a:ea typeface="Calibri"/>
                <a:cs typeface="Calibri"/>
              </a:defRPr>
            </a:defPPr>
          </a:lstStyle>
          <a:p xmlns:a="http://schemas.openxmlformats.org/drawingml/2006/main">
            <a:pPr algn="l">
              <a:defRPr sz="3300" b="1">
                <a:solidFill>
                  <a:srgbClr val="69E5BA"/>
                </a:solidFill>
                <a:latin typeface="Calibri"/>
                <a:ea typeface="Calibri"/>
                <a:cs typeface="Calibri"/>
              </a:defRPr>
            </a:pPr>
            <a:r>
              <a:rPr sz="3300" b="1">
                <a:solidFill>
                  <a:srgbClr val="69E5BA"/>
                </a:solidFill>
                <a:latin typeface="Calibri"/>
                <a:ea typeface="Calibri"/>
                <a:cs typeface="Calibri"/>
              </a:rPr>
              <a:t>Captura nativa validada</a:t>
            </a:r>
          </a:p>
          <a:p xmlns:a="http://schemas.openxmlformats.org/drawingml/2006/main">
            <a:pPr algn="l">
              <a:defRPr sz="3300" b="1">
                <a:solidFill>
                  <a:srgbClr val="69E5BA"/>
                </a:solidFill>
                <a:latin typeface="Calibri"/>
                <a:ea typeface="Calibri"/>
                <a:cs typeface="Calibri"/>
              </a:defRPr>
            </a:pPr>
            <a:r>
              <a:rPr sz="3300" b="1">
                <a:solidFill>
                  <a:srgbClr val="69E5BA"/>
                </a:solidFill>
                <a:latin typeface="Calibri"/>
                <a:ea typeface="Calibri"/>
                <a:cs typeface="Calibri"/>
              </a:rPr>
              <a:t>Interfaz y SQLite en diseño</a:t>
            </a:r>
          </a:p>
        </p:txBody>
      </p:sp>
      <p:sp>
        <p:nvSpPr>
          <p:cNvPr id="4" name="Siguiente hito&#10;Aplicación de escritorio con control de ">
            <a:extLst xmlns:a="http://schemas.openxmlformats.org/drawingml/2006/main">
              <a:ext uri="{FF2B5EF4-FFF2-40B4-BE49-F238E27FC236}">
                <a16:creationId xmlns:a16="http://schemas.microsoft.com/office/drawing/2014/main" id="{0A4249D6-1A16-400A-A0CA-A992CDDF1BEC}"/>
              </a:ext>
            </a:extLst>
          </p:cNvPr>
          <p:cNvSpPr>
            <a:spLocks xmlns:a="http://schemas.openxmlformats.org/drawingml/2006/main" noGrp="1"/>
          </p:cNvSpPr>
          <p:nvPr/>
        </p:nvSpPr>
        <p:spPr>
          <a:xfrm xmlns:a="http://schemas.openxmlformats.org/drawingml/2006/main">
            <a:off x="657225" y="4629150"/>
            <a:ext cx="8524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5F7FB"/>
                </a:solidFill>
                <a:latin typeface="Calibri"/>
                <a:ea typeface="Calibri"/>
                <a:cs typeface="Calibri"/>
              </a:defRPr>
            </a:defPPr>
          </a:lstStyle>
          <a:p xmlns:a="http://schemas.openxmlformats.org/drawingml/2006/main">
            <a:pPr algn="l">
              <a:defRPr sz="2325" b="0">
                <a:solidFill>
                  <a:srgbClr val="F5F7FB"/>
                </a:solidFill>
                <a:latin typeface="Calibri"/>
                <a:ea typeface="Calibri"/>
                <a:cs typeface="Calibri"/>
              </a:defRPr>
            </a:pPr>
            <a:r>
              <a:rPr sz="2325" b="0">
                <a:solidFill>
                  <a:srgbClr val="F5F7FB"/>
                </a:solidFill>
                <a:latin typeface="Calibri"/>
                <a:ea typeface="Calibri"/>
                <a:cs typeface="Calibri"/>
              </a:rPr>
              <a:t>Siguiente hito</a:t>
            </a:r>
          </a:p>
          <a:p xmlns:a="http://schemas.openxmlformats.org/drawingml/2006/main">
            <a:pPr algn="l">
              <a:defRPr sz="2325" b="0">
                <a:solidFill>
                  <a:srgbClr val="F5F7FB"/>
                </a:solidFill>
                <a:latin typeface="Calibri"/>
                <a:ea typeface="Calibri"/>
                <a:cs typeface="Calibri"/>
              </a:defRPr>
            </a:pPr>
            <a:r>
              <a:rPr sz="2325" b="0">
                <a:solidFill>
                  <a:srgbClr val="F5F7FB"/>
                </a:solidFill>
                <a:latin typeface="Calibri"/>
                <a:ea typeface="Calibri"/>
                <a:cs typeface="Calibri"/>
              </a:rPr>
              <a:t>Aplicación de escritorio con control de sesión</a:t>
            </a:r>
          </a:p>
        </p:txBody>
      </p:sp>
      <p:sp>
        <p:nvSpPr>
          <p:cNvPr id="5" name="Avance 2 Semana 10">
            <a:extLst xmlns:a="http://schemas.openxmlformats.org/drawingml/2006/main">
              <a:ext uri="{FF2B5EF4-FFF2-40B4-BE49-F238E27FC236}">
                <a16:creationId xmlns:a16="http://schemas.microsoft.com/office/drawing/2014/main" id="{EFD20181-00AA-42B9-BEBF-A5FFADDD8079}"/>
              </a:ext>
            </a:extLst>
          </p:cNvPr>
          <p:cNvSpPr>
            <a:spLocks xmlns:a="http://schemas.openxmlformats.org/drawingml/2006/main" noGrp="1"/>
          </p:cNvSpPr>
          <p:nvPr/>
        </p:nvSpPr>
        <p:spPr>
          <a:xfrm xmlns:a="http://schemas.openxmlformats.org/drawingml/2006/main">
            <a:off x="657225" y="6067425"/>
            <a:ext cx="7620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6C0D0"/>
                </a:solidFill>
                <a:latin typeface="Calibri"/>
                <a:ea typeface="Calibri"/>
                <a:cs typeface="Calibri"/>
              </a:defRPr>
            </a:defPPr>
          </a:lstStyle>
          <a:p xmlns:a="http://schemas.openxmlformats.org/drawingml/2006/main">
            <a:pPr algn="l">
              <a:defRPr sz="1875" b="0">
                <a:solidFill>
                  <a:srgbClr val="B6C0D0"/>
                </a:solidFill>
                <a:latin typeface="Calibri"/>
                <a:ea typeface="Calibri"/>
                <a:cs typeface="Calibri"/>
              </a:defRPr>
            </a:pPr>
            <a:r>
              <a:rPr sz="1875" b="0">
                <a:solidFill>
                  <a:srgbClr val="B6C0D0"/>
                </a:solidFill>
                <a:latin typeface="Calibri"/>
                <a:ea typeface="Calibri"/>
                <a:cs typeface="Calibri"/>
              </a:rPr>
              <a:t>Avance 2 Semana 10</a:t>
            </a:r>
          </a:p>
        </p:txBody>
      </p:sp>
    </p:spTree>
    <p:extLst>
      <p:ext uri="{BB962C8B-B14F-4D97-AF65-F5344CB8AC3E}">
        <p14:creationId xmlns:p14="http://schemas.microsoft.com/office/powerpoint/2010/main" val="20465443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2026-10-12T02:24:58.4760000Z</dcterms:created>
  <dcterms:modified xsi:type="dcterms:W3CDTF">2026-10-12T02:24:58.4760000Z</dcterms:modified>
</coreProperties>
</file>